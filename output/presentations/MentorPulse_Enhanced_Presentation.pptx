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75991c3b5444fa" /><Relationship Type="http://schemas.openxmlformats.org/officeDocument/2006/relationships/extended-properties" Target="/docProps/app.xml" Id="Rf766d50889084b11" /><Relationship Type="http://schemas.openxmlformats.org/officeDocument/2006/relationships/officeDocument" Target="/ppt/presentation.xml" Id="R0577169ae6ec45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550efe3f434863"/>
  </p:sldMasterIdLst>
  <p:notesMasterIdLst>
    <p:notesMasterId xmlns:r="http://schemas.openxmlformats.org/officeDocument/2006/relationships" r:id="Ra242277d23414b8c"/>
  </p:notesMasterIdLst>
  <p:sldIdLst>
    <p:sldId xmlns:r="http://schemas.openxmlformats.org/officeDocument/2006/relationships" id="256" r:id="R2c1c43fe80984aed"/>
    <p:sldId xmlns:r="http://schemas.openxmlformats.org/officeDocument/2006/relationships" id="257" r:id="R4ab86652063f4ebe"/>
    <p:sldId xmlns:r="http://schemas.openxmlformats.org/officeDocument/2006/relationships" id="258" r:id="R7dbad7d130dc4453"/>
    <p:sldId xmlns:r="http://schemas.openxmlformats.org/officeDocument/2006/relationships" id="259" r:id="R8e9b1e6951384e5e"/>
    <p:sldId xmlns:r="http://schemas.openxmlformats.org/officeDocument/2006/relationships" id="260" r:id="Rafc77ad62a854ff8"/>
    <p:sldId xmlns:r="http://schemas.openxmlformats.org/officeDocument/2006/relationships" id="261" r:id="R6b344ad10155469a"/>
    <p:sldId xmlns:r="http://schemas.openxmlformats.org/officeDocument/2006/relationships" id="262" r:id="R816406750f0240a2"/>
    <p:sldId xmlns:r="http://schemas.openxmlformats.org/officeDocument/2006/relationships" id="263" r:id="R7d2dafcee93947e6"/>
    <p:sldId xmlns:r="http://schemas.openxmlformats.org/officeDocument/2006/relationships" id="264" r:id="Rc6729a9bf5104d4d"/>
    <p:sldId xmlns:r="http://schemas.openxmlformats.org/officeDocument/2006/relationships" id="265" r:id="R14a6dcd137124b27"/>
    <p:sldId xmlns:r="http://schemas.openxmlformats.org/officeDocument/2006/relationships" id="266" r:id="R06d58f81708d4880"/>
    <p:sldId xmlns:r="http://schemas.openxmlformats.org/officeDocument/2006/relationships" id="267" r:id="R261f973d01a74632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e8d13fe39e4a9e" /><Relationship Type="http://schemas.openxmlformats.org/officeDocument/2006/relationships/slideMaster" Target="/ppt/slideMasters/slideMaster1.xml" Id="Reb550efe3f434863" /><Relationship Type="http://schemas.openxmlformats.org/officeDocument/2006/relationships/notesMaster" Target="/ppt/notesMasters/notesMaster1.xml" Id="Ra242277d23414b8c" /><Relationship Type="http://schemas.openxmlformats.org/officeDocument/2006/relationships/presProps" Target="/ppt/presProps.xml" Id="R63f7904206d848cf" /><Relationship Type="http://schemas.openxmlformats.org/officeDocument/2006/relationships/viewProps" Target="/ppt/viewProps.xml" Id="R8e1e7789f9f54608" /><Relationship Type="http://schemas.openxmlformats.org/officeDocument/2006/relationships/tableStyles" Target="/ppt/tableStyles.xml" Id="R975d6198b2c9494d" /><Relationship Type="http://schemas.openxmlformats.org/officeDocument/2006/relationships/slide" Target="/ppt/slides/slide1.xml" Id="R2c1c43fe80984aed" /><Relationship Type="http://schemas.openxmlformats.org/officeDocument/2006/relationships/slide" Target="/ppt/slides/slide2.xml" Id="R4ab86652063f4ebe" /><Relationship Type="http://schemas.openxmlformats.org/officeDocument/2006/relationships/slide" Target="/ppt/slides/slide3.xml" Id="R7dbad7d130dc4453" /><Relationship Type="http://schemas.openxmlformats.org/officeDocument/2006/relationships/slide" Target="/ppt/slides/slide4.xml" Id="R8e9b1e6951384e5e" /><Relationship Type="http://schemas.openxmlformats.org/officeDocument/2006/relationships/slide" Target="/ppt/slides/slide5.xml" Id="Rafc77ad62a854ff8" /><Relationship Type="http://schemas.openxmlformats.org/officeDocument/2006/relationships/slide" Target="/ppt/slides/slide6.xml" Id="R6b344ad10155469a" /><Relationship Type="http://schemas.openxmlformats.org/officeDocument/2006/relationships/slide" Target="/ppt/slides/slide7.xml" Id="R816406750f0240a2" /><Relationship Type="http://schemas.openxmlformats.org/officeDocument/2006/relationships/slide" Target="/ppt/slides/slide8.xml" Id="R7d2dafcee93947e6" /><Relationship Type="http://schemas.openxmlformats.org/officeDocument/2006/relationships/slide" Target="/ppt/slides/slide9.xml" Id="Rc6729a9bf5104d4d" /><Relationship Type="http://schemas.openxmlformats.org/officeDocument/2006/relationships/slide" Target="/ppt/slides/slide10.xml" Id="R14a6dcd137124b27" /><Relationship Type="http://schemas.openxmlformats.org/officeDocument/2006/relationships/slide" Target="/ppt/slides/slide11.xml" Id="R06d58f81708d4880" /><Relationship Type="http://schemas.openxmlformats.org/officeDocument/2006/relationships/slide" Target="/ppt/slides/slide12.xml" Id="R261f973d01a746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538e6eb00746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2438e7855e4a90" /><Relationship Type="http://schemas.openxmlformats.org/officeDocument/2006/relationships/notesMaster" Target="/ppt/notesMasters/notesMaster1.xml" Id="R5209f5c44a9f43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0c3bd1ed314df6" /><Relationship Type="http://schemas.openxmlformats.org/officeDocument/2006/relationships/notesMaster" Target="/ppt/notesMasters/notesMaster1.xml" Id="R9da4ffe8c98b4f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5a46c910174b2e" /><Relationship Type="http://schemas.openxmlformats.org/officeDocument/2006/relationships/notesMaster" Target="/ppt/notesMasters/notesMaster1.xml" Id="R5965109c856744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6acb5aa0304166" /><Relationship Type="http://schemas.openxmlformats.org/officeDocument/2006/relationships/notesMaster" Target="/ppt/notesMasters/notesMaster1.xml" Id="R8d035a7c856d48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0d24ebe647423f" /><Relationship Type="http://schemas.openxmlformats.org/officeDocument/2006/relationships/notesMaster" Target="/ppt/notesMasters/notesMaster1.xml" Id="R9c4ace9f2cda4a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5b23eb89fb420f" /><Relationship Type="http://schemas.openxmlformats.org/officeDocument/2006/relationships/notesMaster" Target="/ppt/notesMasters/notesMaster1.xml" Id="R7081248fd09e4b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4f02e33d024b38" /><Relationship Type="http://schemas.openxmlformats.org/officeDocument/2006/relationships/notesMaster" Target="/ppt/notesMasters/notesMaster1.xml" Id="Rbf1663cbfa2d4c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1f607f25a24f00" /><Relationship Type="http://schemas.openxmlformats.org/officeDocument/2006/relationships/notesMaster" Target="/ppt/notesMasters/notesMaster1.xml" Id="Rba467630765645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1123f43d08485c" /><Relationship Type="http://schemas.openxmlformats.org/officeDocument/2006/relationships/notesMaster" Target="/ppt/notesMasters/notesMaster1.xml" Id="R4c4c74e66ed041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2effcb26394835" /><Relationship Type="http://schemas.openxmlformats.org/officeDocument/2006/relationships/notesMaster" Target="/ppt/notesMasters/notesMaster1.xml" Id="Ra35e94e8001e4e6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5e10bfa57c74129" /><Relationship Type="http://schemas.openxmlformats.org/officeDocument/2006/relationships/notesMaster" Target="/ppt/notesMasters/notesMaster1.xml" Id="R47eb9ca76f4f423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7566a97adb0435d" /><Relationship Type="http://schemas.openxmlformats.org/officeDocument/2006/relationships/notesMaster" Target="/ppt/notesMasters/notesMaster1.xml" Id="R1ea28a0c87de48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Django mentorship platform. Team identity and institute branding follow the supplied presentation.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Project sources (reviewed 12 October 2026):</a:t>
            </a:r>
            <a:endParaRPr/>
          </a:p>
          <a:p xmlns:a="http://schemas.openxmlformats.org/drawingml/2006/main">
            <a:r>
              <a:t>C:\Users\babur\OneDrive\Desktop\MentorPulse\MentorPulse\README.md</a:t>
            </a:r>
            <a:endParaRPr/>
          </a:p>
          <a:p xmlns:a="http://schemas.openxmlformats.org/drawingml/2006/main">
            <a:r>
              <a:t>C:\Users\babur\OneDrive\Desktop\MentorPulse\MentorPulse\MentorPulse_Project_Description.md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Profile stores skills, goals, experience and availability. Users may hold Mentor and Learner roles concurrently. This diagram shows the product relationship, not external services.</a:t>
            </a:r>
            <a:endParaRPr/>
          </a:p>
          <a:p xmlns:a="http://schemas.openxmlformats.org/drawingml/2006/main">
            <a:pPr algn="l">
              <a:buNone/>
            </a:pPr>
            <a:r>
              <a:t/>
            </a:r>
            <a:endParaRPr/>
          </a:p>
          <a:p xmlns:a="http://schemas.openxmlformats.org/drawingml/2006/main">
            <a:pPr algn="l">
              <a:buNone/>
            </a:pPr>
            <a:r>
              <a:t>Project sources (reviewed 12 October 2026):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C:\Users\babur\OneDrive\Desktop\MentorPulse\MentorPulse\accounts\models.py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C:\Users\babur\OneDrive\Desktop\MentorPulse\MentorPulse\matching\services.py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C:\Users\babur\OneDrive\Desktop\MentorPulse\MentorPulse\mentorship\models.py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Request validation blocks self-requests, requires an active mentor, prevents duplicate active/pending pairs and checks credits. Mentor acceptance creates an active workspace. States also include REJECTED and CANCELLED. Any authorised participant or staff can mark an active mentorship complete.</a:t>
            </a:r>
            <a:endParaRPr/>
          </a:p>
          <a:p xmlns:a="http://schemas.openxmlformats.org/drawingml/2006/main">
            <a:pPr algn="l">
              <a:buNone/>
            </a:pPr>
            <a:r>
              <a:t/>
            </a:r>
            <a:endParaRPr/>
          </a:p>
          <a:p xmlns:a="http://schemas.openxmlformats.org/drawingml/2006/main">
            <a:pPr algn="l">
              <a:buNone/>
            </a:pPr>
            <a:r>
              <a:t>Project sources (reviewed 12 October 2026):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C:\Users\babur\OneDrive\Desktop\MentorPulse\MentorPulse\mentorship\views.py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C:\Users\babur\OneDrive\Desktop\MentorPulse\MentorPulse\mentorship\models.py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C:\Users\babur\OneDrive\Desktop\MentorPulse\MentorPulse\gamification\services.py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Design objectives from the project specification. These are motivations, not measured survey findings or claims of learning impact.</a:t>
            </a:r>
            <a:endParaRPr/>
          </a:p>
          <a:p xmlns:a="http://schemas.openxmlformats.org/drawingml/2006/main">
            <a:pPr algn="l">
              <a:buNone/>
            </a:pPr>
            <a:r>
              <a:t/>
            </a:r>
            <a:endParaRPr/>
          </a:p>
          <a:p xmlns:a="http://schemas.openxmlformats.org/drawingml/2006/main">
            <a:pPr algn="l">
              <a:buNone/>
            </a:pPr>
            <a:r>
              <a:t>Project sources (reviewed 12 October 2026):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C:\Users\babur\OneDrive\Desktop\MentorPulse\MentorPulse\MentorPulse_Project_Description.md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C:\Users\babur\OneDrive\Desktop\MentorPulse\MentorPulse\mentorship\views.py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Dual roles use RoleAssignment records. Resources include links, files and notes. Notifications are database records rendered with HTTP requests, not pushed websocket events. Certificates reflect workflow completion.</a:t>
            </a:r>
            <a:endParaRPr/>
          </a:p>
          <a:p xmlns:a="http://schemas.openxmlformats.org/drawingml/2006/main">
            <a:pPr algn="l">
              <a:buNone/>
            </a:pPr>
            <a:r>
              <a:t/>
            </a:r>
            <a:endParaRPr/>
          </a:p>
          <a:p xmlns:a="http://schemas.openxmlformats.org/drawingml/2006/main">
            <a:pPr algn="l">
              <a:buNone/>
            </a:pPr>
            <a:r>
              <a:t>Project sources (reviewed 12 October 2026):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C:\Users\babur\OneDrive\Desktop\MentorPulse\MentorPulse\accounts\models.py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C:\Users\babur\OneDrive\Desktop\MentorPulse\MentorPulse\matching\views.py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C:\Users\babur\OneDrive\Desktop\MentorPulse\MentorPulse\mentorship\models.py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C:\Users\babur\OneDrive\Desktop\MentorPulse\MentorPulse\notifications\views.py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C:\Users\babur\OneDrive\Desktop\MentorPulse\MentorPulse\gamification\views.py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Illustrative arithmetic examples, not seeded-user scenarios. Matching total is round(skill overlap*50 + availability ratio*30 + experience ratio*20), clamped 0–100. Availability ratios: exact 1, flexible .9, missing .6, incompatible .2. Experience affinity: +1/+2 tiers 1, +3 .9, same .65, lower .25. Skill overlap uses shared skills / learner skills, or .5 when none selected. Progress uses 70/30 when both types exist, 100% for the only existing type, 0% for no records. COMPLETED forces100%, rather than assessing competency.</a:t>
            </a:r>
            <a:endParaRPr/>
          </a:p>
          <a:p xmlns:a="http://schemas.openxmlformats.org/drawingml/2006/main">
            <a:pPr algn="l">
              <a:buNone/>
            </a:pPr>
            <a:r>
              <a:t/>
            </a:r>
            <a:endParaRPr/>
          </a:p>
          <a:p xmlns:a="http://schemas.openxmlformats.org/drawingml/2006/main">
            <a:pPr algn="l">
              <a:buNone/>
            </a:pPr>
            <a:r>
              <a:t>Project sources (reviewed 12 October 2026):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C:\Users\babur\OneDrive\Desktop\MentorPulse\MentorPulse\matching\services.py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C:\Users\babur\OneDrive\Desktop\MentorPulse\MentorPulse\mentorship\models.py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Credits have no monetary value. Priority costs10 plus5. Automatic wallet operations create CreditTransaction records. Refunds and completed-session rewards include context-based duplicate guards. BadgeService uses the shown thresholds, superseding the earlier specification. First Steps checks mentorship completion, not a single milestone. Skill score is a stored profile value. Leaderboard recalculates at relevant events and when its page opens.</a:t>
            </a:r>
            <a:endParaRPr/>
          </a:p>
          <a:p xmlns:a="http://schemas.openxmlformats.org/drawingml/2006/main">
            <a:pPr algn="l">
              <a:buNone/>
            </a:pPr>
            <a:r>
              <a:t/>
            </a:r>
            <a:endParaRPr/>
          </a:p>
          <a:p xmlns:a="http://schemas.openxmlformats.org/drawingml/2006/main">
            <a:pPr algn="l">
              <a:buNone/>
            </a:pPr>
            <a:r>
              <a:t>Project sources (reviewed 12 October 2026):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C:\Users\babur\OneDrive\Desktop\MentorPulse\MentorPulse\gamification\services.py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C:\Users\babur\OneDrive\Desktop\MentorPulse\MentorPulse\gamification\models.py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C:\Users\babur\OneDrive\Desktop\MentorPulse\MentorPulse\gamification\signals.py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C:\Users\babur\OneDrive\Desktop\MentorPulse\MentorPulse\gamification\views.py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Test command python manage.py test --noinput ran successfully earlier in this presentation task:53 tests, OK, no system check issues. Counts come from current test methods. Upload validator allows .pdf,.png,.jpg,.jpeg,.txt,.docx,.doc and checks 10*1024*1024 bytes. Authentication and participant checks exist, but no production security review or load test is claimed. Settings DEBUG=True suit local development. Proposed future hardening includes disabling demo switching, atomic credit writes, stricter completion criteria and deployment configuration.</a:t>
            </a:r>
            <a:endParaRPr/>
          </a:p>
          <a:p xmlns:a="http://schemas.openxmlformats.org/drawingml/2006/main">
            <a:pPr algn="l">
              <a:buNone/>
            </a:pPr>
            <a:r>
              <a:t/>
            </a:r>
            <a:endParaRPr/>
          </a:p>
          <a:p xmlns:a="http://schemas.openxmlformats.org/drawingml/2006/main">
            <a:pPr algn="l">
              <a:buNone/>
            </a:pPr>
            <a:r>
              <a:t>Project sources (reviewed 12 October 2026):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C:\Users\babur\OneDrive\Desktop\MentorPulse\MentorPulse\mentorship\forms.py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C:\Users\babur\OneDrive\Desktop\MentorPulse\MentorPulse\mentorship\models.py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C:\Users\babur\OneDrive\Desktop\MentorPulse\MentorPulse\mentorpulse\settings.py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C:\Users\babur\OneDrive\Desktop\MentorPulse\MentorPulse\accounts\tests.py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C:\Users\babur\OneDrive\Desktop\MentorPulse\MentorPulse\matching\tests.py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C:\Users\babur\OneDrive\Desktop\MentorPulse\MentorPulse\mentorship\tests.py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C:\Users\babur\OneDrive\Desktop\MentorPulse\MentorPulse\gamification\tests.py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C:\Users\babur\OneDrive\Desktop\MentorPulse\MentorPulse\notifications\tests.py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Native architecture diagram represents implemented local system. Templates use Bootstrap5.3.3 and custom CSS. Django5.x requirement. Five apps run in one process with synchronous request handlers. SQLite and local MEDIA_ROOT provide storage. Bootstrap and font files normally load from public CDNs. External meeting links are fields, not video integrations.</a:t>
            </a:r>
            <a:endParaRPr/>
          </a:p>
          <a:p xmlns:a="http://schemas.openxmlformats.org/drawingml/2006/main">
            <a:pPr algn="l">
              <a:buNone/>
            </a:pPr>
            <a:r>
              <a:t/>
            </a:r>
            <a:endParaRPr/>
          </a:p>
          <a:p xmlns:a="http://schemas.openxmlformats.org/drawingml/2006/main">
            <a:pPr algn="l">
              <a:buNone/>
            </a:pPr>
            <a:r>
              <a:t>Project sources (reviewed 12 October 2026):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C:\Users\babur\OneDrive\Desktop\MentorPulse\MentorPulse\mentorpulse\settings.py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C:\Users\babur\OneDrive\Desktop\MentorPulse\MentorPulse\mentorpulse\urls.py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C:\Users\babur\OneDrive\Desktop\MentorPulse\MentorPulse\templates\base.html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C:\Users\babur\OneDrive\Desktop\MentorPulse\MentorPulse\requirements.txt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Conceptual relationship diagram: Mentorship references two User records. Profile is one-to-one to User, RoleAssignment is many-to-one. Progress is one-to-one to Mentorship. Sessions,milestones,resources and posts have foreign keys to Mentorship. Completion handler invokes reward service and recalculates progress. Reward service checks badges and refreshes ranks; notification helper records events. Updates need no background queue.</a:t>
            </a:r>
            <a:endParaRPr/>
          </a:p>
          <a:p xmlns:a="http://schemas.openxmlformats.org/drawingml/2006/main">
            <a:pPr algn="l">
              <a:buNone/>
            </a:pPr>
            <a:r>
              <a:t/>
            </a:r>
            <a:endParaRPr/>
          </a:p>
          <a:p xmlns:a="http://schemas.openxmlformats.org/drawingml/2006/main">
            <a:pPr algn="l">
              <a:buNone/>
            </a:pPr>
            <a:r>
              <a:t>Project sources (reviewed 12 October 2026):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C:\Users\babur\OneDrive\Desktop\MentorPulse\MentorPulse\accounts\models.py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C:\Users\babur\OneDrive\Desktop\MentorPulse\MentorPulse\mentorship\models.py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C:\Users\babur\OneDrive\Desktop\MentorPulse\MentorPulse\mentorship\views.py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C:\Users\babur\OneDrive\Desktop\MentorPulse\MentorPulse\gamification\services.py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C:\Users\babur\OneDrive\Desktop\MentorPulse\MentorPulse\notifications\services.py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requirements.txt installs Django&gt;=5.0,&lt;6.0 plus asgiref,sqlparse,tzdata and Pillow. Python3.10+ is named in README and launcher. Optional virtual environment: python -m venv .venv, then on Windows .venv\Scripts\activate or Unix source .venv/bin/activate. Skills taxonomy and mentor profiles can be managed through Django Admin at /admin/ after python manage.py createsuperuser. Run setup commands from the project directory.</a:t>
            </a:r>
            <a:endParaRPr/>
          </a:p>
          <a:p xmlns:a="http://schemas.openxmlformats.org/drawingml/2006/main">
            <a:pPr algn="l">
              <a:buNone/>
            </a:pPr>
            <a:r>
              <a:t/>
            </a:r>
            <a:endParaRPr/>
          </a:p>
          <a:p xmlns:a="http://schemas.openxmlformats.org/drawingml/2006/main">
            <a:pPr algn="l">
              <a:buNone/>
            </a:pPr>
            <a:r>
              <a:t>Project sources (reviewed 12 October 2026):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C:\Users\babur\OneDrive\Desktop\MentorPulse\MentorPulse\README.md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C:\Users\babur\OneDrive\Desktop\MentorPulse\MentorPulse\requirements.txt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C:\Users\babur\OneDrive\Desktop\MentorPulse\MentorPulse\manage.py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C:\Users\babur\OneDrive\Desktop\MentorPulse\MentorPulse\debug.bat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Create the skill taxonomy and any required profile data through Django Admin after creating a superuser. Registration creates a profile and starting credit wallet. Activate roles through profile controls. Expected standard request costs10,priority15, mentor completion reward10, refund on rejection/cancellation. Milestone/session update changes weighted progress. Completion unlocks certificate. Test command checks current functional suite;53 tests passed during this task. Sessions support external meeting URLs.</a:t>
            </a:r>
            <a:endParaRPr/>
          </a:p>
          <a:p xmlns:a="http://schemas.openxmlformats.org/drawingml/2006/main">
            <a:pPr algn="l">
              <a:buNone/>
            </a:pPr>
            <a:r>
              <a:t/>
            </a:r>
            <a:endParaRPr/>
          </a:p>
          <a:p xmlns:a="http://schemas.openxmlformats.org/drawingml/2006/main">
            <a:pPr algn="l">
              <a:buNone/>
            </a:pPr>
            <a:r>
              <a:t>Project sources (reviewed 12 October 2026):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C:\Users\babur\OneDrive\Desktop\MentorPulse\MentorPulse\accounts\forms.py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C:\Users\babur\OneDrive\Desktop\MentorPulse\MentorPulse\accounts\views.py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C:\Users\babur\OneDrive\Desktop\MentorPulse\MentorPulse\accounts\admin.py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C:\Users\babur\OneDrive\Desktop\MentorPulse\MentorPulse\matching\views.py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C:\Users\babur\OneDrive\Desktop\MentorPulse\MentorPulse\mentorship\views.py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C:\Users\babur\OneDrive\Desktop\MentorPulse\MentorPulse\gamification\services.py</a:t>
            </a:r>
            <a:endParaRPr/>
          </a:p>
          <a:p xmlns:a="http://schemas.openxmlformats.org/drawingml/2006/main">
            <a:pPr algn="l">
              <a:buNone/>
            </a:pPr>
            <a:r>
              <a:t>C:\Users\babur\OneDrive\Desktop\MentorPulse\MentorPulse\mentorship\tests.py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3b79941dc94f9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8f4f33ec9b4dc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f91b95c1ff4c9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367a0fa5e44ee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08e9ac72c2448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ffca52500e405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f03b797acc488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34829697b3418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2080db21224ab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44574ab48941d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c5f1a441134870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729B47E-7FD2-4F7F-9381-C4308D25873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B112F421-AC29-47BD-8892-41909CF195D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79CFB46-51B2-43F8-B3E5-F10413A22C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F9F855A-7651-4E31-8BB5-9B7BFCF86767}" type="datetimeFigureOut">
              <a:t>22-09-2026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E93CC8D-DF4F-4537-888A-8EE6EA88B2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E83F124-D10F-42EF-94F2-7FBC9565EA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8702D1-3802-43A1-9CC1-AD6315A316D9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AFAF84-1226-4033-A36F-9CBF8F50CB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402083-37E7-4972-9BD5-DD44F1A3C5A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232F544-050C-4AB9-9095-D9D49AAD20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F9F855A-7651-4E31-8BB5-9B7BFCF86767}" type="datetimeFigureOut">
              <a:t>22-09-2026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9DA83C4-112A-4972-9490-E0C0BFDA0B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A97559D-8902-4FE2-8DC9-183BD5B086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8702D1-3802-43A1-9CC1-AD6315A316D9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271EF2A-5C6B-4555-B136-8C1C3CF3E7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BA2A057-50B5-4DD0-8F0A-F2D8D5D2BC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3C4B264-D1AA-42A0-AFED-4F6CAB8BF1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F9F855A-7651-4E31-8BB5-9B7BFCF86767}" type="datetimeFigureOut">
              <a:t>22-09-2026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07B74F-FC03-4A6C-A8E2-A0A5389178D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91910F8-597D-4792-BAC8-A78F4A425F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8702D1-3802-43A1-9CC1-AD6315A316D9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6D0B0B-FB76-4571-8977-8B3C08C5D6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CF7BF79-B272-4FC4-9106-632C8D23CA0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08AF5FA-67E8-4EBE-A468-53B751D6CDD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37AA619-C884-49E4-BAB7-9893F92202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F9F855A-7651-4E31-8BB5-9B7BFCF86767}" type="datetimeFigureOut">
              <a:t>22-09-2026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075F6F1-CD3D-4683-B56A-CA4563B568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2C63B8C-7D18-4E19-8978-D5C6EBA987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8702D1-3802-43A1-9CC1-AD6315A316D9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0877B01-8C23-4336-B1C3-FF72D68AAD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B695C1-E1E9-4A98-937E-ED1C020AD2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0D75512-181D-4D77-8CAF-A5144E14BFA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C35E4DC-DF2F-4F4A-8F3F-9A0A93E622A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82C58E7-FA62-4552-96A3-2A990338607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A998AE32-9603-437D-8BF7-0E77546FC8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F9F855A-7651-4E31-8BB5-9B7BFCF86767}" type="datetimeFigureOut">
              <a:t>22-09-2026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A701969E-3CD1-4F9E-A7E7-B9B4EF8A0C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A597F010-A6F0-4DF8-A842-5E31FC018D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8702D1-3802-43A1-9CC1-AD6315A316D9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F8E5A20-2A9F-4D6C-943E-3346E4B880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866C692-C827-4E55-AFA5-76012CD1DA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F9F855A-7651-4E31-8BB5-9B7BFCF86767}" type="datetimeFigureOut">
              <a:t>22-09-2026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49F3284-9696-48B8-984D-EF44AFF57A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E3B2182-6056-4315-85AF-6B170A3BD3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8702D1-3802-43A1-9CC1-AD6315A316D9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23127D1-DB28-4E2E-AB99-81CE7B31D5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F9F855A-7651-4E31-8BB5-9B7BFCF86767}" type="datetimeFigureOut">
              <a:t>22-09-2026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6D74E91-7F9D-445A-9D5A-D936D47F61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DF7EE57-433A-40AE-9D93-D33BBB3E71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8702D1-3802-43A1-9CC1-AD6315A316D9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C75A1A1-4F5E-44F9-B94A-C250BE5551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90D6C8D-A700-4FCE-B56C-3A9ABC2F10A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6410EC8-7B17-4C9B-9964-44916E02199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1220A7F-94E3-4E5B-BFA0-48322E2FCD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F9F855A-7651-4E31-8BB5-9B7BFCF86767}" type="datetimeFigureOut">
              <a:t>22-09-2026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7E378A7-2C2A-4383-8653-F4DA3178C6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888D93A-9480-4E63-8798-CD24AF0A91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8702D1-3802-43A1-9CC1-AD6315A316D9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6EF6621-ECC8-4152-9057-81E2FDAEC2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693B2BEA-9AD4-4A0C-A422-54C36BB8401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6126CA7-371A-43DB-8F97-FAC204E2255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E1BBC57-3C07-4506-B4A1-832FDC2AC2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F9F855A-7651-4E31-8BB5-9B7BFCF86767}" type="datetimeFigureOut">
              <a:t>22-09-2026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51FE5C9-2CC7-4F1D-BC56-0A551A41B6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B8682B3-FAFE-491A-8C8A-4FCDBD771F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8702D1-3802-43A1-9CC1-AD6315A316D9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3254D76-6DBE-44B7-BA10-CABAE4DC19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ED751C6-4C65-4D0C-803C-D873E75728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7E3335A-CD1D-48A4-BBF1-DFE274F90F0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F9F855A-7651-4E31-8BB5-9B7BFCF86767}" type="datetimeFigureOut">
              <a:t>22-09-2026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2ED7192-B6E0-4D23-B0F4-2ED81C2414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FE35068-BFD5-4BFC-983A-200964FB6D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8702D1-3802-43A1-9CC1-AD6315A316D9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49EE84AD-9F49-48BE-9C47-E797DEF603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1AD3D05-FE87-4F0F-8AD2-D3A0256B3B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B5D02F6-DF5D-4A18-81E3-7798A49C006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F9F855A-7651-4E31-8BB5-9B7BFCF86767}" type="datetimeFigureOut">
              <a:t>22-09-2026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AB3DD7E-1A38-4F0A-8410-AFE04DC7FD8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FA0932-B146-44C0-800B-F7D153BAA7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8702D1-3802-43A1-9CC1-AD6315A316D9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92aa58f7484568" /><Relationship Type="http://schemas.openxmlformats.org/officeDocument/2006/relationships/slideLayout" Target="/ppt/slideLayouts/slideLayout1.xml" Id="Rd01f344913b84566" /><Relationship Type="http://schemas.openxmlformats.org/officeDocument/2006/relationships/slideLayout" Target="/ppt/slideLayouts/slideLayout2.xml" Id="R7a15370bc79c4cf9" /><Relationship Type="http://schemas.openxmlformats.org/officeDocument/2006/relationships/slideLayout" Target="/ppt/slideLayouts/slideLayout3.xml" Id="R40566a7560aa4111" /><Relationship Type="http://schemas.openxmlformats.org/officeDocument/2006/relationships/slideLayout" Target="/ppt/slideLayouts/slideLayout4.xml" Id="R69a12a2928434385" /><Relationship Type="http://schemas.openxmlformats.org/officeDocument/2006/relationships/slideLayout" Target="/ppt/slideLayouts/slideLayout5.xml" Id="R9c6dd90d604748f9" /><Relationship Type="http://schemas.openxmlformats.org/officeDocument/2006/relationships/slideLayout" Target="/ppt/slideLayouts/slideLayout6.xml" Id="Rceefd8cfd69840cc" /><Relationship Type="http://schemas.openxmlformats.org/officeDocument/2006/relationships/slideLayout" Target="/ppt/slideLayouts/slideLayout7.xml" Id="R2053e624a27b4277" /><Relationship Type="http://schemas.openxmlformats.org/officeDocument/2006/relationships/slideLayout" Target="/ppt/slideLayouts/slideLayout8.xml" Id="R47e687f8ade44137" /><Relationship Type="http://schemas.openxmlformats.org/officeDocument/2006/relationships/slideLayout" Target="/ppt/slideLayouts/slideLayout9.xml" Id="Rb86c7ea0a977462f" /><Relationship Type="http://schemas.openxmlformats.org/officeDocument/2006/relationships/slideLayout" Target="/ppt/slideLayouts/slideLayout10.xml" Id="R73a908c591ae41b8" /><Relationship Type="http://schemas.openxmlformats.org/officeDocument/2006/relationships/slideLayout" Target="/ppt/slideLayouts/slideLayout11.xml" Id="R25762630e64e4cf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695D76-3F76-4440-BE44-E11DC8D099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1A57BFB-E7FD-43C8-A3D2-454449D5C4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CD78B87-4569-4FAE-AC1E-60B780FF435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8F9F855A-7651-4E31-8BB5-9B7BFCF86767}" type="datetimeFigureOut">
              <a:t>22-09-2026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29C498-524F-43DB-8E60-5093D891D8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CA8424-BFE9-4B1D-B213-4F570AB349A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8702D1-3802-43A1-9CC1-AD6315A316D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1f344913b84566"/>
    <p:sldLayoutId xmlns:r="http://schemas.openxmlformats.org/officeDocument/2006/relationships" id="2147483650" r:id="R7a15370bc79c4cf9"/>
    <p:sldLayoutId xmlns:r="http://schemas.openxmlformats.org/officeDocument/2006/relationships" id="2147483651" r:id="R40566a7560aa4111"/>
    <p:sldLayoutId xmlns:r="http://schemas.openxmlformats.org/officeDocument/2006/relationships" id="2147483652" r:id="R69a12a2928434385"/>
    <p:sldLayoutId xmlns:r="http://schemas.openxmlformats.org/officeDocument/2006/relationships" id="2147483653" r:id="R9c6dd90d604748f9"/>
    <p:sldLayoutId xmlns:r="http://schemas.openxmlformats.org/officeDocument/2006/relationships" id="2147483654" r:id="Rceefd8cfd69840cc"/>
    <p:sldLayoutId xmlns:r="http://schemas.openxmlformats.org/officeDocument/2006/relationships" id="2147483655" r:id="R2053e624a27b4277"/>
    <p:sldLayoutId xmlns:r="http://schemas.openxmlformats.org/officeDocument/2006/relationships" id="2147483656" r:id="R47e687f8ade44137"/>
    <p:sldLayoutId xmlns:r="http://schemas.openxmlformats.org/officeDocument/2006/relationships" id="2147483657" r:id="Rb86c7ea0a977462f"/>
    <p:sldLayoutId xmlns:r="http://schemas.openxmlformats.org/officeDocument/2006/relationships" id="2147483658" r:id="R73a908c591ae41b8"/>
    <p:sldLayoutId xmlns:r="http://schemas.openxmlformats.org/officeDocument/2006/relationships" id="2147483659" r:id="R25762630e64e4cf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67b74894874a2d" /><Relationship Type="http://schemas.openxmlformats.org/officeDocument/2006/relationships/image" Target="/ppt/media/image.jpeg" Id="Re97ae1fa50004971" /><Relationship Type="http://schemas.openxmlformats.org/officeDocument/2006/relationships/notesSlide" Target="/ppt/notesSlides/notesSlide1.xml" Id="R7ac203819e2e49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33dbad0041483f" /><Relationship Type="http://schemas.openxmlformats.org/officeDocument/2006/relationships/image" Target="/ppt/media/image.jpeg" Id="R659b2aec9f364e1e" /><Relationship Type="http://schemas.openxmlformats.org/officeDocument/2006/relationships/notesSlide" Target="/ppt/notesSlides/notesSlide2.xml" Id="R6e9f09afacc444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d838fd8f9544e2" /><Relationship Type="http://schemas.openxmlformats.org/officeDocument/2006/relationships/image" Target="/ppt/media/image.jpeg" Id="R9063e91033a949da" /><Relationship Type="http://schemas.openxmlformats.org/officeDocument/2006/relationships/notesSlide" Target="/ppt/notesSlides/notesSlide3.xml" Id="R30ec46ff63a645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8b314fd90e430a" /><Relationship Type="http://schemas.openxmlformats.org/officeDocument/2006/relationships/image" Target="/ppt/media/image.jpeg" Id="Rb646d6efa10a44d9" /><Relationship Type="http://schemas.openxmlformats.org/officeDocument/2006/relationships/notesSlide" Target="/ppt/notesSlides/notesSlide4.xml" Id="R5dbd130d92db4a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32b61abab34dee" /><Relationship Type="http://schemas.openxmlformats.org/officeDocument/2006/relationships/image" Target="/ppt/media/image.jpeg" Id="R1b024017caae437e" /><Relationship Type="http://schemas.openxmlformats.org/officeDocument/2006/relationships/notesSlide" Target="/ppt/notesSlides/notesSlide5.xml" Id="Rce4d3432c3274b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8875350ccc4cb5" /><Relationship Type="http://schemas.openxmlformats.org/officeDocument/2006/relationships/image" Target="/ppt/media/image.jpeg" Id="Ra8e31d9178774bef" /><Relationship Type="http://schemas.openxmlformats.org/officeDocument/2006/relationships/notesSlide" Target="/ppt/notesSlides/notesSlide6.xml" Id="Rf65fb826a84e47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26ea0cf9e44de8" /><Relationship Type="http://schemas.openxmlformats.org/officeDocument/2006/relationships/image" Target="/ppt/media/image.jpeg" Id="R9836e742a72f4795" /><Relationship Type="http://schemas.openxmlformats.org/officeDocument/2006/relationships/notesSlide" Target="/ppt/notesSlides/notesSlide7.xml" Id="R5da63bb0c9c340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0c9e6803aa44dc" /><Relationship Type="http://schemas.openxmlformats.org/officeDocument/2006/relationships/image" Target="/ppt/media/image.jpeg" Id="Rb5497b55bd0c4564" /><Relationship Type="http://schemas.openxmlformats.org/officeDocument/2006/relationships/notesSlide" Target="/ppt/notesSlides/notesSlide8.xml" Id="R0946d332b14a44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111a229d784a53" /><Relationship Type="http://schemas.openxmlformats.org/officeDocument/2006/relationships/image" Target="/ppt/media/image.jpeg" Id="R7c3ceb50fd044904" /><Relationship Type="http://schemas.openxmlformats.org/officeDocument/2006/relationships/notesSlide" Target="/ppt/notesSlides/notesSlide9.xml" Id="R6fb75604bda04c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1ae8e60edf45d3" /><Relationship Type="http://schemas.openxmlformats.org/officeDocument/2006/relationships/image" Target="/ppt/media/image.jpeg" Id="R57d9f328521b417d" /><Relationship Type="http://schemas.openxmlformats.org/officeDocument/2006/relationships/notesSlide" Target="/ppt/notesSlides/notesSlide10.xml" Id="R68b288f270f6484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69f4a9f77d470b" /><Relationship Type="http://schemas.openxmlformats.org/officeDocument/2006/relationships/image" Target="/ppt/media/image.jpeg" Id="Recb512acf9194aef" /><Relationship Type="http://schemas.openxmlformats.org/officeDocument/2006/relationships/notesSlide" Target="/ppt/notesSlides/notesSlide11.xml" Id="Rdff3378106194b3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f4142a8ade47ce" /><Relationship Type="http://schemas.openxmlformats.org/officeDocument/2006/relationships/image" Target="/ppt/media/image.jpeg" Id="R978c3917fde7475a" /><Relationship Type="http://schemas.openxmlformats.org/officeDocument/2006/relationships/notesSlide" Target="/ppt/notesSlides/notesSlide12.xml" Id="R7f18841e4f264c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9272644-3B26-48B6-88C1-08D26676343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2209800"/>
            <a:ext cx="9144000" cy="1123950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6150">
                <a:solidFill>
                  <a:srgbClr val="213B57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defRPr sz="6150">
                <a:solidFill>
                  <a:srgbClr val="213B57"/>
                </a:solidFill>
                <a:latin typeface="Calibri Light"/>
                <a:ea typeface="Calibri Light"/>
                <a:cs typeface="Calibri Light"/>
              </a:defRPr>
            </a:pPr>
            <a:r>
              <a:rPr sz="6150">
                <a:solidFill>
                  <a:srgbClr val="213B57"/>
                </a:solidFill>
                <a:latin typeface="Calibri Light"/>
                <a:ea typeface="Calibri Light"/>
                <a:cs typeface="Calibri Light"/>
              </a:rPr>
              <a:t>MentorPulse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1E12397-080D-4DB6-816B-62B698AB2E4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4362450"/>
            <a:ext cx="9144000" cy="933450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175" i="0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2175" i="0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175" i="0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Navaneeth Krishna    Shivamshi Ullas</a:t>
            </a:r>
          </a:p>
          <a:p xmlns:a="http://schemas.openxmlformats.org/drawingml/2006/main">
            <a:pPr algn="ctr">
              <a:defRPr sz="2175" i="0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175" i="0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Chandhana    Prakshitha Pradeep</a:t>
            </a:r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0CA45EB0-310A-4E9D-9F41-AE1B66C37A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7ae1fa500049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2421" y="23813"/>
            <a:ext cx="1751379" cy="815788"/>
          </a:xfrm>
          <a:prstGeom xmlns:a="http://schemas.openxmlformats.org/drawingml/2006/main" prst="rect">
            <a:avLst/>
          </a:prstGeom>
        </p:spPr>
      </p:pic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DDE106EB-3D8D-4E9B-83EA-40F1EA6BD12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Indian Institute of Information Technology Kottayam</a:t>
            </a:r>
          </a:p>
        </p:txBody>
      </p:sp>
      <p:sp>
        <p:nvSpPr>
          <p:cNvPr id="6" name="Subtitle 2">
            <a:extLst xmlns:a="http://schemas.openxmlformats.org/drawingml/2006/main">
              <a:ext uri="{FF2B5EF4-FFF2-40B4-BE49-F238E27FC236}">
                <a16:creationId xmlns:a16="http://schemas.microsoft.com/office/drawing/2014/main" id="{45970ADE-5FDF-4E55-B3E2-E162D9B9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62600"/>
            <a:ext cx="9144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defPPr algn="ctr">
              <a:defRPr sz="1875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875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Group 11</a:t>
            </a:r>
            <a:endParaRPr i="1"/>
          </a:p>
        </p:txBody>
      </p:sp>
      <p:sp>
        <p:nvSpPr>
          <p:cNvPr id="8" name="Skill-based mentor matching and progress tracking">
            <a:extLst xmlns:a="http://schemas.openxmlformats.org/drawingml/2006/main">
              <a:ext uri="{FF2B5EF4-FFF2-40B4-BE49-F238E27FC236}">
                <a16:creationId xmlns:a16="http://schemas.microsoft.com/office/drawing/2014/main" id="{4A8672CB-C061-4293-9B9D-FE403EA8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48050"/>
            <a:ext cx="914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75" b="0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2475" b="0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Skill-based mentor matching and progress tracking</a:t>
            </a:r>
          </a:p>
        </p:txBody>
      </p:sp>
    </p:spTree>
    <p:extLst>
      <p:ext uri="{BB962C8B-B14F-4D97-AF65-F5344CB8AC3E}">
        <p14:creationId xmlns:p14="http://schemas.microsoft.com/office/powerpoint/2010/main" val="25252304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FD129A-7EFB-455C-A5FE-2C5F1A499086}"/>
              </a:ext>
            </a:extLst>
          </p:cNvPr>
          <p:cNvCxnSpPr>
            <a:stCxn xmlns:a="http://schemas.openxmlformats.org/drawingml/2006/main" id="15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7486650" y="4086225"/>
            <a:ext cx="10763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676AD"/>
            </a:solidFill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6C6E8A-27B8-4F8D-BF3A-4024B3DF6886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629025" y="4086225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676AD"/>
            </a:solidFill>
            <a:tailEnd type="triangle" w="sm" len="sm"/>
          </a:ln>
        </p:spPr>
      </p:cxn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356941-FDBF-4F45-BFAF-559FCF088C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62000"/>
            <a:ext cx="10515600" cy="66675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>
              <a:def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Introduction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38BCDD7-9BFD-485E-8460-5204763A9D5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11553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25B24B71-B6B8-4462-A428-CADBD292A5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9b2aec9f364e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2421" y="0"/>
            <a:ext cx="1751379" cy="815788"/>
          </a:xfrm>
          <a:prstGeom xmlns:a="http://schemas.openxmlformats.org/drawingml/2006/main" prst="rect">
            <a:avLst/>
          </a:prstGeom>
        </p:spPr>
      </p:pic>
      <p:sp>
        <p:nvSpPr>
          <p:cNvPr id="9" name="Footer Placeholder 8">
            <a:extLst xmlns:a="http://schemas.openxmlformats.org/drawingml/2006/main">
              <a:ext uri="{FF2B5EF4-FFF2-40B4-BE49-F238E27FC236}">
                <a16:creationId xmlns:a16="http://schemas.microsoft.com/office/drawing/2014/main" id="{8836FB23-0C45-4752-9FD2-D0DAE436BC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Indian Institute of Information Technology Kottayam</a:t>
            </a:r>
          </a:p>
        </p:txBody>
      </p:sp>
      <p:sp>
        <p:nvSpPr>
          <p:cNvPr id="10" name="Slide Number Placeholder 9">
            <a:extLst xmlns:a="http://schemas.openxmlformats.org/drawingml/2006/main">
              <a:ext uri="{FF2B5EF4-FFF2-40B4-BE49-F238E27FC236}">
                <a16:creationId xmlns:a16="http://schemas.microsoft.com/office/drawing/2014/main" id="{F8574A4C-894B-4A28-9710-7F9775073F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rPr sz="1600"/>
              <a:t>2</a:t>
            </a:fld>
            <a:endParaRPr sz="1600"/>
          </a:p>
        </p:txBody>
      </p:sp>
      <p:sp>
        <p:nvSpPr>
          <p:cNvPr id="11" name="Platform overview">
            <a:extLst xmlns:a="http://schemas.openxmlformats.org/drawingml/2006/main">
              <a:ext uri="{FF2B5EF4-FFF2-40B4-BE49-F238E27FC236}">
                <a16:creationId xmlns:a16="http://schemas.microsoft.com/office/drawing/2014/main" id="{5ED6DE33-51FD-467C-86F5-13975181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Platform overview</a:t>
            </a:r>
          </a:p>
        </p:txBody>
      </p:sp>
      <p:sp>
        <p:nvSpPr>
          <p:cNvPr id="12" name="MentorPulse connects learners with mentors and giv">
            <a:extLst xmlns:a="http://schemas.openxmlformats.org/drawingml/2006/main">
              <a:ext uri="{FF2B5EF4-FFF2-40B4-BE49-F238E27FC236}">
                <a16:creationId xmlns:a16="http://schemas.microsoft.com/office/drawing/2014/main" id="{E02ECB42-0801-472D-BFC0-40E64B63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0275"/>
            <a:ext cx="1051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MentorPulse connects learners with mentors and gives</a:t>
            </a:r>
          </a:p>
          <a:p xmlns:a="http://schemas.openxmlformats.org/drawingml/2006/main">
            <a:pPr algn="l">
              <a:defRPr sz="24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each pair a shared record of their learning journey.</a:t>
            </a:r>
          </a:p>
        </p:txBody>
      </p:sp>
      <p:sp>
        <p:nvSpPr>
          <p:cNvPr id="13" name="Learner Skills and learning goals">
            <a:extLst xmlns:a="http://schemas.openxmlformats.org/drawingml/2006/main">
              <a:ext uri="{FF2B5EF4-FFF2-40B4-BE49-F238E27FC236}">
                <a16:creationId xmlns:a16="http://schemas.microsoft.com/office/drawing/2014/main" id="{5C7B5D4A-EB38-411E-97E5-2CF103F9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33775"/>
            <a:ext cx="2790825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0F7F4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Learner</a:t>
            </a:r>
          </a:p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Skills and learning goals</a:t>
            </a:r>
          </a:p>
        </p:txBody>
      </p:sp>
      <p:sp>
        <p:nvSpPr>
          <p:cNvPr id="14" name="MentorPulse Matching and workspace">
            <a:extLst xmlns:a="http://schemas.openxmlformats.org/drawingml/2006/main">
              <a:ext uri="{FF2B5EF4-FFF2-40B4-BE49-F238E27FC236}">
                <a16:creationId xmlns:a16="http://schemas.microsoft.com/office/drawing/2014/main" id="{57E865BE-8FC9-4DF4-9483-B0596813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533775"/>
            <a:ext cx="2790825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MentorPulse</a:t>
            </a:r>
          </a:p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Matching and workspace</a:t>
            </a:r>
          </a:p>
        </p:txBody>
      </p:sp>
      <p:sp>
        <p:nvSpPr>
          <p:cNvPr id="15" name="Mentor Experience and availability">
            <a:extLst xmlns:a="http://schemas.openxmlformats.org/drawingml/2006/main">
              <a:ext uri="{FF2B5EF4-FFF2-40B4-BE49-F238E27FC236}">
                <a16:creationId xmlns:a16="http://schemas.microsoft.com/office/drawing/2014/main" id="{03A223C4-50C7-4509-A1C1-BB3A32AF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533775"/>
            <a:ext cx="2790825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0F7F4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Mentor</a:t>
            </a:r>
          </a:p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Experience and availability</a:t>
            </a:r>
          </a:p>
        </p:txBody>
      </p:sp>
      <p:sp>
        <p:nvSpPr>
          <p:cNvPr id="18" name="Discovery">
            <a:extLst xmlns:a="http://schemas.openxmlformats.org/drawingml/2006/main">
              <a:ext uri="{FF2B5EF4-FFF2-40B4-BE49-F238E27FC236}">
                <a16:creationId xmlns:a16="http://schemas.microsoft.com/office/drawing/2014/main" id="{1511E780-EC3D-49E9-B693-89FC04D2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53025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676A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676AD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676AD"/>
                </a:solidFill>
                <a:latin typeface="Segoe UI"/>
                <a:ea typeface="Segoe UI"/>
                <a:cs typeface="Segoe UI"/>
              </a:rPr>
              <a:t>Discovery</a:t>
            </a:r>
          </a:p>
        </p:txBody>
      </p:sp>
      <p:sp>
        <p:nvSpPr>
          <p:cNvPr id="19" name="Rank suitable mentors&#10;with an explainable score">
            <a:extLst xmlns:a="http://schemas.openxmlformats.org/drawingml/2006/main">
              <a:ext uri="{FF2B5EF4-FFF2-40B4-BE49-F238E27FC236}">
                <a16:creationId xmlns:a16="http://schemas.microsoft.com/office/drawing/2014/main" id="{DC08F9FD-32D4-4E9C-8D9C-2068AB1E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3238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Rank suitable mentors</a:t>
            </a:r>
          </a:p>
          <a:p xmlns:a="http://schemas.openxmlformats.org/drawingml/2006/main">
            <a:pPr algn="l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with an explainable score</a:t>
            </a:r>
          </a:p>
        </p:txBody>
      </p:sp>
      <p:sp>
        <p:nvSpPr>
          <p:cNvPr id="20" name="Collaboration">
            <a:extLst xmlns:a="http://schemas.openxmlformats.org/drawingml/2006/main">
              <a:ext uri="{FF2B5EF4-FFF2-40B4-BE49-F238E27FC236}">
                <a16:creationId xmlns:a16="http://schemas.microsoft.com/office/drawing/2014/main" id="{2DB04935-367A-4A74-8138-21C89288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153025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676A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676AD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676AD"/>
                </a:solidFill>
                <a:latin typeface="Segoe UI"/>
                <a:ea typeface="Segoe UI"/>
                <a:cs typeface="Segoe UI"/>
              </a:rPr>
              <a:t>Collaboration</a:t>
            </a:r>
          </a:p>
        </p:txBody>
      </p:sp>
      <p:sp>
        <p:nvSpPr>
          <p:cNvPr id="21" name="Keep sessions and milestones&#10;in a shared workspace">
            <a:extLst xmlns:a="http://schemas.openxmlformats.org/drawingml/2006/main">
              <a:ext uri="{FF2B5EF4-FFF2-40B4-BE49-F238E27FC236}">
                <a16:creationId xmlns:a16="http://schemas.microsoft.com/office/drawing/2014/main" id="{96B5AACF-D652-4F39-89D0-58674B94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619750"/>
            <a:ext cx="3238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Keep sessions and milestones</a:t>
            </a:r>
          </a:p>
          <a:p xmlns:a="http://schemas.openxmlformats.org/drawingml/2006/main">
            <a:pPr algn="l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in a shared workspace</a:t>
            </a:r>
          </a:p>
        </p:txBody>
      </p:sp>
      <p:sp>
        <p:nvSpPr>
          <p:cNvPr id="22" name="Recognition">
            <a:extLst xmlns:a="http://schemas.openxmlformats.org/drawingml/2006/main">
              <a:ext uri="{FF2B5EF4-FFF2-40B4-BE49-F238E27FC236}">
                <a16:creationId xmlns:a16="http://schemas.microsoft.com/office/drawing/2014/main" id="{3290523E-62AF-48CA-92DD-54F32C6B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153025"/>
            <a:ext cx="27908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676A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676AD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676AD"/>
                </a:solidFill>
                <a:latin typeface="Segoe UI"/>
                <a:ea typeface="Segoe UI"/>
                <a:cs typeface="Segoe UI"/>
              </a:rPr>
              <a:t>Recognition</a:t>
            </a:r>
          </a:p>
        </p:txBody>
      </p:sp>
      <p:sp>
        <p:nvSpPr>
          <p:cNvPr id="23" name="Record feedback, credits&#10;and completion">
            <a:extLst xmlns:a="http://schemas.openxmlformats.org/drawingml/2006/main">
              <a:ext uri="{FF2B5EF4-FFF2-40B4-BE49-F238E27FC236}">
                <a16:creationId xmlns:a16="http://schemas.microsoft.com/office/drawing/2014/main" id="{2C7880DB-51F6-4730-A882-FF786CFF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619750"/>
            <a:ext cx="27908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Record feedback, credits</a:t>
            </a:r>
          </a:p>
          <a:p xmlns:a="http://schemas.openxmlformats.org/drawingml/2006/main">
            <a:pPr algn="l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and completion</a:t>
            </a:r>
          </a:p>
        </p:txBody>
      </p:sp>
    </p:spTree>
    <p:extLst>
      <p:ext uri="{BB962C8B-B14F-4D97-AF65-F5344CB8AC3E}">
        <p14:creationId xmlns:p14="http://schemas.microsoft.com/office/powerpoint/2010/main" val="6130663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4ABEE0-B0B1-4276-9F5B-8925F6134305}"/>
              </a:ext>
            </a:extLst>
          </p:cNvPr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8391525" y="5257800"/>
            <a:ext cx="9620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676AD"/>
            </a:solidFill>
            <a:tailEnd type="triangle" w="sm" len="sm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9DAEDE-A4D8-4278-96A4-9D472B37E132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5457825" y="5257800"/>
            <a:ext cx="9334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676AD"/>
            </a:solidFill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CE8D6C-A70D-401C-BF91-7C148DBEB87C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163050" y="2967038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676AD"/>
            </a:solidFill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9F4936-ADA7-401C-8380-370DFD846A0F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72300" y="2967038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676AD"/>
            </a:solidFill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A37CD7-3D73-4BCF-BF43-FE20D7B53237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781550" y="2967038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676AD"/>
            </a:solidFill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57D526-A305-41E2-A13D-14A1DA99CCDB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590800" y="2967038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676AD"/>
            </a:solidFill>
            <a:tailEnd type="triangle" w="sm" len="sm"/>
          </a:ln>
        </p:spPr>
      </p:cxn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356941-FDBF-4F45-BFAF-559FCF088C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62000"/>
            <a:ext cx="10515600" cy="66675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>
              <a:def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Introduction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38BCDD7-9BFD-485E-8460-5204763A9D5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11553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25B24B71-B6B8-4462-A428-CADBD292A5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63e91033a949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2421" y="0"/>
            <a:ext cx="1751379" cy="815788"/>
          </a:xfrm>
          <a:prstGeom xmlns:a="http://schemas.openxmlformats.org/drawingml/2006/main" prst="rect">
            <a:avLst/>
          </a:prstGeom>
        </p:spPr>
      </p:pic>
      <p:sp>
        <p:nvSpPr>
          <p:cNvPr id="9" name="Footer Placeholder 8">
            <a:extLst xmlns:a="http://schemas.openxmlformats.org/drawingml/2006/main">
              <a:ext uri="{FF2B5EF4-FFF2-40B4-BE49-F238E27FC236}">
                <a16:creationId xmlns:a16="http://schemas.microsoft.com/office/drawing/2014/main" id="{8836FB23-0C45-4752-9FD2-D0DAE436BC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Indian Institute of Information Technology Kottayam</a:t>
            </a:r>
          </a:p>
        </p:txBody>
      </p:sp>
      <p:sp>
        <p:nvSpPr>
          <p:cNvPr id="10" name="Slide Number Placeholder 9">
            <a:extLst xmlns:a="http://schemas.openxmlformats.org/drawingml/2006/main">
              <a:ext uri="{FF2B5EF4-FFF2-40B4-BE49-F238E27FC236}">
                <a16:creationId xmlns:a16="http://schemas.microsoft.com/office/drawing/2014/main" id="{F8574A4C-894B-4A28-9710-7F9775073F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rPr sz="1600"/>
              <a:t>3</a:t>
            </a:fld>
            <a:endParaRPr sz="1600"/>
          </a:p>
        </p:txBody>
      </p:sp>
      <p:sp>
        <p:nvSpPr>
          <p:cNvPr id="11" name="Mentorship workflow">
            <a:extLst xmlns:a="http://schemas.openxmlformats.org/drawingml/2006/main">
              <a:ext uri="{FF2B5EF4-FFF2-40B4-BE49-F238E27FC236}">
                <a16:creationId xmlns:a16="http://schemas.microsoft.com/office/drawing/2014/main" id="{FE64BD94-1B7E-446D-B73E-4566F984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Mentorship workflow</a:t>
            </a:r>
          </a:p>
        </p:txBody>
      </p:sp>
      <p:sp>
        <p:nvSpPr>
          <p:cNvPr id="12" name="Profile">
            <a:extLst xmlns:a="http://schemas.openxmlformats.org/drawingml/2006/main">
              <a:ext uri="{FF2B5EF4-FFF2-40B4-BE49-F238E27FC236}">
                <a16:creationId xmlns:a16="http://schemas.microsoft.com/office/drawing/2014/main" id="{5FF0D0E6-4C45-4A59-9027-3D65C2D0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752600" cy="8096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Profile</a:t>
            </a:r>
          </a:p>
        </p:txBody>
      </p:sp>
      <p:sp>
        <p:nvSpPr>
          <p:cNvPr id="13" name="Discover">
            <a:extLst xmlns:a="http://schemas.openxmlformats.org/drawingml/2006/main">
              <a:ext uri="{FF2B5EF4-FFF2-40B4-BE49-F238E27FC236}">
                <a16:creationId xmlns:a16="http://schemas.microsoft.com/office/drawing/2014/main" id="{12620CB7-A91A-48A9-92A1-9511B096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62225"/>
            <a:ext cx="1752600" cy="8096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Discover</a:t>
            </a:r>
          </a:p>
        </p:txBody>
      </p:sp>
      <p:sp>
        <p:nvSpPr>
          <p:cNvPr id="14" name="Request">
            <a:extLst xmlns:a="http://schemas.openxmlformats.org/drawingml/2006/main">
              <a:ext uri="{FF2B5EF4-FFF2-40B4-BE49-F238E27FC236}">
                <a16:creationId xmlns:a16="http://schemas.microsoft.com/office/drawing/2014/main" id="{3EC219C7-3F94-4152-A9E6-6249AC58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62225"/>
            <a:ext cx="1752600" cy="8096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Request</a:t>
            </a:r>
          </a:p>
        </p:txBody>
      </p:sp>
      <p:sp>
        <p:nvSpPr>
          <p:cNvPr id="15" name="Collaborate">
            <a:extLst xmlns:a="http://schemas.openxmlformats.org/drawingml/2006/main">
              <a:ext uri="{FF2B5EF4-FFF2-40B4-BE49-F238E27FC236}">
                <a16:creationId xmlns:a16="http://schemas.microsoft.com/office/drawing/2014/main" id="{53CF46DC-E734-478A-9024-E76329D1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62225"/>
            <a:ext cx="1752600" cy="8096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Collaborate</a:t>
            </a:r>
          </a:p>
        </p:txBody>
      </p:sp>
      <p:sp>
        <p:nvSpPr>
          <p:cNvPr id="16" name="Complete">
            <a:extLst xmlns:a="http://schemas.openxmlformats.org/drawingml/2006/main">
              <a:ext uri="{FF2B5EF4-FFF2-40B4-BE49-F238E27FC236}">
                <a16:creationId xmlns:a16="http://schemas.microsoft.com/office/drawing/2014/main" id="{44507567-719E-4CAD-A886-F2A388D1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62225"/>
            <a:ext cx="1752600" cy="8096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0F7F4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Complete</a:t>
            </a:r>
          </a:p>
        </p:txBody>
      </p:sp>
      <p:sp>
        <p:nvSpPr>
          <p:cNvPr id="21" name="Set skills, goals&#10;and availability">
            <a:extLst xmlns:a="http://schemas.openxmlformats.org/drawingml/2006/main">
              <a:ext uri="{FF2B5EF4-FFF2-40B4-BE49-F238E27FC236}">
                <a16:creationId xmlns:a16="http://schemas.microsoft.com/office/drawing/2014/main" id="{A520F49E-5180-4207-A7EC-02E8FF62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1875"/>
            <a:ext cx="1752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Set skills, goals</a:t>
            </a:r>
          </a:p>
          <a:p xmlns:a="http://schemas.openxmlformats.org/drawingml/2006/main">
            <a:pPr algn="ctr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and availability</a:t>
            </a:r>
          </a:p>
        </p:txBody>
      </p:sp>
      <p:sp>
        <p:nvSpPr>
          <p:cNvPr id="22" name="Compare ranked&#10;mentor profiles">
            <a:extLst xmlns:a="http://schemas.openxmlformats.org/drawingml/2006/main">
              <a:ext uri="{FF2B5EF4-FFF2-40B4-BE49-F238E27FC236}">
                <a16:creationId xmlns:a16="http://schemas.microsoft.com/office/drawing/2014/main" id="{D00F036E-0441-49DA-B98E-C07FFF97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71875"/>
            <a:ext cx="1752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Compare ranked</a:t>
            </a:r>
          </a:p>
          <a:p xmlns:a="http://schemas.openxmlformats.org/drawingml/2006/main">
            <a:pPr algn="ctr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mentor profiles</a:t>
            </a:r>
          </a:p>
        </p:txBody>
      </p:sp>
      <p:sp>
        <p:nvSpPr>
          <p:cNvPr id="23" name="Submit goals for&#10;mentor review">
            <a:extLst xmlns:a="http://schemas.openxmlformats.org/drawingml/2006/main">
              <a:ext uri="{FF2B5EF4-FFF2-40B4-BE49-F238E27FC236}">
                <a16:creationId xmlns:a16="http://schemas.microsoft.com/office/drawing/2014/main" id="{FDFB05A5-7FBA-4700-B72C-59D8A8A1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71875"/>
            <a:ext cx="1752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Submit goals for</a:t>
            </a:r>
          </a:p>
          <a:p xmlns:a="http://schemas.openxmlformats.org/drawingml/2006/main">
            <a:pPr algn="ctr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mentor review</a:t>
            </a:r>
          </a:p>
        </p:txBody>
      </p:sp>
      <p:sp>
        <p:nvSpPr>
          <p:cNvPr id="24" name="Log sessions,&#10;resources and tasks">
            <a:extLst xmlns:a="http://schemas.openxmlformats.org/drawingml/2006/main">
              <a:ext uri="{FF2B5EF4-FFF2-40B4-BE49-F238E27FC236}">
                <a16:creationId xmlns:a16="http://schemas.microsoft.com/office/drawing/2014/main" id="{3217E968-1DF2-4C54-9F95-39EA6CE0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71875"/>
            <a:ext cx="1752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Log sessions,</a:t>
            </a:r>
          </a:p>
          <a:p xmlns:a="http://schemas.openxmlformats.org/drawingml/2006/main">
            <a:pPr algn="ctr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resources and tasks</a:t>
            </a:r>
          </a:p>
        </p:txBody>
      </p:sp>
      <p:sp>
        <p:nvSpPr>
          <p:cNvPr id="25" name="Receive feedback&#10;and a certificate">
            <a:extLst xmlns:a="http://schemas.openxmlformats.org/drawingml/2006/main">
              <a:ext uri="{FF2B5EF4-FFF2-40B4-BE49-F238E27FC236}">
                <a16:creationId xmlns:a16="http://schemas.microsoft.com/office/drawing/2014/main" id="{06E5682C-EA51-4FD8-AEEC-96076525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571875"/>
            <a:ext cx="1752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Receive feedback</a:t>
            </a:r>
          </a:p>
          <a:p xmlns:a="http://schemas.openxmlformats.org/drawingml/2006/main">
            <a:pPr algn="ctr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and a certificate</a:t>
            </a:r>
          </a:p>
        </p:txBody>
      </p:sp>
      <p:sp>
        <p:nvSpPr>
          <p:cNvPr id="26" name="Request states">
            <a:extLst xmlns:a="http://schemas.openxmlformats.org/drawingml/2006/main">
              <a:ext uri="{FF2B5EF4-FFF2-40B4-BE49-F238E27FC236}">
                <a16:creationId xmlns:a16="http://schemas.microsoft.com/office/drawing/2014/main" id="{2F356DF3-5BEF-4012-BFAB-ED9745CD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81575"/>
            <a:ext cx="2409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Request states</a:t>
            </a:r>
          </a:p>
        </p:txBody>
      </p:sp>
      <p:sp>
        <p:nvSpPr>
          <p:cNvPr id="27" name="Pending">
            <a:extLst xmlns:a="http://schemas.openxmlformats.org/drawingml/2006/main">
              <a:ext uri="{FF2B5EF4-FFF2-40B4-BE49-F238E27FC236}">
                <a16:creationId xmlns:a16="http://schemas.microsoft.com/office/drawing/2014/main" id="{336D6448-141F-47C7-B5E3-9CB1D810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933950"/>
            <a:ext cx="200025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Pending</a:t>
            </a:r>
          </a:p>
        </p:txBody>
      </p:sp>
      <p:sp>
        <p:nvSpPr>
          <p:cNvPr id="28" name="Active">
            <a:extLst xmlns:a="http://schemas.openxmlformats.org/drawingml/2006/main">
              <a:ext uri="{FF2B5EF4-FFF2-40B4-BE49-F238E27FC236}">
                <a16:creationId xmlns:a16="http://schemas.microsoft.com/office/drawing/2014/main" id="{46C5F3A9-707D-4C5E-8B9F-A820CD4C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933950"/>
            <a:ext cx="200025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0F7F4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Active</a:t>
            </a:r>
          </a:p>
        </p:txBody>
      </p:sp>
      <p:sp>
        <p:nvSpPr>
          <p:cNvPr id="29" name="Completed">
            <a:extLst xmlns:a="http://schemas.openxmlformats.org/drawingml/2006/main">
              <a:ext uri="{FF2B5EF4-FFF2-40B4-BE49-F238E27FC236}">
                <a16:creationId xmlns:a16="http://schemas.microsoft.com/office/drawing/2014/main" id="{0C335BF3-8764-4132-A253-DB221B24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33950"/>
            <a:ext cx="200025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0F7F4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Completed</a:t>
            </a:r>
          </a:p>
        </p:txBody>
      </p:sp>
      <p:sp>
        <p:nvSpPr>
          <p:cNvPr id="32" name="Rejection or cancellation refunds the request fee.">
            <a:extLst xmlns:a="http://schemas.openxmlformats.org/drawingml/2006/main">
              <a:ext uri="{FF2B5EF4-FFF2-40B4-BE49-F238E27FC236}">
                <a16:creationId xmlns:a16="http://schemas.microsoft.com/office/drawing/2014/main" id="{2F4263EF-E28B-4384-BE3B-8C7DE1BE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5819775"/>
            <a:ext cx="78962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Rejection or cancellation refunds the request fee.</a:t>
            </a:r>
          </a:p>
        </p:txBody>
      </p:sp>
    </p:spTree>
    <p:extLst>
      <p:ext uri="{BB962C8B-B14F-4D97-AF65-F5344CB8AC3E}">
        <p14:creationId xmlns:p14="http://schemas.microsoft.com/office/powerpoint/2010/main" val="6130663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28E115-A437-4218-B635-834ABD22C9AB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4848225" y="5619750"/>
            <a:ext cx="15430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676AD"/>
            </a:solidFill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5F0176-9185-411E-8DE7-B60179DD7B9F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4848225" y="4810125"/>
            <a:ext cx="15430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676AD"/>
            </a:solidFill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2402B2-B7F7-4BF1-87D7-D290F8D86861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848225" y="4000500"/>
            <a:ext cx="15430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676AD"/>
            </a:solidFill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D3D9F6-E36F-4718-B3A5-032571D0BC50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848225" y="3190875"/>
            <a:ext cx="15430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676AD"/>
            </a:solidFill>
            <a:tailEnd type="triangle" w="sm" len="sm"/>
          </a:ln>
        </p:spPr>
      </p:cxn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3C3027-BE8D-4E95-A53B-F4AB14C42E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62000"/>
            <a:ext cx="10515600" cy="66675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>
              <a:def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2. Problem statement &amp; Objectives</a:t>
            </a:r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92BCA144-70E1-40C7-A0FE-3A7910EFB9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46d6efa10a44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2421" y="0"/>
            <a:ext cx="1751379" cy="815788"/>
          </a:xfrm>
          <a:prstGeom xmlns:a="http://schemas.openxmlformats.org/drawingml/2006/main" prst="rect">
            <a:avLst/>
          </a:prstGeom>
        </p:spPr>
      </p:pic>
      <p:sp>
        <p:nvSpPr>
          <p:cNvPr id="9" name="Footer Placeholder 8">
            <a:extLst xmlns:a="http://schemas.openxmlformats.org/drawingml/2006/main">
              <a:ext uri="{FF2B5EF4-FFF2-40B4-BE49-F238E27FC236}">
                <a16:creationId xmlns:a16="http://schemas.microsoft.com/office/drawing/2014/main" id="{975F68D2-0665-4F9C-878B-9FA358A913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Indian Institute of Information Technology Kottayam</a:t>
            </a:r>
          </a:p>
        </p:txBody>
      </p:sp>
      <p:sp>
        <p:nvSpPr>
          <p:cNvPr id="10" name="Slide Number Placeholder 9">
            <a:extLst xmlns:a="http://schemas.openxmlformats.org/drawingml/2006/main">
              <a:ext uri="{FF2B5EF4-FFF2-40B4-BE49-F238E27FC236}">
                <a16:creationId xmlns:a16="http://schemas.microsoft.com/office/drawing/2014/main" id="{B2BB7143-02E9-418D-9107-F42A2583C9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rPr sz="1600"/>
              <a:t>4</a:t>
            </a:fld>
            <a:endParaRPr sz="1600"/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FA89230-3313-4F7D-BC7D-A21C959BE6F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Problems and the corresponding objectives">
            <a:extLst xmlns:a="http://schemas.openxmlformats.org/drawingml/2006/main">
              <a:ext uri="{FF2B5EF4-FFF2-40B4-BE49-F238E27FC236}">
                <a16:creationId xmlns:a16="http://schemas.microsoft.com/office/drawing/2014/main" id="{437ECB84-8DBD-454A-881B-72426B62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Problems and the corresponding objectives</a:t>
            </a:r>
          </a:p>
        </p:txBody>
      </p:sp>
      <p:sp>
        <p:nvSpPr>
          <p:cNvPr id="12" name="Problem">
            <a:extLst xmlns:a="http://schemas.openxmlformats.org/drawingml/2006/main">
              <a:ext uri="{FF2B5EF4-FFF2-40B4-BE49-F238E27FC236}">
                <a16:creationId xmlns:a16="http://schemas.microsoft.com/office/drawing/2014/main" id="{B11E4813-29A9-40E6-8C23-3B825690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81225"/>
            <a:ext cx="4010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Problem</a:t>
            </a:r>
          </a:p>
        </p:txBody>
      </p:sp>
      <p:sp>
        <p:nvSpPr>
          <p:cNvPr id="13" name="Objective">
            <a:extLst xmlns:a="http://schemas.openxmlformats.org/drawingml/2006/main">
              <a:ext uri="{FF2B5EF4-FFF2-40B4-BE49-F238E27FC236}">
                <a16:creationId xmlns:a16="http://schemas.microsoft.com/office/drawing/2014/main" id="{959E665C-A396-470F-ADEC-2A9AC639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81225"/>
            <a:ext cx="4962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Objective</a:t>
            </a:r>
          </a:p>
        </p:txBody>
      </p:sp>
      <p:sp>
        <p:nvSpPr>
          <p:cNvPr id="14" name="Finding a suitable mentor">
            <a:extLst xmlns:a="http://schemas.openxmlformats.org/drawingml/2006/main">
              <a:ext uri="{FF2B5EF4-FFF2-40B4-BE49-F238E27FC236}">
                <a16:creationId xmlns:a16="http://schemas.microsoft.com/office/drawing/2014/main" id="{44B8E5AF-4269-42AA-9D9B-2DDAB9D4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86075"/>
            <a:ext cx="4010025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Finding a suitable mentor</a:t>
            </a:r>
          </a:p>
        </p:txBody>
      </p:sp>
      <p:sp>
        <p:nvSpPr>
          <p:cNvPr id="15" name="Rank candidates by skills, availability and experience">
            <a:extLst xmlns:a="http://schemas.openxmlformats.org/drawingml/2006/main">
              <a:ext uri="{FF2B5EF4-FFF2-40B4-BE49-F238E27FC236}">
                <a16:creationId xmlns:a16="http://schemas.microsoft.com/office/drawing/2014/main" id="{F7018B64-49A1-42CA-9B87-73031307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857500"/>
            <a:ext cx="496252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0F7F4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Rank candidates by skills, availability</a:t>
            </a:r>
          </a:p>
          <a:p xmlns:a="http://schemas.openxmlformats.org/drawingml/2006/main">
            <a:pPr algn="ctr">
              <a:defRPr sz="18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and experience</a:t>
            </a:r>
          </a:p>
        </p:txBody>
      </p:sp>
      <p:sp>
        <p:nvSpPr>
          <p:cNvPr id="17" name="Keeping mentorship organised">
            <a:extLst xmlns:a="http://schemas.openxmlformats.org/drawingml/2006/main">
              <a:ext uri="{FF2B5EF4-FFF2-40B4-BE49-F238E27FC236}">
                <a16:creationId xmlns:a16="http://schemas.microsoft.com/office/drawing/2014/main" id="{126BEF9C-9580-482D-B894-974D2584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4010025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Keeping mentorship organised</a:t>
            </a:r>
          </a:p>
        </p:txBody>
      </p:sp>
      <p:sp>
        <p:nvSpPr>
          <p:cNvPr id="18" name="Give each pair sessions, milestones and shared learning resources">
            <a:extLst xmlns:a="http://schemas.openxmlformats.org/drawingml/2006/main">
              <a:ext uri="{FF2B5EF4-FFF2-40B4-BE49-F238E27FC236}">
                <a16:creationId xmlns:a16="http://schemas.microsoft.com/office/drawing/2014/main" id="{A08353A7-18FC-4853-A61E-EF2CED00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667125"/>
            <a:ext cx="496252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0F7F4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Give each pair sessions, milestones</a:t>
            </a:r>
          </a:p>
          <a:p xmlns:a="http://schemas.openxmlformats.org/drawingml/2006/main">
            <a:pPr algn="ctr">
              <a:defRPr sz="18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and shared learning resources</a:t>
            </a:r>
          </a:p>
        </p:txBody>
      </p:sp>
      <p:sp>
        <p:nvSpPr>
          <p:cNvPr id="20" name="Recognising participation">
            <a:extLst xmlns:a="http://schemas.openxmlformats.org/drawingml/2006/main">
              <a:ext uri="{FF2B5EF4-FFF2-40B4-BE49-F238E27FC236}">
                <a16:creationId xmlns:a16="http://schemas.microsoft.com/office/drawing/2014/main" id="{D9AAE904-3451-4061-806F-73C31193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05325"/>
            <a:ext cx="4010025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Recognising participation</a:t>
            </a:r>
          </a:p>
        </p:txBody>
      </p:sp>
      <p:sp>
        <p:nvSpPr>
          <p:cNvPr id="21" name="Record credits, reviews and achievement badges">
            <a:extLst xmlns:a="http://schemas.openxmlformats.org/drawingml/2006/main">
              <a:ext uri="{FF2B5EF4-FFF2-40B4-BE49-F238E27FC236}">
                <a16:creationId xmlns:a16="http://schemas.microsoft.com/office/drawing/2014/main" id="{B704BADA-AAAB-479F-84AB-7C9842AD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476750"/>
            <a:ext cx="496252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0F7F4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Record credits, reviews and</a:t>
            </a:r>
          </a:p>
          <a:p xmlns:a="http://schemas.openxmlformats.org/drawingml/2006/main">
            <a:pPr algn="ctr">
              <a:defRPr sz="18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achievement badges</a:t>
            </a:r>
          </a:p>
        </p:txBody>
      </p:sp>
      <p:sp>
        <p:nvSpPr>
          <p:cNvPr id="23" name="Showing completion">
            <a:extLst xmlns:a="http://schemas.openxmlformats.org/drawingml/2006/main">
              <a:ext uri="{FF2B5EF4-FFF2-40B4-BE49-F238E27FC236}">
                <a16:creationId xmlns:a16="http://schemas.microsoft.com/office/drawing/2014/main" id="{A9BB3275-6F51-4E53-B303-9310B21A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4010025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Showing completion</a:t>
            </a:r>
          </a:p>
        </p:txBody>
      </p:sp>
      <p:sp>
        <p:nvSpPr>
          <p:cNvPr id="24" name="Unlock a printable certificate when mentorship is completed">
            <a:extLst xmlns:a="http://schemas.openxmlformats.org/drawingml/2006/main">
              <a:ext uri="{FF2B5EF4-FFF2-40B4-BE49-F238E27FC236}">
                <a16:creationId xmlns:a16="http://schemas.microsoft.com/office/drawing/2014/main" id="{8E4487D4-7EEA-42D7-98F5-AA9527DA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286375"/>
            <a:ext cx="496252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0F7F4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Unlock a printable certificate</a:t>
            </a:r>
          </a:p>
          <a:p xmlns:a="http://schemas.openxmlformats.org/drawingml/2006/main">
            <a:pPr algn="ctr">
              <a:defRPr sz="18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when mentorship is completed</a:t>
            </a:r>
          </a:p>
        </p:txBody>
      </p:sp>
    </p:spTree>
    <p:extLst>
      <p:ext uri="{BB962C8B-B14F-4D97-AF65-F5344CB8AC3E}">
        <p14:creationId xmlns:p14="http://schemas.microsoft.com/office/powerpoint/2010/main" val="7221040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53019EA-A446-495B-B438-97C69D0576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62000"/>
            <a:ext cx="10515600" cy="66675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>
              <a:def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3. Requirements ( Functional &amp; Non functional)</a:t>
            </a:r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F4A40A5B-6467-4978-A86C-05313D06C2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24017caae43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2421" y="0"/>
            <a:ext cx="1751379" cy="815788"/>
          </a:xfrm>
          <a:prstGeom xmlns:a="http://schemas.openxmlformats.org/drawingml/2006/main" prst="rect">
            <a:avLst/>
          </a:prstGeom>
        </p:spPr>
      </p:pic>
      <p:sp>
        <p:nvSpPr>
          <p:cNvPr id="9" name="Footer Placeholder 8">
            <a:extLst xmlns:a="http://schemas.openxmlformats.org/drawingml/2006/main">
              <a:ext uri="{FF2B5EF4-FFF2-40B4-BE49-F238E27FC236}">
                <a16:creationId xmlns:a16="http://schemas.microsoft.com/office/drawing/2014/main" id="{CF5E86AB-52F2-475D-B06A-30DB234B76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Indian Institute of Information Technology Kottayam</a:t>
            </a:r>
          </a:p>
        </p:txBody>
      </p:sp>
      <p:sp>
        <p:nvSpPr>
          <p:cNvPr id="10" name="Slide Number Placeholder 9">
            <a:extLst xmlns:a="http://schemas.openxmlformats.org/drawingml/2006/main">
              <a:ext uri="{FF2B5EF4-FFF2-40B4-BE49-F238E27FC236}">
                <a16:creationId xmlns:a16="http://schemas.microsoft.com/office/drawing/2014/main" id="{721E571B-8A8C-4FE9-B12C-EFFE2E7A84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rPr sz="1600"/>
              <a:t>5</a:t>
            </a:fld>
            <a:endParaRPr sz="1600"/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2213B9A-9C11-45C7-9314-5DE29841885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Functional requirements">
            <a:extLst xmlns:a="http://schemas.openxmlformats.org/drawingml/2006/main">
              <a:ext uri="{FF2B5EF4-FFF2-40B4-BE49-F238E27FC236}">
                <a16:creationId xmlns:a16="http://schemas.microsoft.com/office/drawing/2014/main" id="{B8C4BDA2-CC7F-48F3-A103-A869B8DD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Functional requirements</a:t>
            </a:r>
          </a:p>
        </p:txBody>
      </p:sp>
      <p:graphicFrame>
        <p:nvGraphicFrame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866023-A130-462D-BBB7-3C0D055ED18D}"/>
              </a:ext>
            </a:extLst>
          </p:cNvPr>
          <p:cNvGraphicFramePr/>
          <p:nvPr/>
        </p:nvGraphicFramePr>
        <p:xfrm>
          <a:off xmlns:a="http://schemas.openxmlformats.org/drawingml/2006/main" x="838200" y="2247900"/>
          <a:ext xmlns:a="http://schemas.openxmlformats.org/drawingml/2006/main" cx="10515600" cy="3609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7515225"/>
              </a:tblGrid>
              <a:tr h="515711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Capability</a:t>
                      </a:r>
                    </a:p>
                  </a:txBody>
                  <a:tcPr marL="91440" marR="91440" marT="45720" marB="45720" anchor="ctr">
                    <a:solidFill>
                      <a:srgbClr val="213B5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Implemented behaviour</a:t>
                      </a:r>
                    </a:p>
                  </a:txBody>
                  <a:tcPr marL="91440" marR="91440" marT="45720" marB="45720" anchor="ctr">
                    <a:solidFill>
                      <a:srgbClr val="213B57"/>
                    </a:solidFill>
                  </a:tcPr>
                </a:tc>
              </a:tr>
              <a:tr h="515711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Identity and roles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Register, sign in and activate Mentor or Learner roles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5711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Mentor discovery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Search and filter profiles, then rank compatibility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</a:tr>
              <a:tr h="515711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Mentorship workspace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Sessions, milestones, resources and discussions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5711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Participation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Credits, ratings, badges and the leaderboard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</a:tr>
              <a:tr h="515711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Communication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In-app notifications with read state and destination links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5711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Completion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Mark the mentorship complete and print a certificate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13" name="Learners and mentors can both contribute to the sh">
            <a:extLst xmlns:a="http://schemas.openxmlformats.org/drawingml/2006/main">
              <a:ext uri="{FF2B5EF4-FFF2-40B4-BE49-F238E27FC236}">
                <a16:creationId xmlns:a16="http://schemas.microsoft.com/office/drawing/2014/main" id="{F76D050C-DE30-4F00-9D08-A62E3A0D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19800"/>
            <a:ext cx="1051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Learners and mentors can both contribute to the shared workspace.</a:t>
            </a:r>
          </a:p>
        </p:txBody>
      </p:sp>
    </p:spTree>
    <p:extLst>
      <p:ext uri="{BB962C8B-B14F-4D97-AF65-F5344CB8AC3E}">
        <p14:creationId xmlns:p14="http://schemas.microsoft.com/office/powerpoint/2010/main" val="33473403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4BEC0F-5F51-40F3-9875-BC9D4AFA948E}"/>
              </a:ext>
            </a:extLst>
          </p:cNvPr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 flipH="1">
            <a:off x="8948738" y="3933825"/>
            <a:ext cx="1338263" cy="6000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2860">
            <a:solidFill>
              <a:srgbClr val="2676AD"/>
            </a:solidFill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2C4657-D5F6-447F-84C1-72DA76D7B29B}"/>
              </a:ext>
            </a:extLst>
          </p:cNvPr>
          <p:cNvCxnSpPr>
            <a:stCxn xmlns:a="http://schemas.openxmlformats.org/drawingml/2006/main" id="21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7610475" y="3933825"/>
            <a:ext cx="1338263" cy="6000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2860">
            <a:solidFill>
              <a:srgbClr val="138B5D"/>
            </a:solidFill>
            <a:tailEnd type="triangle" w="sm" len="sm"/>
          </a:ln>
        </p:spPr>
      </p:cxn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53019EA-A446-495B-B438-97C69D0576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62000"/>
            <a:ext cx="10515600" cy="66675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>
              <a:def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3. Requirements ( Functional &amp; Non functional)</a:t>
            </a:r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F4A40A5B-6467-4978-A86C-05313D06C2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e31d9178774b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2421" y="0"/>
            <a:ext cx="1751379" cy="815788"/>
          </a:xfrm>
          <a:prstGeom xmlns:a="http://schemas.openxmlformats.org/drawingml/2006/main" prst="rect">
            <a:avLst/>
          </a:prstGeom>
        </p:spPr>
      </p:pic>
      <p:sp>
        <p:nvSpPr>
          <p:cNvPr id="9" name="Footer Placeholder 8">
            <a:extLst xmlns:a="http://schemas.openxmlformats.org/drawingml/2006/main">
              <a:ext uri="{FF2B5EF4-FFF2-40B4-BE49-F238E27FC236}">
                <a16:creationId xmlns:a16="http://schemas.microsoft.com/office/drawing/2014/main" id="{CF5E86AB-52F2-475D-B06A-30DB234B76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Indian Institute of Information Technology Kottayam</a:t>
            </a:r>
          </a:p>
        </p:txBody>
      </p:sp>
      <p:sp>
        <p:nvSpPr>
          <p:cNvPr id="10" name="Slide Number Placeholder 9">
            <a:extLst xmlns:a="http://schemas.openxmlformats.org/drawingml/2006/main">
              <a:ext uri="{FF2B5EF4-FFF2-40B4-BE49-F238E27FC236}">
                <a16:creationId xmlns:a16="http://schemas.microsoft.com/office/drawing/2014/main" id="{721E571B-8A8C-4FE9-B12C-EFFE2E7A84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rPr sz="1600"/>
              <a:t>6</a:t>
            </a:fld>
            <a:endParaRPr sz="1600"/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2213B9A-9C11-45C7-9314-5DE29841885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Matching and progress calculations">
            <a:extLst xmlns:a="http://schemas.openxmlformats.org/drawingml/2006/main">
              <a:ext uri="{FF2B5EF4-FFF2-40B4-BE49-F238E27FC236}">
                <a16:creationId xmlns:a16="http://schemas.microsoft.com/office/drawing/2014/main" id="{63CD65C7-D3F2-4222-BA2B-7F08CCD6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Matching and progress calculations</a:t>
            </a:r>
          </a:p>
        </p:txBody>
      </p:sp>
      <p:sp>
        <p:nvSpPr>
          <p:cNvPr id="12" name="Compatibility score">
            <a:extLst xmlns:a="http://schemas.openxmlformats.org/drawingml/2006/main">
              <a:ext uri="{FF2B5EF4-FFF2-40B4-BE49-F238E27FC236}">
                <a16:creationId xmlns:a16="http://schemas.microsoft.com/office/drawing/2014/main" id="{2083D3E6-E4C0-4D47-9AA2-47C64216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481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Compatibility score</a:t>
            </a:r>
          </a:p>
        </p:txBody>
      </p:sp>
      <p:sp>
        <p:nvSpPr>
          <p:cNvPr id="13" name="Learning progress">
            <a:extLst xmlns:a="http://schemas.openxmlformats.org/drawingml/2006/main">
              <a:ext uri="{FF2B5EF4-FFF2-40B4-BE49-F238E27FC236}">
                <a16:creationId xmlns:a16="http://schemas.microsoft.com/office/drawing/2014/main" id="{5CFD8234-742B-4227-882A-75B655D8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190750"/>
            <a:ext cx="481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Learning progress</a:t>
            </a:r>
          </a:p>
        </p:txBody>
      </p:sp>
      <p:sp>
        <p:nvSpPr>
          <p:cNvPr id="14" name="50%">
            <a:extLst xmlns:a="http://schemas.openxmlformats.org/drawingml/2006/main">
              <a:ext uri="{FF2B5EF4-FFF2-40B4-BE49-F238E27FC236}">
                <a16:creationId xmlns:a16="http://schemas.microsoft.com/office/drawing/2014/main" id="{6A744CEB-D541-41F6-A87D-9A460851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2892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50%</a:t>
            </a:r>
          </a:p>
        </p:txBody>
      </p:sp>
      <p:sp>
        <p:nvSpPr>
          <p:cNvPr id="15" name="Skill overlap">
            <a:extLst xmlns:a="http://schemas.openxmlformats.org/drawingml/2006/main">
              <a:ext uri="{FF2B5EF4-FFF2-40B4-BE49-F238E27FC236}">
                <a16:creationId xmlns:a16="http://schemas.microsoft.com/office/drawing/2014/main" id="{1CAE5DDA-2EF2-4A14-9C94-EEB478B4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52750"/>
            <a:ext cx="3076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Skill overlap</a:t>
            </a:r>
          </a:p>
        </p:txBody>
      </p:sp>
      <p:sp>
        <p:nvSpPr>
          <p:cNvPr id="16" name="30%">
            <a:extLst xmlns:a="http://schemas.openxmlformats.org/drawingml/2006/main">
              <a:ext uri="{FF2B5EF4-FFF2-40B4-BE49-F238E27FC236}">
                <a16:creationId xmlns:a16="http://schemas.microsoft.com/office/drawing/2014/main" id="{473B78C0-8C32-44DC-B7CF-2D06A925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676A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676AD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2676AD"/>
                </a:solidFill>
                <a:latin typeface="Segoe UI"/>
                <a:ea typeface="Segoe UI"/>
                <a:cs typeface="Segoe UI"/>
              </a:rPr>
              <a:t>30%</a:t>
            </a:r>
          </a:p>
        </p:txBody>
      </p:sp>
      <p:sp>
        <p:nvSpPr>
          <p:cNvPr id="17" name="Availability">
            <a:extLst xmlns:a="http://schemas.openxmlformats.org/drawingml/2006/main">
              <a:ext uri="{FF2B5EF4-FFF2-40B4-BE49-F238E27FC236}">
                <a16:creationId xmlns:a16="http://schemas.microsoft.com/office/drawing/2014/main" id="{3C030FDE-C334-46E6-8E97-7A55550D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05225"/>
            <a:ext cx="3076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Availability</a:t>
            </a:r>
          </a:p>
        </p:txBody>
      </p:sp>
      <p:sp>
        <p:nvSpPr>
          <p:cNvPr id="18" name="20%">
            <a:extLst xmlns:a="http://schemas.openxmlformats.org/drawingml/2006/main">
              <a:ext uri="{FF2B5EF4-FFF2-40B4-BE49-F238E27FC236}">
                <a16:creationId xmlns:a16="http://schemas.microsoft.com/office/drawing/2014/main" id="{2E88EA16-A214-491E-8BCA-623BD326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33875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20%</a:t>
            </a:r>
          </a:p>
        </p:txBody>
      </p:sp>
      <p:sp>
        <p:nvSpPr>
          <p:cNvPr id="19" name="Experience">
            <a:extLst xmlns:a="http://schemas.openxmlformats.org/drawingml/2006/main">
              <a:ext uri="{FF2B5EF4-FFF2-40B4-BE49-F238E27FC236}">
                <a16:creationId xmlns:a16="http://schemas.microsoft.com/office/drawing/2014/main" id="{613A12CE-7EE1-4F77-9567-97656F5A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57700"/>
            <a:ext cx="3076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Experience</a:t>
            </a:r>
          </a:p>
        </p:txBody>
      </p:sp>
      <p:sp>
        <p:nvSpPr>
          <p:cNvPr id="20" name="2 of 4 skills, a flexible schedule and&#10;a mentor on">
            <a:extLst xmlns:a="http://schemas.openxmlformats.org/drawingml/2006/main">
              <a:ext uri="{FF2B5EF4-FFF2-40B4-BE49-F238E27FC236}">
                <a16:creationId xmlns:a16="http://schemas.microsoft.com/office/drawing/2014/main" id="{2394BC95-AC29-4CE8-990F-F093AE7B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4810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2 of 4 skills, a flexible schedule and</a:t>
            </a:r>
          </a:p>
          <a:p xmlns:a="http://schemas.openxmlformats.org/drawingml/2006/main">
            <a:pPr algn="l">
              <a:defRPr sz="180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a mentor one level ahead gives 72%.</a:t>
            </a:r>
          </a:p>
        </p:txBody>
      </p:sp>
      <p:sp>
        <p:nvSpPr>
          <p:cNvPr id="21" name="Milestones 70% weight">
            <a:extLst xmlns:a="http://schemas.openxmlformats.org/drawingml/2006/main">
              <a:ext uri="{FF2B5EF4-FFF2-40B4-BE49-F238E27FC236}">
                <a16:creationId xmlns:a16="http://schemas.microsoft.com/office/drawing/2014/main" id="{1F33BA45-CBF0-417A-A72D-BBEF1F8E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800350"/>
            <a:ext cx="2133600" cy="1133475"/>
          </a:xfrm>
          <a:prstGeom xmlns:a="http://schemas.openxmlformats.org/drawingml/2006/main" prst="roundRect">
            <a:avLst>
              <a:gd name="adj" fmla="val 8403"/>
            </a:avLst>
          </a:prstGeom>
          <a:solidFill xmlns:a="http://schemas.openxmlformats.org/drawingml/2006/main">
            <a:srgbClr val="F0F7F4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Milestones</a:t>
            </a:r>
          </a:p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70% weight</a:t>
            </a:r>
          </a:p>
        </p:txBody>
      </p:sp>
      <p:sp>
        <p:nvSpPr>
          <p:cNvPr id="22" name="Sessions 30% weight">
            <a:extLst xmlns:a="http://schemas.openxmlformats.org/drawingml/2006/main">
              <a:ext uri="{FF2B5EF4-FFF2-40B4-BE49-F238E27FC236}">
                <a16:creationId xmlns:a16="http://schemas.microsoft.com/office/drawing/2014/main" id="{7EA87D33-F5FB-49FB-9B31-372DE707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00350"/>
            <a:ext cx="2133600" cy="1133475"/>
          </a:xfrm>
          <a:prstGeom xmlns:a="http://schemas.openxmlformats.org/drawingml/2006/main" prst="roundRect">
            <a:avLst>
              <a:gd name="adj" fmla="val 8403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Sessions</a:t>
            </a:r>
          </a:p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30% weight</a:t>
            </a:r>
          </a:p>
        </p:txBody>
      </p:sp>
      <p:sp>
        <p:nvSpPr>
          <p:cNvPr id="23" name="Weighted progress">
            <a:extLst xmlns:a="http://schemas.openxmlformats.org/drawingml/2006/main">
              <a:ext uri="{FF2B5EF4-FFF2-40B4-BE49-F238E27FC236}">
                <a16:creationId xmlns:a16="http://schemas.microsoft.com/office/drawing/2014/main" id="{EA918B5D-2160-4C95-B1DA-557B8B10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533900"/>
            <a:ext cx="27527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Weighted progress</a:t>
            </a:r>
          </a:p>
        </p:txBody>
      </p:sp>
      <p:sp>
        <p:nvSpPr>
          <p:cNvPr id="26" name="Example: 2 of 3 milestones and 1 of 2 sessions&#10;70 ">
            <a:extLst xmlns:a="http://schemas.openxmlformats.org/drawingml/2006/main">
              <a:ext uri="{FF2B5EF4-FFF2-40B4-BE49-F238E27FC236}">
                <a16:creationId xmlns:a16="http://schemas.microsoft.com/office/drawing/2014/main" id="{4839350A-7FC0-4B02-A885-61BBB3F0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438775"/>
            <a:ext cx="4810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Example: 2 of 3 milestones and 1 of 2 sessions</a:t>
            </a:r>
          </a:p>
          <a:p xmlns:a="http://schemas.openxmlformats.org/drawingml/2006/main">
            <a:pPr algn="l">
              <a:defRPr sz="180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70 × (2/3) + 30 × (1/2) = 61.7%</a:t>
            </a:r>
          </a:p>
        </p:txBody>
      </p:sp>
    </p:spTree>
    <p:extLst>
      <p:ext uri="{BB962C8B-B14F-4D97-AF65-F5344CB8AC3E}">
        <p14:creationId xmlns:p14="http://schemas.microsoft.com/office/powerpoint/2010/main" val="3347340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53019EA-A446-495B-B438-97C69D0576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62000"/>
            <a:ext cx="10515600" cy="66675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>
              <a:def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3. Requirements ( Functional &amp; Non functional)</a:t>
            </a:r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F4A40A5B-6467-4978-A86C-05313D06C2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36e742a72f47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2421" y="0"/>
            <a:ext cx="1751379" cy="815788"/>
          </a:xfrm>
          <a:prstGeom xmlns:a="http://schemas.openxmlformats.org/drawingml/2006/main" prst="rect">
            <a:avLst/>
          </a:prstGeom>
        </p:spPr>
      </p:pic>
      <p:sp>
        <p:nvSpPr>
          <p:cNvPr id="9" name="Footer Placeholder 8">
            <a:extLst xmlns:a="http://schemas.openxmlformats.org/drawingml/2006/main">
              <a:ext uri="{FF2B5EF4-FFF2-40B4-BE49-F238E27FC236}">
                <a16:creationId xmlns:a16="http://schemas.microsoft.com/office/drawing/2014/main" id="{CF5E86AB-52F2-475D-B06A-30DB234B76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Indian Institute of Information Technology Kottayam</a:t>
            </a:r>
          </a:p>
        </p:txBody>
      </p:sp>
      <p:sp>
        <p:nvSpPr>
          <p:cNvPr id="10" name="Slide Number Placeholder 9">
            <a:extLst xmlns:a="http://schemas.openxmlformats.org/drawingml/2006/main">
              <a:ext uri="{FF2B5EF4-FFF2-40B4-BE49-F238E27FC236}">
                <a16:creationId xmlns:a16="http://schemas.microsoft.com/office/drawing/2014/main" id="{721E571B-8A8C-4FE9-B12C-EFFE2E7A84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rPr sz="1600"/>
              <a:t>7</a:t>
            </a:fld>
            <a:endParaRPr sz="1600"/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2213B9A-9C11-45C7-9314-5DE29841885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Credits, achievements and ranking">
            <a:extLst xmlns:a="http://schemas.openxmlformats.org/drawingml/2006/main">
              <a:ext uri="{FF2B5EF4-FFF2-40B4-BE49-F238E27FC236}">
                <a16:creationId xmlns:a16="http://schemas.microsoft.com/office/drawing/2014/main" id="{5662B94B-576E-4357-BDC9-6A0F69B1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Credits, achievements and ranking</a:t>
            </a:r>
          </a:p>
        </p:txBody>
      </p:sp>
      <p:graphicFrame>
        <p:nvGraphicFrame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996379-9221-43CC-B845-BFF64D6E52BA}"/>
              </a:ext>
            </a:extLst>
          </p:cNvPr>
          <p:cNvGraphicFramePr/>
          <p:nvPr/>
        </p:nvGraphicFramePr>
        <p:xfrm>
          <a:off xmlns:a="http://schemas.openxmlformats.org/drawingml/2006/main" x="838200" y="2238375"/>
          <a:ext xmlns:a="http://schemas.openxmlformats.org/drawingml/2006/main" cx="4886325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19400"/>
                <a:gridCol w="2066925"/>
              </a:tblGrid>
              <a:tr h="555625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Event</a:t>
                      </a:r>
                    </a:p>
                  </a:txBody>
                  <a:tcPr marL="91440" marR="91440" marT="45720" marB="45720" anchor="ctr">
                    <a:solidFill>
                      <a:srgbClr val="213B5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Credits</a:t>
                      </a:r>
                    </a:p>
                  </a:txBody>
                  <a:tcPr marL="91440" marR="91440" marT="45720" marB="45720" anchor="ctr">
                    <a:solidFill>
                      <a:srgbClr val="213B57"/>
                    </a:solidFill>
                  </a:tcPr>
                </a:tc>
              </a:tr>
              <a:tr h="55562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New account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+50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Standard request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−10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</a:tr>
              <a:tr h="55562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Priority request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−15 total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Completed session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+10 to mentor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</a:tr>
              <a:tr h="55562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Rejected / cancelled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Request fee refunded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Achievement rules">
            <a:extLst xmlns:a="http://schemas.openxmlformats.org/drawingml/2006/main">
              <a:ext uri="{FF2B5EF4-FFF2-40B4-BE49-F238E27FC236}">
                <a16:creationId xmlns:a16="http://schemas.microsoft.com/office/drawing/2014/main" id="{7B42CC49-C9EF-46A2-ABC3-F9D0A64B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209800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Achievement rules</a:t>
            </a:r>
          </a:p>
        </p:txBody>
      </p:sp>
      <p:sp>
        <p:nvSpPr>
          <p:cNvPr id="14" name="First Steps">
            <a:extLst xmlns:a="http://schemas.openxmlformats.org/drawingml/2006/main">
              <a:ext uri="{FF2B5EF4-FFF2-40B4-BE49-F238E27FC236}">
                <a16:creationId xmlns:a16="http://schemas.microsoft.com/office/drawing/2014/main" id="{66676BD0-B0DF-4DB1-8DD2-B99DB129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809875"/>
            <a:ext cx="2419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First Steps</a:t>
            </a:r>
          </a:p>
        </p:txBody>
      </p:sp>
      <p:sp>
        <p:nvSpPr>
          <p:cNvPr id="15" name="1 completed mentorship">
            <a:extLst xmlns:a="http://schemas.openxmlformats.org/drawingml/2006/main">
              <a:ext uri="{FF2B5EF4-FFF2-40B4-BE49-F238E27FC236}">
                <a16:creationId xmlns:a16="http://schemas.microsoft.com/office/drawing/2014/main" id="{1375EB8B-3B09-4846-9D49-704437AC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098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1 completed mentorship</a:t>
            </a:r>
          </a:p>
        </p:txBody>
      </p:sp>
      <p:sp>
        <p:nvSpPr>
          <p:cNvPr id="16" name="Committed Mentor">
            <a:extLst xmlns:a="http://schemas.openxmlformats.org/drawingml/2006/main">
              <a:ext uri="{FF2B5EF4-FFF2-40B4-BE49-F238E27FC236}">
                <a16:creationId xmlns:a16="http://schemas.microsoft.com/office/drawing/2014/main" id="{BE21CB0A-BA8D-4553-875C-DAA18C42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324225"/>
            <a:ext cx="2419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Committed Mentor</a:t>
            </a:r>
          </a:p>
        </p:txBody>
      </p:sp>
      <p:sp>
        <p:nvSpPr>
          <p:cNvPr id="17" name="2 completed as mentor">
            <a:extLst xmlns:a="http://schemas.openxmlformats.org/drawingml/2006/main">
              <a:ext uri="{FF2B5EF4-FFF2-40B4-BE49-F238E27FC236}">
                <a16:creationId xmlns:a16="http://schemas.microsoft.com/office/drawing/2014/main" id="{706FD0B0-130B-4997-9205-CD3EB921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242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2 completed as mentor</a:t>
            </a:r>
          </a:p>
        </p:txBody>
      </p:sp>
      <p:sp>
        <p:nvSpPr>
          <p:cNvPr id="18" name="Rising Star">
            <a:extLst xmlns:a="http://schemas.openxmlformats.org/drawingml/2006/main">
              <a:ext uri="{FF2B5EF4-FFF2-40B4-BE49-F238E27FC236}">
                <a16:creationId xmlns:a16="http://schemas.microsoft.com/office/drawing/2014/main" id="{7786B28B-604C-449A-B8FD-38BB4285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838575"/>
            <a:ext cx="2419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Rising Star</a:t>
            </a:r>
          </a:p>
        </p:txBody>
      </p:sp>
      <p:sp>
        <p:nvSpPr>
          <p:cNvPr id="19" name="Skill score at least 8.0">
            <a:extLst xmlns:a="http://schemas.openxmlformats.org/drawingml/2006/main">
              <a:ext uri="{FF2B5EF4-FFF2-40B4-BE49-F238E27FC236}">
                <a16:creationId xmlns:a16="http://schemas.microsoft.com/office/drawing/2014/main" id="{C17BDD95-1862-49BD-B95D-A52443D3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385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Skill score at least 8.0</a:t>
            </a:r>
          </a:p>
        </p:txBody>
      </p:sp>
      <p:sp>
        <p:nvSpPr>
          <p:cNvPr id="20" name="Top Rated">
            <a:extLst xmlns:a="http://schemas.openxmlformats.org/drawingml/2006/main">
              <a:ext uri="{FF2B5EF4-FFF2-40B4-BE49-F238E27FC236}">
                <a16:creationId xmlns:a16="http://schemas.microsoft.com/office/drawing/2014/main" id="{6E0B86C4-2DF4-41A4-9C81-3BCEDC5A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352925"/>
            <a:ext cx="2419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Top Rated</a:t>
            </a:r>
          </a:p>
        </p:txBody>
      </p:sp>
      <p:sp>
        <p:nvSpPr>
          <p:cNvPr id="21" name="Average 4.5+, with 1+ review">
            <a:extLst xmlns:a="http://schemas.openxmlformats.org/drawingml/2006/main">
              <a:ext uri="{FF2B5EF4-FFF2-40B4-BE49-F238E27FC236}">
                <a16:creationId xmlns:a16="http://schemas.microsoft.com/office/drawing/2014/main" id="{35FB647E-A0FC-44E1-80F4-7949F63C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3529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Average 4.5+, with 1+ review</a:t>
            </a:r>
          </a:p>
        </p:txBody>
      </p:sp>
      <p:sp>
        <p:nvSpPr>
          <p:cNvPr id="22" name="Helpful Hand">
            <a:extLst xmlns:a="http://schemas.openxmlformats.org/drawingml/2006/main">
              <a:ext uri="{FF2B5EF4-FFF2-40B4-BE49-F238E27FC236}">
                <a16:creationId xmlns:a16="http://schemas.microsoft.com/office/drawing/2014/main" id="{585EB02A-3673-4823-828A-9252C0ED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867275"/>
            <a:ext cx="2419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Helpful Hand</a:t>
            </a:r>
          </a:p>
        </p:txBody>
      </p:sp>
      <p:sp>
        <p:nvSpPr>
          <p:cNvPr id="23" name="2 shared resources">
            <a:extLst xmlns:a="http://schemas.openxmlformats.org/drawingml/2006/main">
              <a:ext uri="{FF2B5EF4-FFF2-40B4-BE49-F238E27FC236}">
                <a16:creationId xmlns:a16="http://schemas.microsoft.com/office/drawing/2014/main" id="{6368BB0A-FDC9-4959-81D9-00EDF1A8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8672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2 shared resources</a:t>
            </a:r>
          </a:p>
        </p:txBody>
      </p:sp>
      <p:sp>
        <p:nvSpPr>
          <p:cNvPr id="24" name="Leaderboard = 10 × skill score + 0.5 × credits + 1">
            <a:extLst xmlns:a="http://schemas.openxmlformats.org/drawingml/2006/main">
              <a:ext uri="{FF2B5EF4-FFF2-40B4-BE49-F238E27FC236}">
                <a16:creationId xmlns:a16="http://schemas.microsoft.com/office/drawing/2014/main" id="{916650D7-718E-4D45-8E3E-8B252A40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81675"/>
            <a:ext cx="1051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676A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676AD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676AD"/>
                </a:solidFill>
                <a:latin typeface="Segoe UI"/>
                <a:ea typeface="Segoe UI"/>
                <a:cs typeface="Segoe UI"/>
              </a:rPr>
              <a:t>Leaderboard = 10 × skill score + 0.5 × credits + 15 × badges</a:t>
            </a:r>
          </a:p>
        </p:txBody>
      </p:sp>
    </p:spTree>
    <p:extLst>
      <p:ext uri="{BB962C8B-B14F-4D97-AF65-F5344CB8AC3E}">
        <p14:creationId xmlns:p14="http://schemas.microsoft.com/office/powerpoint/2010/main" val="33473403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53019EA-A446-495B-B438-97C69D0576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62000"/>
            <a:ext cx="10515600" cy="66675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>
              <a:def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3. Requirements ( Functional &amp; Non functional)</a:t>
            </a:r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F4A40A5B-6467-4978-A86C-05313D06C2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497b55bd0c45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2421" y="0"/>
            <a:ext cx="1751379" cy="815788"/>
          </a:xfrm>
          <a:prstGeom xmlns:a="http://schemas.openxmlformats.org/drawingml/2006/main" prst="rect">
            <a:avLst/>
          </a:prstGeom>
        </p:spPr>
      </p:pic>
      <p:sp>
        <p:nvSpPr>
          <p:cNvPr id="9" name="Footer Placeholder 8">
            <a:extLst xmlns:a="http://schemas.openxmlformats.org/drawingml/2006/main">
              <a:ext uri="{FF2B5EF4-FFF2-40B4-BE49-F238E27FC236}">
                <a16:creationId xmlns:a16="http://schemas.microsoft.com/office/drawing/2014/main" id="{CF5E86AB-52F2-475D-B06A-30DB234B76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Indian Institute of Information Technology Kottayam</a:t>
            </a:r>
          </a:p>
        </p:txBody>
      </p:sp>
      <p:sp>
        <p:nvSpPr>
          <p:cNvPr id="10" name="Slide Number Placeholder 9">
            <a:extLst xmlns:a="http://schemas.openxmlformats.org/drawingml/2006/main">
              <a:ext uri="{FF2B5EF4-FFF2-40B4-BE49-F238E27FC236}">
                <a16:creationId xmlns:a16="http://schemas.microsoft.com/office/drawing/2014/main" id="{721E571B-8A8C-4FE9-B12C-EFFE2E7A84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rPr sz="1600"/>
              <a:t>8</a:t>
            </a:fld>
            <a:endParaRPr sz="1600"/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2213B9A-9C11-45C7-9314-5DE29841885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Non-functional requirements and validation">
            <a:extLst xmlns:a="http://schemas.openxmlformats.org/drawingml/2006/main">
              <a:ext uri="{FF2B5EF4-FFF2-40B4-BE49-F238E27FC236}">
                <a16:creationId xmlns:a16="http://schemas.microsoft.com/office/drawing/2014/main" id="{0D12CE0C-46AE-421A-9958-18B71C84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Non-functional requirements and validation</a:t>
            </a:r>
          </a:p>
        </p:txBody>
      </p:sp>
      <p:sp>
        <p:nvSpPr>
          <p:cNvPr id="12" name="Local execution">
            <a:extLst xmlns:a="http://schemas.openxmlformats.org/drawingml/2006/main">
              <a:ext uri="{FF2B5EF4-FFF2-40B4-BE49-F238E27FC236}">
                <a16:creationId xmlns:a16="http://schemas.microsoft.com/office/drawing/2014/main" id="{043478CF-2276-4450-92A8-531952CC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76475"/>
            <a:ext cx="47910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Local execution</a:t>
            </a:r>
          </a:p>
        </p:txBody>
      </p:sp>
      <p:sp>
        <p:nvSpPr>
          <p:cNvPr id="13" name="SQLite database and local file storage">
            <a:extLst xmlns:a="http://schemas.openxmlformats.org/drawingml/2006/main">
              <a:ext uri="{FF2B5EF4-FFF2-40B4-BE49-F238E27FC236}">
                <a16:creationId xmlns:a16="http://schemas.microsoft.com/office/drawing/2014/main" id="{728EE36F-50EA-4BD4-AD1B-41FA91CF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95575"/>
            <a:ext cx="47910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SQLite database and local file storage</a:t>
            </a:r>
          </a:p>
        </p:txBody>
      </p:sp>
      <p:sp>
        <p:nvSpPr>
          <p:cNvPr id="14" name="Controlled access">
            <a:extLst xmlns:a="http://schemas.openxmlformats.org/drawingml/2006/main">
              <a:ext uri="{FF2B5EF4-FFF2-40B4-BE49-F238E27FC236}">
                <a16:creationId xmlns:a16="http://schemas.microsoft.com/office/drawing/2014/main" id="{61523EFC-1215-47D3-8DE6-BCF28591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9925"/>
            <a:ext cx="47910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Controlled access</a:t>
            </a:r>
          </a:p>
        </p:txBody>
      </p:sp>
      <p:sp>
        <p:nvSpPr>
          <p:cNvPr id="15" name="Django sign-in and participant checks">
            <a:extLst xmlns:a="http://schemas.openxmlformats.org/drawingml/2006/main">
              <a:ext uri="{FF2B5EF4-FFF2-40B4-BE49-F238E27FC236}">
                <a16:creationId xmlns:a16="http://schemas.microsoft.com/office/drawing/2014/main" id="{ECE46132-CD12-4160-B82A-415C1175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29025"/>
            <a:ext cx="47910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Django sign-in and participant checks</a:t>
            </a:r>
          </a:p>
        </p:txBody>
      </p:sp>
      <p:sp>
        <p:nvSpPr>
          <p:cNvPr id="16" name="Upload validation">
            <a:extLst xmlns:a="http://schemas.openxmlformats.org/drawingml/2006/main">
              <a:ext uri="{FF2B5EF4-FFF2-40B4-BE49-F238E27FC236}">
                <a16:creationId xmlns:a16="http://schemas.microsoft.com/office/drawing/2014/main" id="{07884A99-31E7-40EA-8D2E-FF83BC6D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43375"/>
            <a:ext cx="47910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Upload validation</a:t>
            </a:r>
          </a:p>
        </p:txBody>
      </p:sp>
      <p:sp>
        <p:nvSpPr>
          <p:cNvPr id="17" name="10 MB limit and an allowed file extension list">
            <a:extLst xmlns:a="http://schemas.openxmlformats.org/drawingml/2006/main">
              <a:ext uri="{FF2B5EF4-FFF2-40B4-BE49-F238E27FC236}">
                <a16:creationId xmlns:a16="http://schemas.microsoft.com/office/drawing/2014/main" id="{EF28F5C8-8D99-4EAA-B8D1-2C02780A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62475"/>
            <a:ext cx="47910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10 MB limit and an allowed file extension list</a:t>
            </a:r>
          </a:p>
        </p:txBody>
      </p:sp>
      <p:sp>
        <p:nvSpPr>
          <p:cNvPr id="18" name="Traceability">
            <a:extLst xmlns:a="http://schemas.openxmlformats.org/drawingml/2006/main">
              <a:ext uri="{FF2B5EF4-FFF2-40B4-BE49-F238E27FC236}">
                <a16:creationId xmlns:a16="http://schemas.microsoft.com/office/drawing/2014/main" id="{5A709B7D-33EA-4A3B-A643-79706605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76825"/>
            <a:ext cx="47910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Traceability</a:t>
            </a:r>
          </a:p>
        </p:txBody>
      </p:sp>
      <p:sp>
        <p:nvSpPr>
          <p:cNvPr id="19" name="Credit transactions and recorded feedback">
            <a:extLst xmlns:a="http://schemas.openxmlformats.org/drawingml/2006/main">
              <a:ext uri="{FF2B5EF4-FFF2-40B4-BE49-F238E27FC236}">
                <a16:creationId xmlns:a16="http://schemas.microsoft.com/office/drawing/2014/main" id="{6526E430-383A-40F2-B091-D80470A7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95925"/>
            <a:ext cx="47910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Credit transactions and recorded feedback</a:t>
            </a:r>
          </a:p>
        </p:txBody>
      </p:sp>
      <p:sp>
        <p:nvSpPr>
          <p:cNvPr id="20" name="53">
            <a:extLst xmlns:a="http://schemas.openxmlformats.org/drawingml/2006/main">
              <a:ext uri="{FF2B5EF4-FFF2-40B4-BE49-F238E27FC236}">
                <a16:creationId xmlns:a16="http://schemas.microsoft.com/office/drawing/2014/main" id="{BB98644B-5CE7-48C8-9809-092D6AA8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200275"/>
            <a:ext cx="4810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4350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53</a:t>
            </a:r>
          </a:p>
        </p:txBody>
      </p:sp>
      <p:sp>
        <p:nvSpPr>
          <p:cNvPr id="21" name="Automated tests passed">
            <a:extLst xmlns:a="http://schemas.openxmlformats.org/drawingml/2006/main">
              <a:ext uri="{FF2B5EF4-FFF2-40B4-BE49-F238E27FC236}">
                <a16:creationId xmlns:a16="http://schemas.microsoft.com/office/drawing/2014/main" id="{CC78E05A-A3D5-422E-BBC4-B5DFEC38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009900"/>
            <a:ext cx="4810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Automated tests passed</a:t>
            </a:r>
          </a:p>
        </p:txBody>
      </p:sp>
      <p:graphicFrame>
        <p:nvGraphicFrame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DE0D95-DA05-4A10-BD36-517204345231}"/>
              </a:ext>
            </a:extLst>
          </p:cNvPr>
          <p:cNvGraphicFramePr/>
          <p:nvPr/>
        </p:nvGraphicFramePr>
        <p:xfrm>
          <a:off xmlns:a="http://schemas.openxmlformats.org/drawingml/2006/main" x="6543675" y="3876675"/>
          <a:ext xmlns:a="http://schemas.openxmlformats.org/drawingml/2006/main" cx="4810125" cy="2219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1571625"/>
              </a:tblGrid>
              <a:tr h="369888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App</a:t>
                      </a:r>
                    </a:p>
                  </a:txBody>
                  <a:tcPr marL="91440" marR="91440" marT="45720" marB="45720" anchor="ctr">
                    <a:solidFill>
                      <a:srgbClr val="213B5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Tests</a:t>
                      </a:r>
                    </a:p>
                  </a:txBody>
                  <a:tcPr marL="91440" marR="91440" marT="45720" marB="45720" anchor="ctr">
                    <a:solidFill>
                      <a:srgbClr val="213B57"/>
                    </a:solidFill>
                  </a:tcPr>
                </a:tc>
              </a:tr>
              <a:tr h="369888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accounts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9888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matching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</a:tr>
              <a:tr h="369888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mentorship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9888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gamification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</a:tr>
              <a:tr h="369888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notifications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13B57"/>
                          </a:solidFill>
                          <a:latin typeface="Segoe UI"/>
                          <a:ea typeface="Segoe UI"/>
                          <a:cs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73403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249913-AA94-4085-B674-63CAA9B7B289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953375" y="4319588"/>
            <a:ext cx="1057275" cy="428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2860">
            <a:solidFill>
              <a:srgbClr val="138B5D"/>
            </a:solidFill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D9D75A-B014-4FD9-871F-FB1C9E516B01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7953375" y="2947988"/>
            <a:ext cx="1057275" cy="137160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2860">
            <a:solidFill>
              <a:srgbClr val="2676AD"/>
            </a:solidFill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F031B2-AB5A-4BDF-85B0-AD732BFCBEB2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514725" y="4319588"/>
            <a:ext cx="10572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676AD"/>
            </a:solidFill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36F154-2D56-4E50-BD32-834B8CF12505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2176463" y="3286125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676AD"/>
            </a:solidFill>
            <a:tailEnd type="triangle" w="sm" len="sm"/>
          </a:ln>
        </p:spPr>
      </p:cxn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CD81AE-411C-43FC-BC66-97204D9EDA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62000"/>
            <a:ext cx="10515600" cy="66675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>
              <a:def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4. System architecture</a:t>
            </a:r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BF74138D-4314-4D3A-9AB7-FAF16E5BF9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3ceb50fd0449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2421" y="0"/>
            <a:ext cx="1751379" cy="815788"/>
          </a:xfrm>
          <a:prstGeom xmlns:a="http://schemas.openxmlformats.org/drawingml/2006/main" prst="rect">
            <a:avLst/>
          </a:prstGeom>
        </p:spPr>
      </p:pic>
      <p:sp>
        <p:nvSpPr>
          <p:cNvPr id="9" name="Footer Placeholder 8">
            <a:extLst xmlns:a="http://schemas.openxmlformats.org/drawingml/2006/main">
              <a:ext uri="{FF2B5EF4-FFF2-40B4-BE49-F238E27FC236}">
                <a16:creationId xmlns:a16="http://schemas.microsoft.com/office/drawing/2014/main" id="{0532754D-AE6D-4798-8DA2-0AA2D1CB29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Indian Institute of Information Technology Kottayam</a:t>
            </a:r>
          </a:p>
        </p:txBody>
      </p:sp>
      <p:sp>
        <p:nvSpPr>
          <p:cNvPr id="10" name="Slide Number Placeholder 9">
            <a:extLst xmlns:a="http://schemas.openxmlformats.org/drawingml/2006/main">
              <a:ext uri="{FF2B5EF4-FFF2-40B4-BE49-F238E27FC236}">
                <a16:creationId xmlns:a16="http://schemas.microsoft.com/office/drawing/2014/main" id="{8A965A9D-FA74-4626-80C8-F9C4DF7049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rPr sz="1600"/>
              <a:t>9</a:t>
            </a:fld>
            <a:endParaRPr sz="1600"/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B25915BE-C2A8-4212-A5F3-C2ED42FFC02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Application layers and domain modules">
            <a:extLst xmlns:a="http://schemas.openxmlformats.org/drawingml/2006/main">
              <a:ext uri="{FF2B5EF4-FFF2-40B4-BE49-F238E27FC236}">
                <a16:creationId xmlns:a16="http://schemas.microsoft.com/office/drawing/2014/main" id="{FD3696CA-3C7A-473B-AA94-C040A1B0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Application layers and domain modules</a:t>
            </a:r>
          </a:p>
        </p:txBody>
      </p:sp>
      <p:sp>
        <p:nvSpPr>
          <p:cNvPr id="12" name="Browser Server-rendered pages">
            <a:extLst xmlns:a="http://schemas.openxmlformats.org/drawingml/2006/main">
              <a:ext uri="{FF2B5EF4-FFF2-40B4-BE49-F238E27FC236}">
                <a16:creationId xmlns:a16="http://schemas.microsoft.com/office/drawing/2014/main" id="{C7259427-9CBE-4DED-A3CD-37A11379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52675"/>
            <a:ext cx="2676525" cy="93345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Browser</a:t>
            </a:r>
          </a:p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Server-rendered pages</a:t>
            </a:r>
          </a:p>
        </p:txBody>
      </p:sp>
      <p:sp>
        <p:nvSpPr>
          <p:cNvPr id="13" name="Django presentation Templates and Bootstrap">
            <a:extLst xmlns:a="http://schemas.openxmlformats.org/drawingml/2006/main">
              <a:ext uri="{FF2B5EF4-FFF2-40B4-BE49-F238E27FC236}">
                <a16:creationId xmlns:a16="http://schemas.microsoft.com/office/drawing/2014/main" id="{49BC725F-336D-4516-A98F-9AB3D105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81425"/>
            <a:ext cx="2676525" cy="1076325"/>
          </a:xfrm>
          <a:prstGeom xmlns:a="http://schemas.openxmlformats.org/drawingml/2006/main" prst="roundRect">
            <a:avLst>
              <a:gd name="adj" fmla="val 885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Django presentation</a:t>
            </a:r>
          </a:p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Templates and Bootstrap</a:t>
            </a:r>
          </a:p>
        </p:txBody>
      </p:sp>
      <p:sp>
        <p:nvSpPr>
          <p:cNvPr id="15" name="Domain apps accounts    matching mentorship    gamification notifications">
            <a:extLst xmlns:a="http://schemas.openxmlformats.org/drawingml/2006/main">
              <a:ext uri="{FF2B5EF4-FFF2-40B4-BE49-F238E27FC236}">
                <a16:creationId xmlns:a16="http://schemas.microsoft.com/office/drawing/2014/main" id="{EB44334B-1EBE-40E3-B096-30C633CA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81388"/>
            <a:ext cx="3381375" cy="167640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F0F7F4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Domain apps</a:t>
            </a:r>
          </a:p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accounts    matching</a:t>
            </a:r>
          </a:p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mentorship    gamification</a:t>
            </a:r>
          </a:p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notifications</a:t>
            </a:r>
          </a:p>
        </p:txBody>
      </p:sp>
      <p:sp>
        <p:nvSpPr>
          <p:cNvPr id="17" name="Persistence SQLite and Django ORM">
            <a:extLst xmlns:a="http://schemas.openxmlformats.org/drawingml/2006/main">
              <a:ext uri="{FF2B5EF4-FFF2-40B4-BE49-F238E27FC236}">
                <a16:creationId xmlns:a16="http://schemas.microsoft.com/office/drawing/2014/main" id="{1EA3F7FC-F187-4D6A-AF70-A047B68B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81250"/>
            <a:ext cx="2343150" cy="1133475"/>
          </a:xfrm>
          <a:prstGeom xmlns:a="http://schemas.openxmlformats.org/drawingml/2006/main" prst="roundRect">
            <a:avLst>
              <a:gd name="adj" fmla="val 8403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Persistence</a:t>
            </a:r>
          </a:p>
          <a:p xmlns:a="http://schemas.openxmlformats.org/drawingml/2006/main">
            <a:pPr algn="ctr">
              <a:defRPr sz="18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SQLite and Django ORM</a:t>
            </a:r>
          </a:p>
        </p:txBody>
      </p:sp>
      <p:sp>
        <p:nvSpPr>
          <p:cNvPr id="18" name="Local media Uploaded learning resources">
            <a:extLst xmlns:a="http://schemas.openxmlformats.org/drawingml/2006/main">
              <a:ext uri="{FF2B5EF4-FFF2-40B4-BE49-F238E27FC236}">
                <a16:creationId xmlns:a16="http://schemas.microsoft.com/office/drawing/2014/main" id="{916D0191-ABA8-4D0D-85B5-ECC0E183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81475"/>
            <a:ext cx="2343150" cy="1133475"/>
          </a:xfrm>
          <a:prstGeom xmlns:a="http://schemas.openxmlformats.org/drawingml/2006/main" prst="roundRect">
            <a:avLst>
              <a:gd name="adj" fmla="val 8403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Local media</a:t>
            </a:r>
          </a:p>
          <a:p xmlns:a="http://schemas.openxmlformats.org/drawingml/2006/main">
            <a:pPr algn="ctr">
              <a:defRPr sz="1800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Uploaded learning resources</a:t>
            </a:r>
          </a:p>
        </p:txBody>
      </p:sp>
      <p:sp>
        <p:nvSpPr>
          <p:cNvPr id="21" name="A single Django project keeps authentication, busi">
            <a:extLst xmlns:a="http://schemas.openxmlformats.org/drawingml/2006/main">
              <a:ext uri="{FF2B5EF4-FFF2-40B4-BE49-F238E27FC236}">
                <a16:creationId xmlns:a16="http://schemas.microsoft.com/office/drawing/2014/main" id="{78683DF1-979C-47EE-976D-DCFBD26A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1051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A single Django project keeps authentication, business rules and data together.</a:t>
            </a:r>
          </a:p>
        </p:txBody>
      </p:sp>
    </p:spTree>
    <p:extLst>
      <p:ext uri="{BB962C8B-B14F-4D97-AF65-F5344CB8AC3E}">
        <p14:creationId xmlns:p14="http://schemas.microsoft.com/office/powerpoint/2010/main" val="14627022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EB5F2F-3868-4DDA-82EB-0DB668B3561D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486650" y="5372100"/>
            <a:ext cx="10763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676AD"/>
            </a:solidFill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5C8791-8799-4A03-A047-B9F66E7D8D51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3619500" y="5372100"/>
            <a:ext cx="10858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676AD"/>
            </a:solidFill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F06F79-8C6B-42EE-966F-D801BB14AB3E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486650" y="2790825"/>
            <a:ext cx="10763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676AD"/>
            </a:solidFill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61D0CB-15FD-48D9-9880-E96E77523D5E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619500" y="2790825"/>
            <a:ext cx="10858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676AD"/>
            </a:solidFill>
            <a:tailEnd type="triangle" w="sm" len="sm"/>
          </a:ln>
        </p:spPr>
      </p:cxn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CD81AE-411C-43FC-BC66-97204D9EDA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62000"/>
            <a:ext cx="10515600" cy="66675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>
              <a:def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4. System architecture</a:t>
            </a:r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BF74138D-4314-4D3A-9AB7-FAF16E5BF9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d9f328521b41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2421" y="0"/>
            <a:ext cx="1751379" cy="815788"/>
          </a:xfrm>
          <a:prstGeom xmlns:a="http://schemas.openxmlformats.org/drawingml/2006/main" prst="rect">
            <a:avLst/>
          </a:prstGeom>
        </p:spPr>
      </p:pic>
      <p:sp>
        <p:nvSpPr>
          <p:cNvPr id="9" name="Footer Placeholder 8">
            <a:extLst xmlns:a="http://schemas.openxmlformats.org/drawingml/2006/main">
              <a:ext uri="{FF2B5EF4-FFF2-40B4-BE49-F238E27FC236}">
                <a16:creationId xmlns:a16="http://schemas.microsoft.com/office/drawing/2014/main" id="{0532754D-AE6D-4798-8DA2-0AA2D1CB29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Indian Institute of Information Technology Kottayam</a:t>
            </a:r>
          </a:p>
        </p:txBody>
      </p:sp>
      <p:sp>
        <p:nvSpPr>
          <p:cNvPr id="10" name="Slide Number Placeholder 9">
            <a:extLst xmlns:a="http://schemas.openxmlformats.org/drawingml/2006/main">
              <a:ext uri="{FF2B5EF4-FFF2-40B4-BE49-F238E27FC236}">
                <a16:creationId xmlns:a16="http://schemas.microsoft.com/office/drawing/2014/main" id="{8A965A9D-FA74-4626-80C8-F9C4DF7049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rPr sz="1600"/>
              <a:t>10</a:t>
            </a:fld>
            <a:endParaRPr sz="1600"/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B25915BE-C2A8-4212-A5F3-C2ED42FFC02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Core records and event flow">
            <a:extLst xmlns:a="http://schemas.openxmlformats.org/drawingml/2006/main">
              <a:ext uri="{FF2B5EF4-FFF2-40B4-BE49-F238E27FC236}">
                <a16:creationId xmlns:a16="http://schemas.microsoft.com/office/drawing/2014/main" id="{D480D7ED-050B-42F0-8BAE-B5E82EB8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Core records and event flow</a:t>
            </a:r>
          </a:p>
        </p:txBody>
      </p:sp>
      <p:sp>
        <p:nvSpPr>
          <p:cNvPr id="12" name="User Profile and role assignments">
            <a:extLst xmlns:a="http://schemas.openxmlformats.org/drawingml/2006/main">
              <a:ext uri="{FF2B5EF4-FFF2-40B4-BE49-F238E27FC236}">
                <a16:creationId xmlns:a16="http://schemas.microsoft.com/office/drawing/2014/main" id="{4E725A64-9F57-4765-8FC8-E14AC8BD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95525"/>
            <a:ext cx="27813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0F7F4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User</a:t>
            </a:r>
          </a:p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Profile and role assignments</a:t>
            </a:r>
          </a:p>
        </p:txBody>
      </p:sp>
      <p:sp>
        <p:nvSpPr>
          <p:cNvPr id="13" name="Mentorship Mentor and learner">
            <a:extLst xmlns:a="http://schemas.openxmlformats.org/drawingml/2006/main">
              <a:ext uri="{FF2B5EF4-FFF2-40B4-BE49-F238E27FC236}">
                <a16:creationId xmlns:a16="http://schemas.microsoft.com/office/drawing/2014/main" id="{491B8331-C42B-4093-83C2-52BD1F61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95525"/>
            <a:ext cx="27813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0F7F4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Mentorship</a:t>
            </a:r>
          </a:p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Mentor and learner</a:t>
            </a:r>
          </a:p>
        </p:txBody>
      </p:sp>
      <p:sp>
        <p:nvSpPr>
          <p:cNvPr id="14" name="Learning records Progress, sessions and milestones">
            <a:extLst xmlns:a="http://schemas.openxmlformats.org/drawingml/2006/main">
              <a:ext uri="{FF2B5EF4-FFF2-40B4-BE49-F238E27FC236}">
                <a16:creationId xmlns:a16="http://schemas.microsoft.com/office/drawing/2014/main" id="{4815020A-2304-43CF-91D9-A4B44719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295525"/>
            <a:ext cx="2790825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Learning records</a:t>
            </a:r>
          </a:p>
          <a:p xmlns:a="http://schemas.openxmlformats.org/drawingml/2006/main">
            <a:pPr algn="ctr">
              <a:defRPr sz="17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Progress, sessions and milestones</a:t>
            </a:r>
          </a:p>
        </p:txBody>
      </p:sp>
      <p:sp>
        <p:nvSpPr>
          <p:cNvPr id="17" name="User owns a credit wallet&#10;and earned badges">
            <a:extLst xmlns:a="http://schemas.openxmlformats.org/drawingml/2006/main">
              <a:ext uri="{FF2B5EF4-FFF2-40B4-BE49-F238E27FC236}">
                <a16:creationId xmlns:a16="http://schemas.microsoft.com/office/drawing/2014/main" id="{A2BCEDC6-5226-4F01-A81E-010DBF83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9975"/>
            <a:ext cx="27813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User owns a credit wallet</a:t>
            </a:r>
          </a:p>
          <a:p xmlns:a="http://schemas.openxmlformats.org/drawingml/2006/main">
            <a:pPr algn="l">
              <a:defRPr sz="180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and earned badges</a:t>
            </a:r>
          </a:p>
        </p:txBody>
      </p:sp>
      <p:sp>
        <p:nvSpPr>
          <p:cNvPr id="18" name="Resources and discussion&#10;posts belong to a mentors">
            <a:extLst xmlns:a="http://schemas.openxmlformats.org/drawingml/2006/main">
              <a:ext uri="{FF2B5EF4-FFF2-40B4-BE49-F238E27FC236}">
                <a16:creationId xmlns:a16="http://schemas.microsoft.com/office/drawing/2014/main" id="{D0290615-B1AA-4091-892F-FD972E2D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09975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Resources and discussion</a:t>
            </a:r>
          </a:p>
          <a:p xmlns:a="http://schemas.openxmlformats.org/drawingml/2006/main">
            <a:pPr algn="l">
              <a:defRPr sz="180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posts belong to a mentorship</a:t>
            </a:r>
          </a:p>
        </p:txBody>
      </p:sp>
      <p:sp>
        <p:nvSpPr>
          <p:cNvPr id="19" name="Milestone and session states&#10;drive weighted progre">
            <a:extLst xmlns:a="http://schemas.openxmlformats.org/drawingml/2006/main">
              <a:ext uri="{FF2B5EF4-FFF2-40B4-BE49-F238E27FC236}">
                <a16:creationId xmlns:a16="http://schemas.microsoft.com/office/drawing/2014/main" id="{E7A0B9B0-892C-4805-8B86-68DC1D5A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609975"/>
            <a:ext cx="27908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Milestone and session states</a:t>
            </a:r>
          </a:p>
          <a:p xmlns:a="http://schemas.openxmlformats.org/drawingml/2006/main">
            <a:pPr algn="l">
              <a:defRPr sz="180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drive weighted progress</a:t>
            </a:r>
          </a:p>
        </p:txBody>
      </p:sp>
      <p:sp>
        <p:nvSpPr>
          <p:cNvPr id="20" name="Session completed">
            <a:extLst xmlns:a="http://schemas.openxmlformats.org/drawingml/2006/main">
              <a:ext uri="{FF2B5EF4-FFF2-40B4-BE49-F238E27FC236}">
                <a16:creationId xmlns:a16="http://schemas.microsoft.com/office/drawing/2014/main" id="{EB23A3F5-0B2F-4B1F-8A56-76A5DC70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38725"/>
            <a:ext cx="27813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Session completed</a:t>
            </a:r>
          </a:p>
        </p:txBody>
      </p:sp>
      <p:sp>
        <p:nvSpPr>
          <p:cNvPr id="21" name="Credits and badge checks">
            <a:extLst xmlns:a="http://schemas.openxmlformats.org/drawingml/2006/main">
              <a:ext uri="{FF2B5EF4-FFF2-40B4-BE49-F238E27FC236}">
                <a16:creationId xmlns:a16="http://schemas.microsoft.com/office/drawing/2014/main" id="{4CCB0277-E061-4855-A270-B2FBFA98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038725"/>
            <a:ext cx="27813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0F7F4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Credits and badge checks</a:t>
            </a:r>
          </a:p>
        </p:txBody>
      </p:sp>
      <p:sp>
        <p:nvSpPr>
          <p:cNvPr id="22" name="Ranking and notifications">
            <a:extLst xmlns:a="http://schemas.openxmlformats.org/drawingml/2006/main">
              <a:ext uri="{FF2B5EF4-FFF2-40B4-BE49-F238E27FC236}">
                <a16:creationId xmlns:a16="http://schemas.microsoft.com/office/drawing/2014/main" id="{609C8196-614B-4EAF-ABCE-52F0F9B0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038725"/>
            <a:ext cx="27908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Ranking and notifications</a:t>
            </a:r>
          </a:p>
        </p:txBody>
      </p:sp>
      <p:sp>
        <p:nvSpPr>
          <p:cNvPr id="25" name="Updates run synchronously in application handlers.">
            <a:extLst xmlns:a="http://schemas.openxmlformats.org/drawingml/2006/main">
              <a:ext uri="{FF2B5EF4-FFF2-40B4-BE49-F238E27FC236}">
                <a16:creationId xmlns:a16="http://schemas.microsoft.com/office/drawing/2014/main" id="{150DA3F8-ADBB-4D9B-8761-8613BD8F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34075"/>
            <a:ext cx="10515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Updates run synchronously in application handlers.</a:t>
            </a:r>
          </a:p>
        </p:txBody>
      </p:sp>
    </p:spTree>
    <p:extLst>
      <p:ext uri="{BB962C8B-B14F-4D97-AF65-F5344CB8AC3E}">
        <p14:creationId xmlns:p14="http://schemas.microsoft.com/office/powerpoint/2010/main" val="14627022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8156625-50B1-48D2-83F4-A42AB82441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62000"/>
            <a:ext cx="10515600" cy="66675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>
              <a:def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5. Demonstration</a:t>
            </a:r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855E9401-25AF-402D-B532-F8C748A4C7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b512acf9194a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2421" y="0"/>
            <a:ext cx="1751379" cy="815788"/>
          </a:xfrm>
          <a:prstGeom xmlns:a="http://schemas.openxmlformats.org/drawingml/2006/main" prst="rect">
            <a:avLst/>
          </a:prstGeom>
        </p:spPr>
      </p:pic>
      <p:sp>
        <p:nvSpPr>
          <p:cNvPr id="9" name="Footer Placeholder 8">
            <a:extLst xmlns:a="http://schemas.openxmlformats.org/drawingml/2006/main">
              <a:ext uri="{FF2B5EF4-FFF2-40B4-BE49-F238E27FC236}">
                <a16:creationId xmlns:a16="http://schemas.microsoft.com/office/drawing/2014/main" id="{D7A9610A-496C-4080-8CBA-E34702C1A0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Indian Institute of Information Technology Kottayam</a:t>
            </a:r>
          </a:p>
        </p:txBody>
      </p:sp>
      <p:sp>
        <p:nvSpPr>
          <p:cNvPr id="10" name="Slide Number Placeholder 9">
            <a:extLst xmlns:a="http://schemas.openxmlformats.org/drawingml/2006/main">
              <a:ext uri="{FF2B5EF4-FFF2-40B4-BE49-F238E27FC236}">
                <a16:creationId xmlns:a16="http://schemas.microsoft.com/office/drawing/2014/main" id="{8937F66A-F5A8-4774-93C6-4D1886D8F4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rPr sz="1600"/>
              <a:t>11</a:t>
            </a:fld>
            <a:endParaRPr sz="1600"/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1770D02-8F7E-465B-BDE6-D87B1488F07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How to install and run locally">
            <a:extLst xmlns:a="http://schemas.openxmlformats.org/drawingml/2006/main">
              <a:ext uri="{FF2B5EF4-FFF2-40B4-BE49-F238E27FC236}">
                <a16:creationId xmlns:a16="http://schemas.microsoft.com/office/drawing/2014/main" id="{57D017C7-604E-4D8A-A120-2C263DAF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How to install and run locally</a:t>
            </a:r>
          </a:p>
        </p:txBody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C21A25D6-012D-4750-A3F5-C64AFF95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5810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3" name="Install dependencies">
            <a:extLst xmlns:a="http://schemas.openxmlformats.org/drawingml/2006/main">
              <a:ext uri="{FF2B5EF4-FFF2-40B4-BE49-F238E27FC236}">
                <a16:creationId xmlns:a16="http://schemas.microsoft.com/office/drawing/2014/main" id="{E4239286-A17D-49A7-917F-A3D2DBD7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38375"/>
            <a:ext cx="38385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Install dependencies</a:t>
            </a:r>
          </a:p>
        </p:txBody>
      </p:sp>
      <p:sp>
        <p:nvSpPr>
          <p:cNvPr id="14" name="python -m pip install -r requirements.txt">
            <a:extLst xmlns:a="http://schemas.openxmlformats.org/drawingml/2006/main">
              <a:ext uri="{FF2B5EF4-FFF2-40B4-BE49-F238E27FC236}">
                <a16:creationId xmlns:a16="http://schemas.microsoft.com/office/drawing/2014/main" id="{4A2CBAA9-1147-4B24-BD39-5A6EC6C5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181225"/>
            <a:ext cx="5476875" cy="600075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23825" tIns="123825" rIns="123825" bIns="123825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13B57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13B57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213B57"/>
                </a:solidFill>
                <a:latin typeface="Consolas"/>
                <a:ea typeface="Consolas"/>
                <a:cs typeface="Consolas"/>
              </a:rPr>
              <a:t>python -m pip install -r requirements.txt</a:t>
            </a:r>
          </a:p>
        </p:txBody>
      </p:sp>
      <p:sp>
        <p:nvSpPr>
          <p:cNvPr id="15" name="2">
            <a:extLst xmlns:a="http://schemas.openxmlformats.org/drawingml/2006/main">
              <a:ext uri="{FF2B5EF4-FFF2-40B4-BE49-F238E27FC236}">
                <a16:creationId xmlns:a16="http://schemas.microsoft.com/office/drawing/2014/main" id="{EF48107D-E8DE-40A7-879E-8F0969CD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5810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6" name="Apply the database schema">
            <a:extLst xmlns:a="http://schemas.openxmlformats.org/drawingml/2006/main">
              <a:ext uri="{FF2B5EF4-FFF2-40B4-BE49-F238E27FC236}">
                <a16:creationId xmlns:a16="http://schemas.microsoft.com/office/drawing/2014/main" id="{80CB603A-15A3-40AD-88D1-E5294053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981325"/>
            <a:ext cx="38385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Apply the database schema</a:t>
            </a:r>
          </a:p>
        </p:txBody>
      </p:sp>
      <p:sp>
        <p:nvSpPr>
          <p:cNvPr id="17" name="python manage.py migrate">
            <a:extLst xmlns:a="http://schemas.openxmlformats.org/drawingml/2006/main">
              <a:ext uri="{FF2B5EF4-FFF2-40B4-BE49-F238E27FC236}">
                <a16:creationId xmlns:a16="http://schemas.microsoft.com/office/drawing/2014/main" id="{44AB7647-026C-491D-9D68-BC025EEB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924175"/>
            <a:ext cx="5476875" cy="600075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23825" tIns="123825" rIns="123825" bIns="123825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13B57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13B57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213B57"/>
                </a:solidFill>
                <a:latin typeface="Consolas"/>
                <a:ea typeface="Consolas"/>
                <a:cs typeface="Consolas"/>
              </a:rPr>
              <a:t>python manage.py migrate</a:t>
            </a:r>
          </a:p>
        </p:txBody>
      </p:sp>
      <p:sp>
        <p:nvSpPr>
          <p:cNvPr id="18" name="3">
            <a:extLst xmlns:a="http://schemas.openxmlformats.org/drawingml/2006/main">
              <a:ext uri="{FF2B5EF4-FFF2-40B4-BE49-F238E27FC236}">
                <a16:creationId xmlns:a16="http://schemas.microsoft.com/office/drawing/2014/main" id="{247820AE-6EAB-4162-9B97-E3329D70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5810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9" name="Create an admin account">
            <a:extLst xmlns:a="http://schemas.openxmlformats.org/drawingml/2006/main">
              <a:ext uri="{FF2B5EF4-FFF2-40B4-BE49-F238E27FC236}">
                <a16:creationId xmlns:a16="http://schemas.microsoft.com/office/drawing/2014/main" id="{D7C0EE47-CEDB-4D76-9920-50D436E3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724275"/>
            <a:ext cx="38385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Create an admin account</a:t>
            </a:r>
          </a:p>
        </p:txBody>
      </p:sp>
      <p:sp>
        <p:nvSpPr>
          <p:cNvPr id="20" name="python manage.py createsuperuser">
            <a:extLst xmlns:a="http://schemas.openxmlformats.org/drawingml/2006/main">
              <a:ext uri="{FF2B5EF4-FFF2-40B4-BE49-F238E27FC236}">
                <a16:creationId xmlns:a16="http://schemas.microsoft.com/office/drawing/2014/main" id="{E47A76F4-A1B9-46F9-91B9-8986C4C0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667125"/>
            <a:ext cx="5476875" cy="600075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23825" tIns="123825" rIns="123825" bIns="123825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13B57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13B57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213B57"/>
                </a:solidFill>
                <a:latin typeface="Consolas"/>
                <a:ea typeface="Consolas"/>
                <a:cs typeface="Consolas"/>
              </a:rPr>
              <a:t>python manage.py createsuperuser</a:t>
            </a:r>
          </a:p>
        </p:txBody>
      </p:sp>
      <p:sp>
        <p:nvSpPr>
          <p:cNvPr id="21" name="4">
            <a:extLst xmlns:a="http://schemas.openxmlformats.org/drawingml/2006/main">
              <a:ext uri="{FF2B5EF4-FFF2-40B4-BE49-F238E27FC236}">
                <a16:creationId xmlns:a16="http://schemas.microsoft.com/office/drawing/2014/main" id="{DE44F1DB-C368-4B0A-94BA-ADE2C526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5810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22" name="Start the application">
            <a:extLst xmlns:a="http://schemas.openxmlformats.org/drawingml/2006/main">
              <a:ext uri="{FF2B5EF4-FFF2-40B4-BE49-F238E27FC236}">
                <a16:creationId xmlns:a16="http://schemas.microsoft.com/office/drawing/2014/main" id="{F2B409B6-8A0B-4202-B3D6-82630F86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467225"/>
            <a:ext cx="38385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Start the application</a:t>
            </a:r>
          </a:p>
        </p:txBody>
      </p:sp>
      <p:sp>
        <p:nvSpPr>
          <p:cNvPr id="23" name="python manage.py runserver">
            <a:extLst xmlns:a="http://schemas.openxmlformats.org/drawingml/2006/main">
              <a:ext uri="{FF2B5EF4-FFF2-40B4-BE49-F238E27FC236}">
                <a16:creationId xmlns:a16="http://schemas.microsoft.com/office/drawing/2014/main" id="{97B15F06-0CA0-44BF-A58F-364E8114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410075"/>
            <a:ext cx="5476875" cy="600075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23825" tIns="123825" rIns="123825" bIns="123825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13B57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13B57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213B57"/>
                </a:solidFill>
                <a:latin typeface="Consolas"/>
                <a:ea typeface="Consolas"/>
                <a:cs typeface="Consolas"/>
              </a:rPr>
              <a:t>python manage.py runserver</a:t>
            </a:r>
          </a:p>
        </p:txBody>
      </p:sp>
      <p:sp>
        <p:nvSpPr>
          <p:cNvPr id="24" name="5">
            <a:extLst xmlns:a="http://schemas.openxmlformats.org/drawingml/2006/main">
              <a:ext uri="{FF2B5EF4-FFF2-40B4-BE49-F238E27FC236}">
                <a16:creationId xmlns:a16="http://schemas.microsoft.com/office/drawing/2014/main" id="{B1A6887C-476E-49B3-BDD4-1ED1A7FD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81600"/>
            <a:ext cx="5810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25" name="Open in the browser">
            <a:extLst xmlns:a="http://schemas.openxmlformats.org/drawingml/2006/main">
              <a:ext uri="{FF2B5EF4-FFF2-40B4-BE49-F238E27FC236}">
                <a16:creationId xmlns:a16="http://schemas.microsoft.com/office/drawing/2014/main" id="{3F7093E1-FA00-4278-B92E-B525CF57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210175"/>
            <a:ext cx="38385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Open in the browser</a:t>
            </a:r>
          </a:p>
        </p:txBody>
      </p:sp>
      <p:sp>
        <p:nvSpPr>
          <p:cNvPr id="26" name="http://127.0.0.1:8000/">
            <a:extLst xmlns:a="http://schemas.openxmlformats.org/drawingml/2006/main">
              <a:ext uri="{FF2B5EF4-FFF2-40B4-BE49-F238E27FC236}">
                <a16:creationId xmlns:a16="http://schemas.microsoft.com/office/drawing/2014/main" id="{91430DE8-FAC4-41DD-A7B4-A644C87B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5153025"/>
            <a:ext cx="5476875" cy="600075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12383">
            <a:solidFill>
              <a:srgbClr val="C7D4DE"/>
            </a:solidFill>
          </a:ln>
        </p:spPr>
        <p:txBody>
          <a:bodyPr xmlns:a="http://schemas.openxmlformats.org/drawingml/2006/main" lIns="123825" tIns="123825" rIns="123825" bIns="123825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13B57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13B57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213B57"/>
                </a:solidFill>
                <a:latin typeface="Consolas"/>
                <a:ea typeface="Consolas"/>
                <a:cs typeface="Consolas"/>
              </a:rPr>
              <a:t>http://127.0.0.1:8000/</a:t>
            </a:r>
          </a:p>
        </p:txBody>
      </p:sp>
      <p:sp>
        <p:nvSpPr>
          <p:cNvPr id="27" name="Run commands from the project folder after install">
            <a:extLst xmlns:a="http://schemas.openxmlformats.org/drawingml/2006/main">
              <a:ext uri="{FF2B5EF4-FFF2-40B4-BE49-F238E27FC236}">
                <a16:creationId xmlns:a16="http://schemas.microsoft.com/office/drawing/2014/main" id="{3D0AFB11-6499-44A1-BF8E-3F55FC68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62650"/>
            <a:ext cx="9686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Run commands from the project folder after installing Python 3.10+.</a:t>
            </a:r>
          </a:p>
        </p:txBody>
      </p:sp>
    </p:spTree>
    <p:extLst>
      <p:ext uri="{BB962C8B-B14F-4D97-AF65-F5344CB8AC3E}">
        <p14:creationId xmlns:p14="http://schemas.microsoft.com/office/powerpoint/2010/main" val="6026786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8156625-50B1-48D2-83F4-A42AB82441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62000"/>
            <a:ext cx="10515600" cy="66675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>
              <a:def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5. Demonstration</a:t>
            </a:r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855E9401-25AF-402D-B532-F8C748A4C7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8c3917fde747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2421" y="0"/>
            <a:ext cx="1751379" cy="815788"/>
          </a:xfrm>
          <a:prstGeom xmlns:a="http://schemas.openxmlformats.org/drawingml/2006/main" prst="rect">
            <a:avLst/>
          </a:prstGeom>
        </p:spPr>
      </p:pic>
      <p:sp>
        <p:nvSpPr>
          <p:cNvPr id="9" name="Footer Placeholder 8">
            <a:extLst xmlns:a="http://schemas.openxmlformats.org/drawingml/2006/main">
              <a:ext uri="{FF2B5EF4-FFF2-40B4-BE49-F238E27FC236}">
                <a16:creationId xmlns:a16="http://schemas.microsoft.com/office/drawing/2014/main" id="{D7A9610A-496C-4080-8CBA-E34702C1A0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Indian Institute of Information Technology Kottayam</a:t>
            </a:r>
          </a:p>
        </p:txBody>
      </p:sp>
      <p:sp>
        <p:nvSpPr>
          <p:cNvPr id="10" name="Slide Number Placeholder 9">
            <a:extLst xmlns:a="http://schemas.openxmlformats.org/drawingml/2006/main">
              <a:ext uri="{FF2B5EF4-FFF2-40B4-BE49-F238E27FC236}">
                <a16:creationId xmlns:a16="http://schemas.microsoft.com/office/drawing/2014/main" id="{8937F66A-F5A8-4774-93C6-4D1886D8F4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rPr sz="1600"/>
              <a:t>12</a:t>
            </a:fld>
            <a:endParaRPr sz="1600"/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1770D02-8F7E-465B-BDE6-D87B1488F07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Live demonstration sequence and expected results">
            <a:extLst xmlns:a="http://schemas.openxmlformats.org/drawingml/2006/main">
              <a:ext uri="{FF2B5EF4-FFF2-40B4-BE49-F238E27FC236}">
                <a16:creationId xmlns:a16="http://schemas.microsoft.com/office/drawing/2014/main" id="{901FB010-55FC-4686-8A1B-52AC856E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Live demonstration sequence and expected results</a:t>
            </a:r>
          </a:p>
        </p:txBody>
      </p:sp>
      <p:sp>
        <p:nvSpPr>
          <p:cNvPr id="12" name="01">
            <a:extLst xmlns:a="http://schemas.openxmlformats.org/drawingml/2006/main">
              <a:ext uri="{FF2B5EF4-FFF2-40B4-BE49-F238E27FC236}">
                <a16:creationId xmlns:a16="http://schemas.microsoft.com/office/drawing/2014/main" id="{3BB68E6C-9D9E-4C61-B752-86050E8B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685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3" name="Prepare">
            <a:extLst xmlns:a="http://schemas.openxmlformats.org/drawingml/2006/main">
              <a:ext uri="{FF2B5EF4-FFF2-40B4-BE49-F238E27FC236}">
                <a16:creationId xmlns:a16="http://schemas.microsoft.com/office/drawing/2014/main" id="{03C9A12A-B66F-4AE7-A355-28606B94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295525"/>
            <a:ext cx="22002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Prepare</a:t>
            </a:r>
          </a:p>
        </p:txBody>
      </p:sp>
      <p:sp>
        <p:nvSpPr>
          <p:cNvPr id="14" name="Create skills in Django Admin. Register a learner ">
            <a:extLst xmlns:a="http://schemas.openxmlformats.org/drawingml/2006/main">
              <a:ext uri="{FF2B5EF4-FFF2-40B4-BE49-F238E27FC236}">
                <a16:creationId xmlns:a16="http://schemas.microsoft.com/office/drawing/2014/main" id="{F1F0B9BE-BCDB-487B-8B85-02A5B144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86000"/>
            <a:ext cx="6991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Create skills in Django Admin. Register a learner and</a:t>
            </a:r>
          </a:p>
          <a:p xmlns:a="http://schemas.openxmlformats.org/drawingml/2006/main">
            <a:pPr algn="l">
              <a:defRPr sz="187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a mentor, then complete their profiles and roles.</a:t>
            </a:r>
          </a:p>
        </p:txBody>
      </p:sp>
      <p:sp>
        <p:nvSpPr>
          <p:cNvPr id="15" name="02">
            <a:extLst xmlns:a="http://schemas.openxmlformats.org/drawingml/2006/main">
              <a:ext uri="{FF2B5EF4-FFF2-40B4-BE49-F238E27FC236}">
                <a16:creationId xmlns:a16="http://schemas.microsoft.com/office/drawing/2014/main" id="{F10F268C-1881-4975-A752-57DA2D25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685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6" name="Discover">
            <a:extLst xmlns:a="http://schemas.openxmlformats.org/drawingml/2006/main">
              <a:ext uri="{FF2B5EF4-FFF2-40B4-BE49-F238E27FC236}">
                <a16:creationId xmlns:a16="http://schemas.microsoft.com/office/drawing/2014/main" id="{16C1139A-E5BE-415E-93E1-BA5C9EC5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71825"/>
            <a:ext cx="22002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Discover</a:t>
            </a:r>
          </a:p>
        </p:txBody>
      </p:sp>
      <p:sp>
        <p:nvSpPr>
          <p:cNvPr id="17" name="Open /mentors/, filter by skill and inspect the&#10;co">
            <a:extLst xmlns:a="http://schemas.openxmlformats.org/drawingml/2006/main">
              <a:ext uri="{FF2B5EF4-FFF2-40B4-BE49-F238E27FC236}">
                <a16:creationId xmlns:a16="http://schemas.microsoft.com/office/drawing/2014/main" id="{2D48A710-3C88-4680-8ED0-4C367E1B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62300"/>
            <a:ext cx="6991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Open /mentors/, filter by skill and inspect the</a:t>
            </a:r>
          </a:p>
          <a:p xmlns:a="http://schemas.openxmlformats.org/drawingml/2006/main">
            <a:pPr algn="l">
              <a:defRPr sz="187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compatibility breakdown before sending a request.</a:t>
            </a:r>
          </a:p>
        </p:txBody>
      </p:sp>
      <p:sp>
        <p:nvSpPr>
          <p:cNvPr id="18" name="03">
            <a:extLst xmlns:a="http://schemas.openxmlformats.org/drawingml/2006/main">
              <a:ext uri="{FF2B5EF4-FFF2-40B4-BE49-F238E27FC236}">
                <a16:creationId xmlns:a16="http://schemas.microsoft.com/office/drawing/2014/main" id="{86604887-6B59-4FB7-8FA2-4F8F75D5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685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9" name="Collaborate">
            <a:extLst xmlns:a="http://schemas.openxmlformats.org/drawingml/2006/main">
              <a:ext uri="{FF2B5EF4-FFF2-40B4-BE49-F238E27FC236}">
                <a16:creationId xmlns:a16="http://schemas.microsoft.com/office/drawing/2014/main" id="{CD93174A-DF04-431D-B9B4-0FBAB7EF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48125"/>
            <a:ext cx="22002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Collaborate</a:t>
            </a:r>
          </a:p>
        </p:txBody>
      </p:sp>
      <p:sp>
        <p:nvSpPr>
          <p:cNvPr id="20" name="Accept the request. Add a session and milestone,&#10;t">
            <a:extLst xmlns:a="http://schemas.openxmlformats.org/drawingml/2006/main">
              <a:ext uri="{FF2B5EF4-FFF2-40B4-BE49-F238E27FC236}">
                <a16:creationId xmlns:a16="http://schemas.microsoft.com/office/drawing/2014/main" id="{0D5B8963-946E-4350-AFF8-8D6ECA60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38600"/>
            <a:ext cx="6991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Accept the request. Add a session and milestone,</a:t>
            </a:r>
          </a:p>
          <a:p xmlns:a="http://schemas.openxmlformats.org/drawingml/2006/main">
            <a:pPr algn="l">
              <a:defRPr sz="187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then mark each complete and share a resource.</a:t>
            </a:r>
          </a:p>
        </p:txBody>
      </p:sp>
      <p:sp>
        <p:nvSpPr>
          <p:cNvPr id="21" name="04">
            <a:extLst xmlns:a="http://schemas.openxmlformats.org/drawingml/2006/main">
              <a:ext uri="{FF2B5EF4-FFF2-40B4-BE49-F238E27FC236}">
                <a16:creationId xmlns:a16="http://schemas.microsoft.com/office/drawing/2014/main" id="{DA49B2AB-1E91-4CFD-91B2-4A15F5DC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85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38B5D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38B5D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2" name="Verify">
            <a:extLst xmlns:a="http://schemas.openxmlformats.org/drawingml/2006/main">
              <a:ext uri="{FF2B5EF4-FFF2-40B4-BE49-F238E27FC236}">
                <a16:creationId xmlns:a16="http://schemas.microsoft.com/office/drawing/2014/main" id="{07AF8CC8-04C9-4F8A-BAF5-DDB510DD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924425"/>
            <a:ext cx="22002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13B57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13B57"/>
                </a:solidFill>
                <a:latin typeface="Segoe UI"/>
                <a:ea typeface="Segoe UI"/>
                <a:cs typeface="Segoe UI"/>
              </a:rPr>
              <a:t>Verify</a:t>
            </a:r>
          </a:p>
        </p:txBody>
      </p:sp>
      <p:sp>
        <p:nvSpPr>
          <p:cNvPr id="23" name="Check progress and the wallet ledger. Submit feedb">
            <a:extLst xmlns:a="http://schemas.openxmlformats.org/drawingml/2006/main">
              <a:ext uri="{FF2B5EF4-FFF2-40B4-BE49-F238E27FC236}">
                <a16:creationId xmlns:a16="http://schemas.microsoft.com/office/drawing/2014/main" id="{40433153-4D72-4D94-B085-49C42AC3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14900"/>
            <a:ext cx="6991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Check progress and the wallet ledger. Submit feedback,</a:t>
            </a:r>
          </a:p>
          <a:p xmlns:a="http://schemas.openxmlformats.org/drawingml/2006/main">
            <a:pPr algn="l">
              <a:defRPr sz="1875" b="0">
                <a:solidFill>
                  <a:srgbClr val="596B7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B7C"/>
                </a:solidFill>
                <a:latin typeface="Segoe UI"/>
                <a:ea typeface="Segoe UI"/>
                <a:cs typeface="Segoe UI"/>
              </a:rPr>
              <a:t>complete the mentorship and print its certificate.</a:t>
            </a:r>
          </a:p>
        </p:txBody>
      </p:sp>
      <p:sp>
        <p:nvSpPr>
          <p:cNvPr id="24" name="Validation command">
            <a:extLst xmlns:a="http://schemas.openxmlformats.org/drawingml/2006/main">
              <a:ext uri="{FF2B5EF4-FFF2-40B4-BE49-F238E27FC236}">
                <a16:creationId xmlns:a16="http://schemas.microsoft.com/office/drawing/2014/main" id="{1B109856-4B70-4222-ABA3-80D5D3EC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57875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676A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676A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676AD"/>
                </a:solidFill>
                <a:latin typeface="Segoe UI"/>
                <a:ea typeface="Segoe UI"/>
                <a:cs typeface="Segoe UI"/>
              </a:rPr>
              <a:t>Validation command</a:t>
            </a:r>
          </a:p>
        </p:txBody>
      </p:sp>
      <p:sp>
        <p:nvSpPr>
          <p:cNvPr id="25" name="python manage.py test">
            <a:extLst xmlns:a="http://schemas.openxmlformats.org/drawingml/2006/main">
              <a:ext uri="{FF2B5EF4-FFF2-40B4-BE49-F238E27FC236}">
                <a16:creationId xmlns:a16="http://schemas.microsoft.com/office/drawing/2014/main" id="{1EA23F73-6968-484B-A397-0C4FBA10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857875"/>
            <a:ext cx="699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13B57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13B57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13B57"/>
                </a:solidFill>
                <a:latin typeface="Consolas"/>
                <a:ea typeface="Consolas"/>
                <a:cs typeface="Consolas"/>
              </a:rPr>
              <a:t>python manage.py test</a:t>
            </a:r>
          </a:p>
        </p:txBody>
      </p:sp>
    </p:spTree>
    <p:extLst>
      <p:ext uri="{BB962C8B-B14F-4D97-AF65-F5344CB8AC3E}">
        <p14:creationId xmlns:p14="http://schemas.microsoft.com/office/powerpoint/2010/main" val="60267862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2026-10-11T20:17:21.9850000Z</dcterms:created>
  <dcterms:modified xsi:type="dcterms:W3CDTF">2026-10-11T20:17:21.9860000Z</dcterms:modified>
</coreProperties>
</file>