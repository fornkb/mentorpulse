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20e659ca714538" /><Relationship Type="http://schemas.openxmlformats.org/officeDocument/2006/relationships/extended-properties" Target="/docProps/app.xml" Id="Rb11bbf22dccd478a" /><Relationship Type="http://schemas.openxmlformats.org/officeDocument/2006/relationships/officeDocument" Target="/ppt/presentation.xml" Id="R9ef439ab60d4412b" /></Relationships>
</file>

<file path=ppt/presentation.xml><?xml version="1.0" encoding="utf-8"?>
<p:presentation xmlns:p="http://schemas.openxmlformats.org/presentationml/2006/main">
  <p:sldMasterIdLst>
    <p:sldMasterId xmlns:r="http://schemas.openxmlformats.org/officeDocument/2006/relationships" id="2147483648" r:id="R86c8bbc503294383"/>
  </p:sldMasterIdLst>
  <p:notesMasterIdLst>
    <p:notesMasterId xmlns:r="http://schemas.openxmlformats.org/officeDocument/2006/relationships" r:id="R3c8a808161484629"/>
  </p:notesMasterIdLst>
  <p:sldIdLst>
    <p:sldId xmlns:r="http://schemas.openxmlformats.org/officeDocument/2006/relationships" id="256" r:id="R82f8ea9752d1490c"/>
    <p:sldId xmlns:r="http://schemas.openxmlformats.org/officeDocument/2006/relationships" id="257" r:id="R29998a16effd4eba"/>
    <p:sldId xmlns:r="http://schemas.openxmlformats.org/officeDocument/2006/relationships" id="258" r:id="R1cc4066ab428421a"/>
    <p:sldId xmlns:r="http://schemas.openxmlformats.org/officeDocument/2006/relationships" id="259" r:id="Ra6d4344624c54ba3"/>
    <p:sldId xmlns:r="http://schemas.openxmlformats.org/officeDocument/2006/relationships" id="260" r:id="R5b3aa9e7ae884eae"/>
    <p:sldId xmlns:r="http://schemas.openxmlformats.org/officeDocument/2006/relationships" id="261" r:id="R2c6f3106ff5e4e6c"/>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b4dffc8843d44fb" /><Relationship Type="http://schemas.openxmlformats.org/officeDocument/2006/relationships/slideMaster" Target="/ppt/slideMasters/slideMaster1.xml" Id="R86c8bbc503294383" /><Relationship Type="http://schemas.openxmlformats.org/officeDocument/2006/relationships/notesMaster" Target="/ppt/notesMasters/notesMaster1.xml" Id="R3c8a808161484629" /><Relationship Type="http://schemas.openxmlformats.org/officeDocument/2006/relationships/presProps" Target="/ppt/presProps.xml" Id="R7fe599fc4b9946b6" /><Relationship Type="http://schemas.openxmlformats.org/officeDocument/2006/relationships/viewProps" Target="/ppt/viewProps.xml" Id="Rea854940a6c04249" /><Relationship Type="http://schemas.openxmlformats.org/officeDocument/2006/relationships/tableStyles" Target="/ppt/tableStyles.xml" Id="Rb0084d801a604a6d" /><Relationship Type="http://schemas.openxmlformats.org/officeDocument/2006/relationships/slide" Target="/ppt/slides/slide1.xml" Id="R82f8ea9752d1490c" /><Relationship Type="http://schemas.openxmlformats.org/officeDocument/2006/relationships/slide" Target="/ppt/slides/slide2.xml" Id="R29998a16effd4eba" /><Relationship Type="http://schemas.openxmlformats.org/officeDocument/2006/relationships/slide" Target="/ppt/slides/slide3.xml" Id="R1cc4066ab428421a" /><Relationship Type="http://schemas.openxmlformats.org/officeDocument/2006/relationships/slide" Target="/ppt/slides/slide4.xml" Id="Ra6d4344624c54ba3" /><Relationship Type="http://schemas.openxmlformats.org/officeDocument/2006/relationships/slide" Target="/ppt/slides/slide5.xml" Id="R5b3aa9e7ae884eae" /><Relationship Type="http://schemas.openxmlformats.org/officeDocument/2006/relationships/slide" Target="/ppt/slides/slide6.xml" Id="R2c6f3106ff5e4e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4b67804a5a46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0f0daa0ab0414b" /><Relationship Type="http://schemas.openxmlformats.org/officeDocument/2006/relationships/notesMaster" Target="/ppt/notesMasters/notesMaster1.xml" Id="R56491ea99a6a4d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4bbc0bd2b74f27" /><Relationship Type="http://schemas.openxmlformats.org/officeDocument/2006/relationships/notesMaster" Target="/ppt/notesMasters/notesMaster1.xml" Id="R36327ebf157641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f6de35b114435e" /><Relationship Type="http://schemas.openxmlformats.org/officeDocument/2006/relationships/notesMaster" Target="/ppt/notesMasters/notesMaster1.xml" Id="R28c8c6845bf245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041083158a4e4f" /><Relationship Type="http://schemas.openxmlformats.org/officeDocument/2006/relationships/notesMaster" Target="/ppt/notesMasters/notesMaster1.xml" Id="Rbfc7a070d29e49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c4f41d2e434b1d" /><Relationship Type="http://schemas.openxmlformats.org/officeDocument/2006/relationships/notesMaster" Target="/ppt/notesMasters/notesMaster1.xml" Id="R0f24ce3722b04f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f2f519583342ac" /><Relationship Type="http://schemas.openxmlformats.org/officeDocument/2006/relationships/notesMaster" Target="/ppt/notesMasters/notesMaster1.xml" Id="Raeeb945d5b2045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MentorPulse: skill-based mentor matching and progress tracking. Team names follow the supplied presentation. Local demonstration project with five Django domain apps.</a:t>
            </a:r>
            <a:endParaRPr/>
          </a:p>
          <a:p xmlns:a="http://schemas.openxmlformats.org/drawingml/2006/main">
            <a:r>
              <a:t/>
            </a:r>
            <a:endParaRPr/>
          </a:p>
          <a:p xmlns:a="http://schemas.openxmlformats.org/drawingml/2006/main">
            <a:r>
              <a:t>Project sources reviewed 12 October 2026:</a:t>
            </a:r>
            <a:endParaRPr/>
          </a:p>
          <a:p xmlns:a="http://schemas.openxmlformats.org/drawingml/2006/main">
            <a:r>
              <a:t>C:\Users\babur\OneDrive\Desktop\MentorPulse\MentorPulse\README.md</a:t>
            </a:r>
            <a:endParaRPr/>
          </a:p>
          <a:p xmlns:a="http://schemas.openxmlformats.org/drawingml/2006/main">
            <a:r>
              <a:t>C:\Users\babur\OneDrive\Desktop\MentorPulse\MentorPulse\MentorPulse_Project_Description.md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Matching is deterministic, not a trained AI model. Availability and experience use discrete rules. Notifications and leaderboard updates are synchronous application events, not pushed real-time updates. Certificates exist in the current implementation. Executed python manage.py test --noinput on 12 October 2026: 53 tests passed, no system check issues.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C:\Users\babur\OneDrive\Desktop\MentorPulse\MentorPulse\matching\services.py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C:\Users\babur\OneDrive\Desktop\MentorPulse\MentorPulse\notifications\services.py</a:t>
            </a:r>
            <a:endParaRPr/>
          </a:p>
          <a:p xmlns:a="http://schemas.openxmlformats.org/drawingml/2006/main">
            <a:pPr algn="l">
              <a:buNone/>
            </a:pPr>
            <a:r>
              <a:t>C:\Users\babur\OneDrive\Desktop\MentorPulse\MentorPulse\requirements.txt</a:t>
            </a:r>
            <a:endParaRPr/>
          </a:p>
          <a:p xmlns:a="http://schemas.openxmlformats.org/drawingml/2006/main">
            <a:pPr algn="l">
              <a:buNone/>
            </a:pPr>
            <a:r>
              <a:t>C:\Users\babur\OneDrive\Desktop\MentorPulse\MentorPulse\README.md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These are project motivations and objectives, not quantified results from a user study. The current implementation supports Mentor and Learner roles simultaneously through separate RoleAssignment records. Standard mentorship flow: discover, request, accept or reject, collaborate, complete.</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C:\Users\babur\OneDrive\Desktop\MentorPulse\MentorPulse\MentorPulse_Project_Description.md</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C:\Users\babur\OneDrive\Desktop\MentorPulse\MentorPulse\mentorship\views.py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Credit rules in current code: +50 starting credits, -10 for a standard request, -15 total for priority, +10 to mentor per completed session, request fee refunded on rejection/cancellation. Badge thresholds: First Steps one completed mentorship, Committed Mentor two completed as mentor, Rising Star skill_score &gt;=8.0, Top Rated average &gt;=4.5 with at least one review, Helpful Hand at least two resources. Leaderboard = skill_score*10 + credit_balance*0.5 + badge_count*15. Extension allowlist: .pdf, .png, .jpg, .jpeg, .txt, .docx and .doc, limit 10 MiB. Development settings and demo switching require hardening before production.</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C:\Users\babur\OneDrive\Desktop\MentorPulse\MentorPulse\mentorship\forms.py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C:\Users\babur\OneDrive\Desktop\MentorPulse\MentorPulse\mentorpulse\settings.py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Single Django project, not microservices. User authentication uses Django auth, extended by Profile and RoleAssignment. Credit is a wallet model, not an authentication model. Profile has a many-to-many relationship with Skill. Mentorship references two Users and one Progress record, with related Session, Milestone, Resource and DiscussionPost records. Gamification owns Credit, CreditTransaction, Feedback, Badge, UserBadge and LeaderboardEntry. Notification belongs to User. Services run synchronously in HTTP handlers. No Celery, Redis, payment gateway, video API or calendar sync exists. External meeting URLs support session records.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C:\Users\babur\OneDrive\Desktop\MentorPulse\MentorPulse\mentorpulse\settings.py</a:t>
            </a:r>
            <a:endParaRPr/>
          </a:p>
          <a:p xmlns:a="http://schemas.openxmlformats.org/drawingml/2006/main">
            <a:pPr algn="l">
              <a:buNone/>
            </a:pPr>
            <a:r>
              <a:t>C:\Users\babur\OneDrive\Desktop\MentorPulse\MentorPulse\mentorpulse\urls.py</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C:\Users\babur\OneDrive\Desktop\MentorPulse\MentorPulse\gamification\models.py</a:t>
            </a:r>
            <a:endParaRPr/>
          </a:p>
          <a:p xmlns:a="http://schemas.openxmlformats.org/drawingml/2006/main">
            <a:pPr algn="l">
              <a:buNone/>
            </a:pPr>
            <a:r>
              <a:t>C:\Users\babur\OneDrive\Desktop\MentorPulse\MentorPulse\notifications\models.py</a:t>
            </a:r>
            <a:endParaRPr/>
          </a:p>
          <a:p xmlns:a="http://schemas.openxmlformats.org/drawingml/2006/main">
            <a:pPr algn="l">
              <a:buNone/>
            </a:pPr>
            <a:r>
              <a:t>C:\Users\babur\OneDrive\Desktop\MentorPulse\MentorPulse\templates\base.html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Live demo uses fictional seeded accounts. Active pair: Sarah Connor and Alex Rivera. Progress = 70*(2/3 completed milestones) + 30*(1/2 completed sessions) =61.7%. Workspace rounds this to 62% in its display. The README and old presentation say 67%, which does not match the implemented weighted formula. Completed pair: Marcus Vance and Priya Sharma, 100% and certificate. Jordan Lee has a priority pending request to Sarah Connor costing 15 credits. Setup: pip install -r requirements.txt, python manage.py migrate, python manage.py seed_demo_data, python manage.py runserver. Windows debug.bat/run_demo.bat automate setup. Seeder rebuilds demo data. Tests: python manage.py test --noinput, 53 passed on 12 October 2026. Per-app counts: accounts12, matching10, mentorship7, gamification18, notifications6. Credit/refund and session rewards include duplicate guards but lack atomic database transactions. Marking a mentorship COMPLETED forces 100% regardless of checklist completion, so certificates indicate workflow completion rather than independently assessed mastery.</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C:\Users\babur\OneDrive\Desktop\MentorPulse\MentorPulse\accounts\management\commands\seed_demo_data.py</a:t>
            </a:r>
            <a:endParaRPr/>
          </a:p>
          <a:p xmlns:a="http://schemas.openxmlformats.org/drawingml/2006/main">
            <a:pPr algn="l">
              <a:buNone/>
            </a:pPr>
            <a:r>
              <a:t>C:\Users\babur\OneDrive\Desktop\MentorPulse\MentorPulse\accounts\views.py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C:\Users\babur\OneDrive\Desktop\MentorPulse\MentorPulse\templates\mentorship\workspace.html</a:t>
            </a:r>
            <a:endParaRPr/>
          </a:p>
          <a:p xmlns:a="http://schemas.openxmlformats.org/drawingml/2006/main">
            <a:pPr algn="l">
              <a:buNone/>
            </a:pPr>
            <a:r>
              <a:t>C:\Users\babur\OneDrive\Desktop\MentorPulse\MentorPulse\mentorship\views.py</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C:\Users\babur\OneDrive\Desktop\MentorPulse\MentorPulse\run_demo.bat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76aba36cc74f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873b0f64834e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e05b0cb0ef4f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6ced46c86341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18c9d5080440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da84dddaa74ea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6858ea1f2bd480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f9010aac6204e9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dc9f058d4ec4e6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6528e7cbcd34f5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a71683bf7f446e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29B47E-7FD2-4F7F-9381-C4308D25873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112F421-AC29-47BD-8892-41909CF195D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79CFB46-51B2-43F8-B3E5-F10413A22C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1E93CC8D-DF4F-4537-888A-8EE6EA88B2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E83F124-D10F-42EF-94F2-7FBC9565EA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AFAF84-1226-4033-A36F-9CBF8F50CB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0402083-37E7-4972-9BD5-DD44F1A3C5A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232F544-050C-4AB9-9095-D9D49AAD20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39DA83C4-112A-4972-9490-E0C0BFDA0B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A97559D-8902-4FE2-8DC9-183BD5B086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71EF2A-5C6B-4555-B136-8C1C3CF3E75F}"/>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BA2A057-50B5-4DD0-8F0A-F2D8D5D2BCA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3C4B264-D1AA-42A0-AFED-4F6CAB8BF1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0207B74F-FC03-4A6C-A8E2-A0A5389178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1910F8-597D-4792-BAC8-A78F4A425F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6D0B0B-FB76-4571-8977-8B3C08C5D6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CF7BF79-B272-4FC4-9106-632C8D23CA0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08AF5FA-67E8-4EBE-A468-53B751D6CDD3}"/>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37AA619-C884-49E4-BAB7-9893F92202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2075F6F1-CD3D-4683-B56A-CA4563B568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2C63B8C-7D18-4E19-8978-D5C6EBA987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877B01-8C23-4336-B1C3-FF72D68AADC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BB695C1-E1E9-4A98-937E-ED1C020AD22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0D75512-181D-4D77-8CAF-A5144E14BFA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C35E4DC-DF2F-4F4A-8F3F-9A0A93E622A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82C58E7-FA62-4552-96A3-2A9903386077}"/>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998AE32-9603-437D-8BF7-0E77546FC8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8" name="Footer Placeholder 7">
            <a:extLst xmlns:a="http://schemas.openxmlformats.org/drawingml/2006/main">
              <a:ext uri="{FF2B5EF4-FFF2-40B4-BE49-F238E27FC236}">
                <a16:creationId xmlns:a16="http://schemas.microsoft.com/office/drawing/2014/main" id="{A701969E-3CD1-4F9E-A7E7-B9B4EF8A0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597F010-A6F0-4DF8-A842-5E31FC018D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8E5A20-2A9F-4D6C-943E-3346E4B880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5866C692-C827-4E55-AFA5-76012CD1DA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4" name="Footer Placeholder 3">
            <a:extLst xmlns:a="http://schemas.openxmlformats.org/drawingml/2006/main">
              <a:ext uri="{FF2B5EF4-FFF2-40B4-BE49-F238E27FC236}">
                <a16:creationId xmlns:a16="http://schemas.microsoft.com/office/drawing/2014/main" id="{C49F3284-9696-48B8-984D-EF44AFF57A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E3B2182-6056-4315-85AF-6B170A3BD3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23127D1-DB28-4E2E-AB99-81CE7B31D5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3" name="Footer Placeholder 2">
            <a:extLst xmlns:a="http://schemas.openxmlformats.org/drawingml/2006/main">
              <a:ext uri="{FF2B5EF4-FFF2-40B4-BE49-F238E27FC236}">
                <a16:creationId xmlns:a16="http://schemas.microsoft.com/office/drawing/2014/main" id="{B6D74E91-7F9D-445A-9D5A-D936D47F61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DF7EE57-433A-40AE-9D93-D33BBB3E71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75A1A1-4F5E-44F9-B94A-C250BE55519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90D6C8D-A700-4FCE-B56C-3A9ABC2F10A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410EC8-7B17-4C9B-9964-44916E02199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1220A7F-94E3-4E5B-BFA0-48322E2FCD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27E378A7-2C2A-4383-8653-F4DA3178C6C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888D93A-9480-4E63-8798-CD24AF0A91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EF6621-ECC8-4152-9057-81E2FDAEC23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693B2BEA-9AD4-4A0C-A422-54C36BB8401B}"/>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6126CA7-371A-43DB-8F97-FAC204E2255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E1BBC57-3C07-4506-B4A1-832FDC2AC2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751FE5C9-2CC7-4F1D-BC56-0A551A41B6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B8682B3-FAFE-491A-8C8A-4FCDBD771F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254D76-6DBE-44B7-BA10-CABAE4DC19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ED751C6-4C65-4D0C-803C-D873E75728A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7E3335A-CD1D-48A4-BBF1-DFE274F90F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C2ED7192-B6E0-4D23-B0F4-2ED81C2414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E35068-BFD5-4BFC-983A-200964FB6D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9EE84AD-9F49-48BE-9C47-E797DEF60337}"/>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1AD3D05-FE87-4F0F-8AD2-D3A0256B3B3E}"/>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B5D02F6-DF5D-4A18-81E3-7798A49C0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CAB3DD7E-1A38-4F0A-8410-AFE04DC7FD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6FA0932-B146-44C0-800B-F7D153BAA7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cd7af63f43445b" /><Relationship Type="http://schemas.openxmlformats.org/officeDocument/2006/relationships/slideLayout" Target="/ppt/slideLayouts/slideLayout1.xml" Id="Re7af20acb35b4158" /><Relationship Type="http://schemas.openxmlformats.org/officeDocument/2006/relationships/slideLayout" Target="/ppt/slideLayouts/slideLayout2.xml" Id="R2be6302dc65e48e2" /><Relationship Type="http://schemas.openxmlformats.org/officeDocument/2006/relationships/slideLayout" Target="/ppt/slideLayouts/slideLayout3.xml" Id="Reaac0528f6b64ed7" /><Relationship Type="http://schemas.openxmlformats.org/officeDocument/2006/relationships/slideLayout" Target="/ppt/slideLayouts/slideLayout4.xml" Id="R308ba1e84a1844ab" /><Relationship Type="http://schemas.openxmlformats.org/officeDocument/2006/relationships/slideLayout" Target="/ppt/slideLayouts/slideLayout5.xml" Id="R090a82139e7e48de" /><Relationship Type="http://schemas.openxmlformats.org/officeDocument/2006/relationships/slideLayout" Target="/ppt/slideLayouts/slideLayout6.xml" Id="R55003375cbcc4cca" /><Relationship Type="http://schemas.openxmlformats.org/officeDocument/2006/relationships/slideLayout" Target="/ppt/slideLayouts/slideLayout7.xml" Id="Rd7bc7518756f442f" /><Relationship Type="http://schemas.openxmlformats.org/officeDocument/2006/relationships/slideLayout" Target="/ppt/slideLayouts/slideLayout8.xml" Id="R39f36decac5349e2" /><Relationship Type="http://schemas.openxmlformats.org/officeDocument/2006/relationships/slideLayout" Target="/ppt/slideLayouts/slideLayout9.xml" Id="Rabcb7bb7546e4abe" /><Relationship Type="http://schemas.openxmlformats.org/officeDocument/2006/relationships/slideLayout" Target="/ppt/slideLayouts/slideLayout10.xml" Id="Rbaa72de26773455d" /><Relationship Type="http://schemas.openxmlformats.org/officeDocument/2006/relationships/slideLayout" Target="/ppt/slideLayouts/slideLayout11.xml" Id="R5afa3ec5f0e54df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C695D76-3F76-4440-BE44-E11DC8D0995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1A57BFB-E7FD-43C8-A3D2-454449D5C4F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CD78B87-4569-4FAE-AC1E-60B780FF435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D429C498-524F-43DB-8E60-5093D891D82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ACA8424-BFE9-4B1D-B213-4F570AB349AE}"/>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5B8702D1-3802-43A1-9CC1-AD6315A316D9}"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af20acb35b4158"/>
    <p:sldLayoutId xmlns:r="http://schemas.openxmlformats.org/officeDocument/2006/relationships" id="2147483650" r:id="R2be6302dc65e48e2"/>
    <p:sldLayoutId xmlns:r="http://schemas.openxmlformats.org/officeDocument/2006/relationships" id="2147483651" r:id="Reaac0528f6b64ed7"/>
    <p:sldLayoutId xmlns:r="http://schemas.openxmlformats.org/officeDocument/2006/relationships" id="2147483652" r:id="R308ba1e84a1844ab"/>
    <p:sldLayoutId xmlns:r="http://schemas.openxmlformats.org/officeDocument/2006/relationships" id="2147483653" r:id="R090a82139e7e48de"/>
    <p:sldLayoutId xmlns:r="http://schemas.openxmlformats.org/officeDocument/2006/relationships" id="2147483654" r:id="R55003375cbcc4cca"/>
    <p:sldLayoutId xmlns:r="http://schemas.openxmlformats.org/officeDocument/2006/relationships" id="2147483655" r:id="Rd7bc7518756f442f"/>
    <p:sldLayoutId xmlns:r="http://schemas.openxmlformats.org/officeDocument/2006/relationships" id="2147483656" r:id="R39f36decac5349e2"/>
    <p:sldLayoutId xmlns:r="http://schemas.openxmlformats.org/officeDocument/2006/relationships" id="2147483657" r:id="Rabcb7bb7546e4abe"/>
    <p:sldLayoutId xmlns:r="http://schemas.openxmlformats.org/officeDocument/2006/relationships" id="2147483658" r:id="Rbaa72de26773455d"/>
    <p:sldLayoutId xmlns:r="http://schemas.openxmlformats.org/officeDocument/2006/relationships" id="2147483659" r:id="R5afa3ec5f0e54df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1b8c522a3545d5" /><Relationship Type="http://schemas.openxmlformats.org/officeDocument/2006/relationships/image" Target="/ppt/media/image.jpeg" Id="R608897131d384fae" /><Relationship Type="http://schemas.openxmlformats.org/officeDocument/2006/relationships/notesSlide" Target="/ppt/notesSlides/notesSlide1.xml" Id="R07ffe1104f964c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65d1a05632a493d" /><Relationship Type="http://schemas.openxmlformats.org/officeDocument/2006/relationships/image" Target="/ppt/media/image.jpeg" Id="R38a4f0cd12944ddf" /><Relationship Type="http://schemas.openxmlformats.org/officeDocument/2006/relationships/notesSlide" Target="/ppt/notesSlides/notesSlide2.xml" Id="Rc9a94b9248454b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f3d55479bb04512" /><Relationship Type="http://schemas.openxmlformats.org/officeDocument/2006/relationships/image" Target="/ppt/media/image.jpeg" Id="Rc0d499e33b2044c7" /><Relationship Type="http://schemas.openxmlformats.org/officeDocument/2006/relationships/notesSlide" Target="/ppt/notesSlides/notesSlide3.xml" Id="R2c994a5f38ff4c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2c7af58e91d4fe8" /><Relationship Type="http://schemas.openxmlformats.org/officeDocument/2006/relationships/image" Target="/ppt/media/image.jpeg" Id="R8cdcbd1a3bfb42ca" /><Relationship Type="http://schemas.openxmlformats.org/officeDocument/2006/relationships/notesSlide" Target="/ppt/notesSlides/notesSlide4.xml" Id="Rc78b2a8dd0ac47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98529f120204f16" /><Relationship Type="http://schemas.openxmlformats.org/officeDocument/2006/relationships/image" Target="/ppt/media/image.jpeg" Id="Rb72fe509075b4ce8" /><Relationship Type="http://schemas.openxmlformats.org/officeDocument/2006/relationships/notesSlide" Target="/ppt/notesSlides/notesSlide5.xml" Id="Rdfc4323d33a743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e1066337e664926" /><Relationship Type="http://schemas.openxmlformats.org/officeDocument/2006/relationships/image" Target="/ppt/media/image.jpeg" Id="R8e0b460c1b9f4b38" /><Relationship Type="http://schemas.openxmlformats.org/officeDocument/2006/relationships/image" Target="/ppt/media/image.png" Id="R6c4b3ef6b68e45d2" /><Relationship Type="http://schemas.openxmlformats.org/officeDocument/2006/relationships/notesSlide" Target="/ppt/notesSlides/notesSlide6.xml" Id="R74ba069e7e24434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65F170-D4EE-4FB4-A255-30E076367C79}"/>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MentorPulse</a:t>
            </a:r>
          </a:p>
        </p:txBody>
      </p:sp>
      <p:sp>
        <p:nvSpPr>
          <p:cNvPr id="3" name="Subtitle 2">
            <a:extLst xmlns:a="http://schemas.openxmlformats.org/drawingml/2006/main">
              <a:ext uri="{FF2B5EF4-FFF2-40B4-BE49-F238E27FC236}">
                <a16:creationId xmlns:a16="http://schemas.microsoft.com/office/drawing/2014/main" id="{275A61E2-2AB2-4087-B881-F995E7E63345}"/>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rPr sz="2800"/>
              <a:t>BY</a:t>
            </a:r>
          </a:p>
          <a:p xmlns:a="http://schemas.openxmlformats.org/drawingml/2006/main">
            <a:r>
              <a:rPr sz="2800" i="1"/>
              <a:t>Navaneeth Krishna, Shivamshi Ullas</a:t>
            </a:r>
          </a:p>
          <a:p xmlns:a="http://schemas.openxmlformats.org/drawingml/2006/main">
            <a:r>
              <a:t>Chandhana, Prakshitha Pradeep</a:t>
            </a:r>
            <a:endParaRPr/>
          </a:p>
        </p:txBody>
      </p:sp>
      <p:pic>
        <p:nvPicPr>
          <p:cNvPr id="5" name="Picture 4">
            <a:extLst xmlns:a="http://schemas.openxmlformats.org/drawingml/2006/main">
              <a:ext uri="{FF2B5EF4-FFF2-40B4-BE49-F238E27FC236}">
                <a16:creationId xmlns:a16="http://schemas.microsoft.com/office/drawing/2014/main" id="{168AD225-0CEF-4A85-A234-EA729D5F65DB}"/>
              </a:ext>
            </a:extLst>
          </p:cNvPr>
          <p:cNvPicPr>
            <a:picLocks xmlns:a="http://schemas.openxmlformats.org/drawingml/2006/main" noChangeAspect="1"/>
          </p:cNvPicPr>
          <p:nvPr/>
        </p:nvPicPr>
        <p:blipFill>
          <a:blip xmlns:r="http://schemas.openxmlformats.org/officeDocument/2006/relationships" xmlns:a="http://schemas.openxmlformats.org/drawingml/2006/main" r:embed="R608897131d384fae"/>
          <a:stretch xmlns:a="http://schemas.openxmlformats.org/drawingml/2006/main">
            <a:fillRect l="0" t="0" r="0" b="0"/>
          </a:stretch>
        </p:blipFill>
        <p:spPr>
          <a:xfrm xmlns:a="http://schemas.openxmlformats.org/drawingml/2006/main">
            <a:off x="9602421" y="23813"/>
            <a:ext cx="1751379" cy="815788"/>
          </a:xfrm>
          <a:prstGeom xmlns:a="http://schemas.openxmlformats.org/drawingml/2006/main" prst="rect">
            <a:avLst/>
          </a:prstGeom>
        </p:spPr>
      </p:pic>
      <p:sp>
        <p:nvSpPr>
          <p:cNvPr id="7" name="Footer Placeholder 6">
            <a:extLst xmlns:a="http://schemas.openxmlformats.org/drawingml/2006/main">
              <a:ext uri="{FF2B5EF4-FFF2-40B4-BE49-F238E27FC236}">
                <a16:creationId xmlns:a16="http://schemas.microsoft.com/office/drawing/2014/main" id="{11DEC667-D99C-410C-A21A-EDF0BE2153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6" name="Subtitle 2">
            <a:extLst xmlns:a="http://schemas.openxmlformats.org/drawingml/2006/main">
              <a:ext uri="{FF2B5EF4-FFF2-40B4-BE49-F238E27FC236}">
                <a16:creationId xmlns:a16="http://schemas.microsoft.com/office/drawing/2014/main" id="{6594F610-B8A9-4966-813E-A0BC3537DD76}"/>
              </a:ext>
            </a:extLst>
          </p:cNvPr>
          <p:cNvSpPr>
            <a:spLocks xmlns:a="http://schemas.openxmlformats.org/drawingml/2006/main" noGrp="1"/>
          </p:cNvSpPr>
          <p:nvPr/>
        </p:nvSpPr>
        <p:spPr>
          <a:xfrm xmlns:a="http://schemas.openxmlformats.org/drawingml/2006/main">
            <a:off x="7865175" y="5443347"/>
            <a:ext cx="3474492" cy="1029103"/>
          </a:xfrm>
          <a:prstGeom xmlns:a="http://schemas.openxmlformats.org/drawingml/2006/main" prst="rect">
            <a:avLst/>
          </a:prstGeom>
        </p:spPr>
        <p:txBody>
          <a:bodyPr xmlns:a="http://schemas.openxmlformats.org/drawingml/2006/main" vert="horz" lIns="91440" tIns="45720" rIns="91440" bIns="45720">
            <a:normAutofit fontScale="100000"/>
          </a:bodyPr>
          <a:lstStyle xmlns:a="http://schemas.openxmlformats.org/drawingml/2006/main">
            <a:lvl1pPr marL="0" indent="0" algn="ctr"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t>Team 11</a:t>
            </a:r>
            <a:endParaRPr i="1"/>
          </a:p>
        </p:txBody>
      </p:sp>
    </p:spTree>
    <p:extLst>
      <p:ext uri="{BB962C8B-B14F-4D97-AF65-F5344CB8AC3E}">
        <p14:creationId xmlns:p14="http://schemas.microsoft.com/office/powerpoint/2010/main" val="252523046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98D077-5156-4F2A-859E-3F9B8D16A00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Introduction</a:t>
            </a:r>
          </a:p>
        </p:txBody>
      </p:sp>
      <p:sp>
        <p:nvSpPr>
          <p:cNvPr id="3" name="Content Placeholder 2">
            <a:extLst xmlns:a="http://schemas.openxmlformats.org/drawingml/2006/main">
              <a:ext uri="{FF2B5EF4-FFF2-40B4-BE49-F238E27FC236}">
                <a16:creationId xmlns:a16="http://schemas.microsoft.com/office/drawing/2014/main" id="{E3192C38-6339-4E8F-967A-ECD711F27FC8}"/>
              </a:ext>
            </a:extLst>
          </p:cNvPr>
          <p:cNvSpPr>
            <a:spLocks xmlns:a="http://schemas.openxmlformats.org/drawingml/2006/main" noGrp="1"/>
          </p:cNvSpPr>
          <p:nvPr>
            <p:ph idx="1"/>
          </p:nvPr>
        </p:nvSpPr>
        <p:spPr>
          <a:xfrm xmlns:a="http://schemas.openxmlformats.org/drawingml/2006/main">
            <a:off x="838200" y="1828800"/>
            <a:ext cx="10515600" cy="952500"/>
          </a:xfrm>
        </p:spPr>
        <p:txBody>
          <a:bodyPr xmlns:a="http://schemas.openxmlformats.org/drawingml/2006/main" lIns="0" tIns="0" rIns="0" bIns="0">
            <a:noAutofit/>
          </a:bodyPr>
          <a:lstStyle xmlns:a="http://schemas.openxmlformats.org/drawingml/2006/main">
            <a:defPPr>
              <a:defRPr sz="2400">
                <a:solidFill>
                  <a:srgbClr val="000000"/>
                </a:solidFill>
                <a:latin typeface="Calibri"/>
                <a:ea typeface="Calibri"/>
                <a:cs typeface="Calibri"/>
              </a:defRPr>
            </a:defPPr>
          </a:lstStyle>
          <a:p xmlns:a="http://schemas.openxmlformats.org/drawingml/2006/main">
            <a:pPr>
              <a:defRPr sz="2400">
                <a:solidFill>
                  <a:srgbClr val="000000"/>
                </a:solidFill>
                <a:latin typeface="Calibri"/>
                <a:ea typeface="Calibri"/>
                <a:cs typeface="Calibri"/>
              </a:defRPr>
            </a:pPr>
            <a:r>
              <a:rPr sz="2400">
                <a:solidFill>
                  <a:srgbClr val="000000"/>
                </a:solidFill>
                <a:latin typeface="Calibri"/>
                <a:ea typeface="Calibri"/>
                <a:cs typeface="Calibri"/>
              </a:rPr>
              <a:t>MentorPulse connects learners with suitable mentors and manages the mentorship journey in one local web application.</a:t>
            </a:r>
            <a:endParaRPr/>
          </a:p>
        </p:txBody>
      </p:sp>
      <p:pic>
        <p:nvPicPr>
          <p:cNvPr id="5" name="Picture 4">
            <a:extLst xmlns:a="http://schemas.openxmlformats.org/drawingml/2006/main">
              <a:ext uri="{FF2B5EF4-FFF2-40B4-BE49-F238E27FC236}">
                <a16:creationId xmlns:a16="http://schemas.microsoft.com/office/drawing/2014/main" id="{0345FE86-57AB-4301-ADD2-8AF227FA1C86}"/>
              </a:ext>
            </a:extLst>
          </p:cNvPr>
          <p:cNvPicPr>
            <a:picLocks xmlns:a="http://schemas.openxmlformats.org/drawingml/2006/main" noChangeAspect="1"/>
          </p:cNvPicPr>
          <p:nvPr/>
        </p:nvPicPr>
        <p:blipFill>
          <a:blip xmlns:r="http://schemas.openxmlformats.org/officeDocument/2006/relationships" xmlns:a="http://schemas.openxmlformats.org/drawingml/2006/main" r:embed="R38a4f0cd12944ddf"/>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7B7CECBE-A719-4CDD-AB74-851617419B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98AF24BB-A085-4009-9ED9-4A31C92963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93F5E7-1286-4B25-AAA4-07DE12CCF392}" type="slidenum">
              <a:rPr sz="1600"/>
              <a:t>2</a:t>
            </a:fld>
            <a:endParaRPr sz="1600"/>
          </a:p>
        </p:txBody>
      </p:sp>
      <p:sp>
        <p:nvSpPr>
          <p:cNvPr id="11" name="">
            <a:extLst xmlns:a="http://schemas.openxmlformats.org/drawingml/2006/main">
              <a:ext uri="{FF2B5EF4-FFF2-40B4-BE49-F238E27FC236}">
                <a16:creationId xmlns:a16="http://schemas.microsoft.com/office/drawing/2014/main" id="{092D7DA4-B8B8-4AB6-8F1B-AE379D625CA4}"/>
              </a:ext>
            </a:extLst>
          </p:cNvPr>
          <p:cNvSpPr>
            <a:spLocks xmlns:a="http://schemas.openxmlformats.org/drawingml/2006/main" noGrp="1"/>
          </p:cNvSpPr>
          <p:nvPr/>
        </p:nvSpPr>
        <p:spPr>
          <a:xfrm xmlns:a="http://schemas.openxmlformats.org/drawingml/2006/main">
            <a:off x="838200" y="3095625"/>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Matching</a:t>
            </a:r>
          </a:p>
        </p:txBody>
      </p:sp>
      <p:sp>
        <p:nvSpPr>
          <p:cNvPr id="12" name="">
            <a:extLst xmlns:a="http://schemas.openxmlformats.org/drawingml/2006/main">
              <a:ext uri="{FF2B5EF4-FFF2-40B4-BE49-F238E27FC236}">
                <a16:creationId xmlns:a16="http://schemas.microsoft.com/office/drawing/2014/main" id="{CBB92C8E-C623-4BBA-8316-D0C03457BFE9}"/>
              </a:ext>
            </a:extLst>
          </p:cNvPr>
          <p:cNvSpPr>
            <a:spLocks xmlns:a="http://schemas.openxmlformats.org/drawingml/2006/main" noGrp="1"/>
          </p:cNvSpPr>
          <p:nvPr/>
        </p:nvSpPr>
        <p:spPr>
          <a:xfrm xmlns:a="http://schemas.openxmlformats.org/drawingml/2006/main">
            <a:off x="3257550" y="309562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Rule-based score: 50% skills, 30% availability, 20% experience</a:t>
            </a:r>
          </a:p>
        </p:txBody>
      </p:sp>
      <p:sp>
        <p:nvSpPr>
          <p:cNvPr id="13" name="">
            <a:extLst xmlns:a="http://schemas.openxmlformats.org/drawingml/2006/main">
              <a:ext uri="{FF2B5EF4-FFF2-40B4-BE49-F238E27FC236}">
                <a16:creationId xmlns:a16="http://schemas.microsoft.com/office/drawing/2014/main" id="{B3E62986-F01F-4A02-828E-2AF17B32421F}"/>
              </a:ext>
            </a:extLst>
          </p:cNvPr>
          <p:cNvSpPr>
            <a:spLocks xmlns:a="http://schemas.openxmlformats.org/drawingml/2006/main" noGrp="1"/>
          </p:cNvSpPr>
          <p:nvPr/>
        </p:nvSpPr>
        <p:spPr>
          <a:xfrm xmlns:a="http://schemas.openxmlformats.org/drawingml/2006/main">
            <a:off x="838200" y="3810000"/>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Collaboration</a:t>
            </a:r>
          </a:p>
        </p:txBody>
      </p:sp>
      <p:sp>
        <p:nvSpPr>
          <p:cNvPr id="14" name="">
            <a:extLst xmlns:a="http://schemas.openxmlformats.org/drawingml/2006/main">
              <a:ext uri="{FF2B5EF4-FFF2-40B4-BE49-F238E27FC236}">
                <a16:creationId xmlns:a16="http://schemas.microsoft.com/office/drawing/2014/main" id="{EE152BDE-CB4A-4F1B-B873-2B5CD0BD526C}"/>
              </a:ext>
            </a:extLst>
          </p:cNvPr>
          <p:cNvSpPr>
            <a:spLocks xmlns:a="http://schemas.openxmlformats.org/drawingml/2006/main" noGrp="1"/>
          </p:cNvSpPr>
          <p:nvPr/>
        </p:nvSpPr>
        <p:spPr>
          <a:xfrm xmlns:a="http://schemas.openxmlformats.org/drawingml/2006/main">
            <a:off x="3257550" y="3810000"/>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Sessions, milestones, shared resources and asynchronous discussions</a:t>
            </a:r>
          </a:p>
        </p:txBody>
      </p:sp>
      <p:sp>
        <p:nvSpPr>
          <p:cNvPr id="15" name="">
            <a:extLst xmlns:a="http://schemas.openxmlformats.org/drawingml/2006/main">
              <a:ext uri="{FF2B5EF4-FFF2-40B4-BE49-F238E27FC236}">
                <a16:creationId xmlns:a16="http://schemas.microsoft.com/office/drawing/2014/main" id="{B394E0A1-C2A0-4BB7-85BF-FAF500916AF2}"/>
              </a:ext>
            </a:extLst>
          </p:cNvPr>
          <p:cNvSpPr>
            <a:spLocks xmlns:a="http://schemas.openxmlformats.org/drawingml/2006/main" noGrp="1"/>
          </p:cNvSpPr>
          <p:nvPr/>
        </p:nvSpPr>
        <p:spPr>
          <a:xfrm xmlns:a="http://schemas.openxmlformats.org/drawingml/2006/main">
            <a:off x="838200" y="4524375"/>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Recognition</a:t>
            </a:r>
          </a:p>
        </p:txBody>
      </p:sp>
      <p:sp>
        <p:nvSpPr>
          <p:cNvPr id="16" name="">
            <a:extLst xmlns:a="http://schemas.openxmlformats.org/drawingml/2006/main">
              <a:ext uri="{FF2B5EF4-FFF2-40B4-BE49-F238E27FC236}">
                <a16:creationId xmlns:a16="http://schemas.microsoft.com/office/drawing/2014/main" id="{9BC0B7CD-391D-498C-A5DB-D401C1766D40}"/>
              </a:ext>
            </a:extLst>
          </p:cNvPr>
          <p:cNvSpPr>
            <a:spLocks xmlns:a="http://schemas.openxmlformats.org/drawingml/2006/main" noGrp="1"/>
          </p:cNvSpPr>
          <p:nvPr/>
        </p:nvSpPr>
        <p:spPr>
          <a:xfrm xmlns:a="http://schemas.openxmlformats.org/drawingml/2006/main">
            <a:off x="3257550" y="452437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Credit ledger, feedback, badges and printable completion certificates</a:t>
            </a:r>
          </a:p>
        </p:txBody>
      </p:sp>
      <p:sp>
        <p:nvSpPr>
          <p:cNvPr id="17" name="">
            <a:extLst xmlns:a="http://schemas.openxmlformats.org/drawingml/2006/main">
              <a:ext uri="{FF2B5EF4-FFF2-40B4-BE49-F238E27FC236}">
                <a16:creationId xmlns:a16="http://schemas.microsoft.com/office/drawing/2014/main" id="{5B2397C1-4295-47D5-A035-CBD3F5AF2DD2}"/>
              </a:ext>
            </a:extLst>
          </p:cNvPr>
          <p:cNvSpPr>
            <a:spLocks xmlns:a="http://schemas.openxmlformats.org/drawingml/2006/main" noGrp="1"/>
          </p:cNvSpPr>
          <p:nvPr/>
        </p:nvSpPr>
        <p:spPr>
          <a:xfrm xmlns:a="http://schemas.openxmlformats.org/drawingml/2006/main">
            <a:off x="838200" y="5238750"/>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Implementation</a:t>
            </a:r>
          </a:p>
        </p:txBody>
      </p:sp>
      <p:sp>
        <p:nvSpPr>
          <p:cNvPr id="18" name="">
            <a:extLst xmlns:a="http://schemas.openxmlformats.org/drawingml/2006/main">
              <a:ext uri="{FF2B5EF4-FFF2-40B4-BE49-F238E27FC236}">
                <a16:creationId xmlns:a16="http://schemas.microsoft.com/office/drawing/2014/main" id="{50B57D90-81F9-4861-84B1-292ED9DD98F8}"/>
              </a:ext>
            </a:extLst>
          </p:cNvPr>
          <p:cNvSpPr>
            <a:spLocks xmlns:a="http://schemas.openxmlformats.org/drawingml/2006/main" noGrp="1"/>
          </p:cNvSpPr>
          <p:nvPr/>
        </p:nvSpPr>
        <p:spPr>
          <a:xfrm xmlns:a="http://schemas.openxmlformats.org/drawingml/2006/main">
            <a:off x="3257550" y="5238750"/>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Django 5.x, SQLite and five domain apps with 53 passing tests</a:t>
            </a:r>
          </a:p>
        </p:txBody>
      </p:sp>
    </p:spTree>
    <p:extLst>
      <p:ext uri="{BB962C8B-B14F-4D97-AF65-F5344CB8AC3E}">
        <p14:creationId xmlns:p14="http://schemas.microsoft.com/office/powerpoint/2010/main" val="61306638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47DB12-C09E-4A57-A19D-05777F1DD5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2. Problem statement &amp; Objectives</a:t>
            </a:r>
          </a:p>
        </p:txBody>
      </p:sp>
      <p:pic>
        <p:nvPicPr>
          <p:cNvPr id="5" name="Picture 4">
            <a:extLst xmlns:a="http://schemas.openxmlformats.org/drawingml/2006/main">
              <a:ext uri="{FF2B5EF4-FFF2-40B4-BE49-F238E27FC236}">
                <a16:creationId xmlns:a16="http://schemas.microsoft.com/office/drawing/2014/main" id="{E0A42F29-E375-4117-A0B3-D4689C5CB6FC}"/>
              </a:ext>
            </a:extLst>
          </p:cNvPr>
          <p:cNvPicPr>
            <a:picLocks xmlns:a="http://schemas.openxmlformats.org/drawingml/2006/main" noChangeAspect="1"/>
          </p:cNvPicPr>
          <p:nvPr/>
        </p:nvPicPr>
        <p:blipFill>
          <a:blip xmlns:r="http://schemas.openxmlformats.org/officeDocument/2006/relationships" xmlns:a="http://schemas.openxmlformats.org/drawingml/2006/main" r:embed="Rc0d499e33b2044c7"/>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5FC12F5B-ED49-4276-B1DB-C35B4B7818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D064D25D-CB12-471F-ABC3-005E174A89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93F5E7-1286-4B25-AAA4-07DE12CCF392}" type="slidenum">
              <a:rPr sz="1600"/>
              <a:t>3</a:t>
            </a:fld>
            <a:endParaRPr sz="1600"/>
          </a:p>
        </p:txBody>
      </p:sp>
      <p:sp>
        <p:nvSpPr>
          <p:cNvPr id="6" name="Content Placeholder 5">
            <a:extLst xmlns:a="http://schemas.openxmlformats.org/drawingml/2006/main">
              <a:ext uri="{FF2B5EF4-FFF2-40B4-BE49-F238E27FC236}">
                <a16:creationId xmlns:a16="http://schemas.microsoft.com/office/drawing/2014/main" id="{5FA89230-3313-4F7D-BC7D-A21C959BE6F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endParaRPr/>
          </a:p>
        </p:txBody>
      </p:sp>
      <p:sp>
        <p:nvSpPr>
          <p:cNvPr id="11" name="">
            <a:extLst xmlns:a="http://schemas.openxmlformats.org/drawingml/2006/main">
              <a:ext uri="{FF2B5EF4-FFF2-40B4-BE49-F238E27FC236}">
                <a16:creationId xmlns:a16="http://schemas.microsoft.com/office/drawing/2014/main" id="{4B9403A5-1B19-46C3-8FCC-CC77BF7EC9AB}"/>
              </a:ext>
            </a:extLst>
          </p:cNvPr>
          <p:cNvSpPr>
            <a:spLocks xmlns:a="http://schemas.openxmlformats.org/drawingml/2006/main" noGrp="1"/>
          </p:cNvSpPr>
          <p:nvPr/>
        </p:nvSpPr>
        <p:spPr>
          <a:xfrm xmlns:a="http://schemas.openxmlformats.org/drawingml/2006/main">
            <a:off x="838200" y="1943100"/>
            <a:ext cx="4895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0000"/>
                </a:solidFill>
                <a:latin typeface="Calibri"/>
                <a:ea typeface="Calibri"/>
                <a:cs typeface="Calibri"/>
              </a:defRPr>
            </a:defPPr>
          </a:lstStyle>
          <a:p xmlns:a="http://schemas.openxmlformats.org/drawingml/2006/main">
            <a:pPr algn="l">
              <a:defRPr sz="2550" b="1">
                <a:solidFill>
                  <a:srgbClr val="000000"/>
                </a:solidFill>
                <a:latin typeface="Calibri"/>
                <a:ea typeface="Calibri"/>
                <a:cs typeface="Calibri"/>
              </a:defRPr>
            </a:pPr>
            <a:r>
              <a:rPr sz="2550" b="1">
                <a:solidFill>
                  <a:srgbClr val="000000"/>
                </a:solidFill>
                <a:latin typeface="Calibri"/>
                <a:ea typeface="Calibri"/>
                <a:cs typeface="Calibri"/>
              </a:rPr>
              <a:t>Problem statement</a:t>
            </a:r>
          </a:p>
        </p:txBody>
      </p:sp>
      <p:sp>
        <p:nvSpPr>
          <p:cNvPr id="12" name="">
            <a:extLst xmlns:a="http://schemas.openxmlformats.org/drawingml/2006/main">
              <a:ext uri="{FF2B5EF4-FFF2-40B4-BE49-F238E27FC236}">
                <a16:creationId xmlns:a16="http://schemas.microsoft.com/office/drawing/2014/main" id="{3E4C0490-443E-4EC3-AFC7-5737C97F5F39}"/>
              </a:ext>
            </a:extLst>
          </p:cNvPr>
          <p:cNvSpPr>
            <a:spLocks xmlns:a="http://schemas.openxmlformats.org/drawingml/2006/main" noGrp="1"/>
          </p:cNvSpPr>
          <p:nvPr/>
        </p:nvSpPr>
        <p:spPr>
          <a:xfrm xmlns:a="http://schemas.openxmlformats.org/drawingml/2006/main">
            <a:off x="838200" y="2638425"/>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Learners need a mentor whose skills,</a:t>
            </a:r>
          </a:p>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availability and experience fit their goals.</a:t>
            </a:r>
          </a:p>
          <a:p xmlns:a="http://schemas.openxmlformats.org/drawingml/2006/main">
            <a:r>
              <a:t/>
            </a:r>
          </a:p>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Mentorship needs shared tools for</a:t>
            </a:r>
          </a:p>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sessions and visible learning progress.</a:t>
            </a:r>
          </a:p>
        </p:txBody>
      </p:sp>
      <p:sp>
        <p:nvSpPr>
          <p:cNvPr id="13" name="">
            <a:extLst xmlns:a="http://schemas.openxmlformats.org/drawingml/2006/main">
              <a:ext uri="{FF2B5EF4-FFF2-40B4-BE49-F238E27FC236}">
                <a16:creationId xmlns:a16="http://schemas.microsoft.com/office/drawing/2014/main" id="{6F04FD79-A008-496A-BF03-70A5B968CA6B}"/>
              </a:ext>
            </a:extLst>
          </p:cNvPr>
          <p:cNvSpPr>
            <a:spLocks xmlns:a="http://schemas.openxmlformats.org/drawingml/2006/main" noGrp="1"/>
          </p:cNvSpPr>
          <p:nvPr/>
        </p:nvSpPr>
        <p:spPr>
          <a:xfrm xmlns:a="http://schemas.openxmlformats.org/drawingml/2006/main">
            <a:off x="6362700" y="1943100"/>
            <a:ext cx="4991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0000"/>
                </a:solidFill>
                <a:latin typeface="Calibri"/>
                <a:ea typeface="Calibri"/>
                <a:cs typeface="Calibri"/>
              </a:defRPr>
            </a:defPPr>
          </a:lstStyle>
          <a:p xmlns:a="http://schemas.openxmlformats.org/drawingml/2006/main">
            <a:pPr algn="l">
              <a:defRPr sz="2550" b="1">
                <a:solidFill>
                  <a:srgbClr val="000000"/>
                </a:solidFill>
                <a:latin typeface="Calibri"/>
                <a:ea typeface="Calibri"/>
                <a:cs typeface="Calibri"/>
              </a:defRPr>
            </a:pPr>
            <a:r>
              <a:rPr sz="2550" b="1">
                <a:solidFill>
                  <a:srgbClr val="000000"/>
                </a:solidFill>
                <a:latin typeface="Calibri"/>
                <a:ea typeface="Calibri"/>
                <a:cs typeface="Calibri"/>
              </a:rPr>
              <a:t>Objectives</a:t>
            </a:r>
          </a:p>
        </p:txBody>
      </p:sp>
      <p:sp>
        <p:nvSpPr>
          <p:cNvPr id="14" name="">
            <a:extLst xmlns:a="http://schemas.openxmlformats.org/drawingml/2006/main">
              <a:ext uri="{FF2B5EF4-FFF2-40B4-BE49-F238E27FC236}">
                <a16:creationId xmlns:a16="http://schemas.microsoft.com/office/drawing/2014/main" id="{B2208D61-5F75-409A-B3A8-39920C26596A}"/>
              </a:ext>
            </a:extLst>
          </p:cNvPr>
          <p:cNvSpPr>
            <a:spLocks xmlns:a="http://schemas.openxmlformats.org/drawingml/2006/main" noGrp="1"/>
          </p:cNvSpPr>
          <p:nvPr/>
        </p:nvSpPr>
        <p:spPr>
          <a:xfrm xmlns:a="http://schemas.openxmlformats.org/drawingml/2006/main">
            <a:off x="6362700" y="2638425"/>
            <a:ext cx="419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1</a:t>
            </a:r>
          </a:p>
        </p:txBody>
      </p:sp>
      <p:sp>
        <p:nvSpPr>
          <p:cNvPr id="15" name="">
            <a:extLst xmlns:a="http://schemas.openxmlformats.org/drawingml/2006/main">
              <a:ext uri="{FF2B5EF4-FFF2-40B4-BE49-F238E27FC236}">
                <a16:creationId xmlns:a16="http://schemas.microsoft.com/office/drawing/2014/main" id="{F8DB93B3-171B-4823-8CF6-80ACA6F5716F}"/>
              </a:ext>
            </a:extLst>
          </p:cNvPr>
          <p:cNvSpPr>
            <a:spLocks xmlns:a="http://schemas.openxmlformats.org/drawingml/2006/main" noGrp="1"/>
          </p:cNvSpPr>
          <p:nvPr/>
        </p:nvSpPr>
        <p:spPr>
          <a:xfrm xmlns:a="http://schemas.openxmlformats.org/drawingml/2006/main">
            <a:off x="6943725" y="2638425"/>
            <a:ext cx="44100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Rank mentors with a transparent</a:t>
            </a:r>
          </a:p>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compatibility score</a:t>
            </a:r>
          </a:p>
        </p:txBody>
      </p:sp>
      <p:sp>
        <p:nvSpPr>
          <p:cNvPr id="16" name="">
            <a:extLst xmlns:a="http://schemas.openxmlformats.org/drawingml/2006/main">
              <a:ext uri="{FF2B5EF4-FFF2-40B4-BE49-F238E27FC236}">
                <a16:creationId xmlns:a16="http://schemas.microsoft.com/office/drawing/2014/main" id="{98688A1E-7D52-4ED9-A262-FD012DF9471B}"/>
              </a:ext>
            </a:extLst>
          </p:cNvPr>
          <p:cNvSpPr>
            <a:spLocks xmlns:a="http://schemas.openxmlformats.org/drawingml/2006/main" noGrp="1"/>
          </p:cNvSpPr>
          <p:nvPr/>
        </p:nvSpPr>
        <p:spPr>
          <a:xfrm xmlns:a="http://schemas.openxmlformats.org/drawingml/2006/main">
            <a:off x="6362700" y="3457575"/>
            <a:ext cx="419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2</a:t>
            </a:r>
          </a:p>
        </p:txBody>
      </p:sp>
      <p:sp>
        <p:nvSpPr>
          <p:cNvPr id="17" name="">
            <a:extLst xmlns:a="http://schemas.openxmlformats.org/drawingml/2006/main">
              <a:ext uri="{FF2B5EF4-FFF2-40B4-BE49-F238E27FC236}">
                <a16:creationId xmlns:a16="http://schemas.microsoft.com/office/drawing/2014/main" id="{07AA071E-9947-4584-91E2-1759FF63048B}"/>
              </a:ext>
            </a:extLst>
          </p:cNvPr>
          <p:cNvSpPr>
            <a:spLocks xmlns:a="http://schemas.openxmlformats.org/drawingml/2006/main" noGrp="1"/>
          </p:cNvSpPr>
          <p:nvPr/>
        </p:nvSpPr>
        <p:spPr>
          <a:xfrm xmlns:a="http://schemas.openxmlformats.org/drawingml/2006/main">
            <a:off x="6943725" y="3457575"/>
            <a:ext cx="44100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Keep sessions, milestones and</a:t>
            </a:r>
          </a:p>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resources in a shared workspace</a:t>
            </a:r>
          </a:p>
        </p:txBody>
      </p:sp>
      <p:sp>
        <p:nvSpPr>
          <p:cNvPr id="18" name="">
            <a:extLst xmlns:a="http://schemas.openxmlformats.org/drawingml/2006/main">
              <a:ext uri="{FF2B5EF4-FFF2-40B4-BE49-F238E27FC236}">
                <a16:creationId xmlns:a16="http://schemas.microsoft.com/office/drawing/2014/main" id="{A6BE4B5B-5BD2-4762-88E3-542D44060949}"/>
              </a:ext>
            </a:extLst>
          </p:cNvPr>
          <p:cNvSpPr>
            <a:spLocks xmlns:a="http://schemas.openxmlformats.org/drawingml/2006/main" noGrp="1"/>
          </p:cNvSpPr>
          <p:nvPr/>
        </p:nvSpPr>
        <p:spPr>
          <a:xfrm xmlns:a="http://schemas.openxmlformats.org/drawingml/2006/main">
            <a:off x="6362700" y="4276725"/>
            <a:ext cx="419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3</a:t>
            </a:r>
          </a:p>
        </p:txBody>
      </p:sp>
      <p:sp>
        <p:nvSpPr>
          <p:cNvPr id="19" name="">
            <a:extLst xmlns:a="http://schemas.openxmlformats.org/drawingml/2006/main">
              <a:ext uri="{FF2B5EF4-FFF2-40B4-BE49-F238E27FC236}">
                <a16:creationId xmlns:a16="http://schemas.microsoft.com/office/drawing/2014/main" id="{076F7D36-B88B-457C-B99C-B67E562D8847}"/>
              </a:ext>
            </a:extLst>
          </p:cNvPr>
          <p:cNvSpPr>
            <a:spLocks xmlns:a="http://schemas.openxmlformats.org/drawingml/2006/main" noGrp="1"/>
          </p:cNvSpPr>
          <p:nvPr/>
        </p:nvSpPr>
        <p:spPr>
          <a:xfrm xmlns:a="http://schemas.openxmlformats.org/drawingml/2006/main">
            <a:off x="6943725" y="4276725"/>
            <a:ext cx="44100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Record participation with credits,</a:t>
            </a:r>
          </a:p>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feedback and achievements</a:t>
            </a:r>
          </a:p>
        </p:txBody>
      </p:sp>
      <p:sp>
        <p:nvSpPr>
          <p:cNvPr id="20" name="">
            <a:extLst xmlns:a="http://schemas.openxmlformats.org/drawingml/2006/main">
              <a:ext uri="{FF2B5EF4-FFF2-40B4-BE49-F238E27FC236}">
                <a16:creationId xmlns:a16="http://schemas.microsoft.com/office/drawing/2014/main" id="{8BD487F7-98DF-460C-BEE3-28D966A3D376}"/>
              </a:ext>
            </a:extLst>
          </p:cNvPr>
          <p:cNvSpPr>
            <a:spLocks xmlns:a="http://schemas.openxmlformats.org/drawingml/2006/main" noGrp="1"/>
          </p:cNvSpPr>
          <p:nvPr/>
        </p:nvSpPr>
        <p:spPr>
          <a:xfrm xmlns:a="http://schemas.openxmlformats.org/drawingml/2006/main">
            <a:off x="6362700" y="5095875"/>
            <a:ext cx="419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4</a:t>
            </a:r>
          </a:p>
        </p:txBody>
      </p:sp>
      <p:sp>
        <p:nvSpPr>
          <p:cNvPr id="21" name="">
            <a:extLst xmlns:a="http://schemas.openxmlformats.org/drawingml/2006/main">
              <a:ext uri="{FF2B5EF4-FFF2-40B4-BE49-F238E27FC236}">
                <a16:creationId xmlns:a16="http://schemas.microsoft.com/office/drawing/2014/main" id="{145CC67D-F91C-4B4B-9A14-8E8D4B10E6A7}"/>
              </a:ext>
            </a:extLst>
          </p:cNvPr>
          <p:cNvSpPr>
            <a:spLocks xmlns:a="http://schemas.openxmlformats.org/drawingml/2006/main" noGrp="1"/>
          </p:cNvSpPr>
          <p:nvPr/>
        </p:nvSpPr>
        <p:spPr>
          <a:xfrm xmlns:a="http://schemas.openxmlformats.org/drawingml/2006/main">
            <a:off x="6943725" y="5095875"/>
            <a:ext cx="44100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Recognise completion with a</a:t>
            </a:r>
          </a:p>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printable certificate</a:t>
            </a:r>
          </a:p>
        </p:txBody>
      </p:sp>
    </p:spTree>
    <p:extLst>
      <p:ext uri="{BB962C8B-B14F-4D97-AF65-F5344CB8AC3E}">
        <p14:creationId xmlns:p14="http://schemas.microsoft.com/office/powerpoint/2010/main" val="7221040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ADFF2C-132D-4C49-B10F-BCA4BAC4FB18}"/>
              </a:ext>
            </a:extLst>
          </p:cNvPr>
          <p:cNvSpPr>
            <a:spLocks xmlns:a="http://schemas.openxmlformats.org/drawingml/2006/main" noGrp="1"/>
          </p:cNvSpPr>
          <p:nvPr>
            <p:ph type="title" idx="0"/>
          </p:nvPr>
        </p:nvSpPr>
        <p:spPr>
          <a:xfrm xmlns:a="http://schemas.openxmlformats.org/drawingml/2006/main">
            <a:off x="838200" y="747648"/>
            <a:ext cx="11125200" cy="1325563"/>
          </a:xfrm>
        </p:spPr>
        <p:txBody>
          <a:bodyPr xmlns:a="http://schemas.openxmlformats.org/drawingml/2006/main"/>
          <a:lstStyle xmlns:a="http://schemas.openxmlformats.org/drawingml/2006/main"/>
          <a:p xmlns:a="http://schemas.openxmlformats.org/drawingml/2006/main">
            <a:r>
              <a:t>3. Requirements ( Functional &amp; Non functional)</a:t>
            </a:r>
          </a:p>
        </p:txBody>
      </p:sp>
      <p:pic>
        <p:nvPicPr>
          <p:cNvPr id="5" name="Picture 4">
            <a:extLst xmlns:a="http://schemas.openxmlformats.org/drawingml/2006/main">
              <a:ext uri="{FF2B5EF4-FFF2-40B4-BE49-F238E27FC236}">
                <a16:creationId xmlns:a16="http://schemas.microsoft.com/office/drawing/2014/main" id="{5F441E50-208C-4BD7-941D-BF01C2C9B5D6}"/>
              </a:ext>
            </a:extLst>
          </p:cNvPr>
          <p:cNvPicPr>
            <a:picLocks xmlns:a="http://schemas.openxmlformats.org/drawingml/2006/main" noChangeAspect="1"/>
          </p:cNvPicPr>
          <p:nvPr/>
        </p:nvPicPr>
        <p:blipFill>
          <a:blip xmlns:r="http://schemas.openxmlformats.org/officeDocument/2006/relationships" xmlns:a="http://schemas.openxmlformats.org/drawingml/2006/main" r:embed="R8cdcbd1a3bfb42ca"/>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75FF7068-CBCB-45F9-92C4-05C8D14518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23EF7240-B3E4-42E6-A726-FEDFCE94B7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93F5E7-1286-4B25-AAA4-07DE12CCF392}" type="slidenum">
              <a:rPr sz="1600"/>
              <a:t>4</a:t>
            </a:fld>
            <a:endParaRPr sz="1600"/>
          </a:p>
        </p:txBody>
      </p:sp>
      <p:sp>
        <p:nvSpPr>
          <p:cNvPr id="6" name="Content Placeholder 5">
            <a:extLst xmlns:a="http://schemas.openxmlformats.org/drawingml/2006/main">
              <a:ext uri="{FF2B5EF4-FFF2-40B4-BE49-F238E27FC236}">
                <a16:creationId xmlns:a16="http://schemas.microsoft.com/office/drawing/2014/main" id="{A2213B9A-9C11-45C7-9314-5DE29841885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endParaRPr/>
          </a:p>
        </p:txBody>
      </p:sp>
      <p:sp>
        <p:nvSpPr>
          <p:cNvPr id="11" name="">
            <a:extLst xmlns:a="http://schemas.openxmlformats.org/drawingml/2006/main">
              <a:ext uri="{FF2B5EF4-FFF2-40B4-BE49-F238E27FC236}">
                <a16:creationId xmlns:a16="http://schemas.microsoft.com/office/drawing/2014/main" id="{11C80342-27F2-441D-94E5-DE07644E1DE4}"/>
              </a:ext>
            </a:extLst>
          </p:cNvPr>
          <p:cNvSpPr>
            <a:spLocks xmlns:a="http://schemas.openxmlformats.org/drawingml/2006/main" noGrp="1"/>
          </p:cNvSpPr>
          <p:nvPr/>
        </p:nvSpPr>
        <p:spPr>
          <a:xfrm xmlns:a="http://schemas.openxmlformats.org/drawingml/2006/main">
            <a:off x="838200" y="2238375"/>
            <a:ext cx="4895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Functional</a:t>
            </a:r>
          </a:p>
        </p:txBody>
      </p:sp>
      <p:sp>
        <p:nvSpPr>
          <p:cNvPr id="12" name="">
            <a:extLst xmlns:a="http://schemas.openxmlformats.org/drawingml/2006/main">
              <a:ext uri="{FF2B5EF4-FFF2-40B4-BE49-F238E27FC236}">
                <a16:creationId xmlns:a16="http://schemas.microsoft.com/office/drawing/2014/main" id="{D9FFF2A5-450C-427A-BB59-52228893CEE6}"/>
              </a:ext>
            </a:extLst>
          </p:cNvPr>
          <p:cNvSpPr>
            <a:spLocks xmlns:a="http://schemas.openxmlformats.org/drawingml/2006/main" noGrp="1"/>
          </p:cNvSpPr>
          <p:nvPr/>
        </p:nvSpPr>
        <p:spPr>
          <a:xfrm xmlns:a="http://schemas.openxmlformats.org/drawingml/2006/main">
            <a:off x="6362700" y="2238375"/>
            <a:ext cx="4991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Non-functional</a:t>
            </a:r>
          </a:p>
        </p:txBody>
      </p:sp>
      <p:sp>
        <p:nvSpPr>
          <p:cNvPr id="13" name="">
            <a:extLst xmlns:a="http://schemas.openxmlformats.org/drawingml/2006/main">
              <a:ext uri="{FF2B5EF4-FFF2-40B4-BE49-F238E27FC236}">
                <a16:creationId xmlns:a16="http://schemas.microsoft.com/office/drawing/2014/main" id="{C83A6A97-DFA2-4F37-9AAA-65F8BDDAA3F2}"/>
              </a:ext>
            </a:extLst>
          </p:cNvPr>
          <p:cNvSpPr>
            <a:spLocks xmlns:a="http://schemas.openxmlformats.org/drawingml/2006/main" noGrp="1"/>
          </p:cNvSpPr>
          <p:nvPr/>
        </p:nvSpPr>
        <p:spPr>
          <a:xfrm xmlns:a="http://schemas.openxmlformats.org/drawingml/2006/main">
            <a:off x="838200" y="2857500"/>
            <a:ext cx="4905375"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Accounts and roles</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Sign in as a Mentor, Learner or both</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Matching and collaboration</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Rank mentors, review requests and track progress</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Participation and completion</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Credits, badges, feedback and a certificate</a:t>
            </a:r>
          </a:p>
        </p:txBody>
      </p:sp>
      <p:sp>
        <p:nvSpPr>
          <p:cNvPr id="14" name="">
            <a:extLst xmlns:a="http://schemas.openxmlformats.org/drawingml/2006/main">
              <a:ext uri="{FF2B5EF4-FFF2-40B4-BE49-F238E27FC236}">
                <a16:creationId xmlns:a16="http://schemas.microsoft.com/office/drawing/2014/main" id="{F96A12CD-9471-48DF-8E05-F3151A142277}"/>
              </a:ext>
            </a:extLst>
          </p:cNvPr>
          <p:cNvSpPr>
            <a:spLocks xmlns:a="http://schemas.openxmlformats.org/drawingml/2006/main" noGrp="1"/>
          </p:cNvSpPr>
          <p:nvPr/>
        </p:nvSpPr>
        <p:spPr>
          <a:xfrm xmlns:a="http://schemas.openxmlformats.org/drawingml/2006/main">
            <a:off x="6362700" y="2857500"/>
            <a:ext cx="49911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Local operation</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SQLite database and local media storage</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Access and uploads</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Authentication and participant access checks</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Files up to 10 MB with an extension allowlist</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Validation and traceability</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53 passing tests and a credit ledger</a:t>
            </a:r>
          </a:p>
        </p:txBody>
      </p:sp>
    </p:spTree>
    <p:extLst>
      <p:ext uri="{BB962C8B-B14F-4D97-AF65-F5344CB8AC3E}">
        <p14:creationId xmlns:p14="http://schemas.microsoft.com/office/powerpoint/2010/main" val="334734030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8BCD56-6243-4FC9-A1FE-1943D6DC42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4. System architecture</a:t>
            </a:r>
          </a:p>
        </p:txBody>
      </p:sp>
      <p:pic>
        <p:nvPicPr>
          <p:cNvPr id="5" name="Picture 4">
            <a:extLst xmlns:a="http://schemas.openxmlformats.org/drawingml/2006/main">
              <a:ext uri="{FF2B5EF4-FFF2-40B4-BE49-F238E27FC236}">
                <a16:creationId xmlns:a16="http://schemas.microsoft.com/office/drawing/2014/main" id="{F66388AF-8821-4915-9C3D-251CD576A3B5}"/>
              </a:ext>
            </a:extLst>
          </p:cNvPr>
          <p:cNvPicPr>
            <a:picLocks xmlns:a="http://schemas.openxmlformats.org/drawingml/2006/main" noChangeAspect="1"/>
          </p:cNvPicPr>
          <p:nvPr/>
        </p:nvPicPr>
        <p:blipFill>
          <a:blip xmlns:r="http://schemas.openxmlformats.org/officeDocument/2006/relationships" xmlns:a="http://schemas.openxmlformats.org/drawingml/2006/main" r:embed="Rb72fe509075b4ce8"/>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D3050418-E45D-4CF3-A75F-E251AF95A4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101D1B0B-E8FF-447D-8773-4A6D431BA0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93F5E7-1286-4B25-AAA4-07DE12CCF392}" type="slidenum">
              <a:rPr sz="1600"/>
              <a:t>5</a:t>
            </a:fld>
            <a:endParaRPr sz="1600"/>
          </a:p>
        </p:txBody>
      </p:sp>
      <p:sp>
        <p:nvSpPr>
          <p:cNvPr id="6" name="Content Placeholder 5">
            <a:extLst xmlns:a="http://schemas.openxmlformats.org/drawingml/2006/main">
              <a:ext uri="{FF2B5EF4-FFF2-40B4-BE49-F238E27FC236}">
                <a16:creationId xmlns:a16="http://schemas.microsoft.com/office/drawing/2014/main" id="{B25915BE-C2A8-4212-A5F3-C2ED42FFC0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endParaRPr/>
          </a:p>
        </p:txBody>
      </p:sp>
      <p:sp>
        <p:nvSpPr>
          <p:cNvPr id="11" name="">
            <a:extLst xmlns:a="http://schemas.openxmlformats.org/drawingml/2006/main">
              <a:ext uri="{FF2B5EF4-FFF2-40B4-BE49-F238E27FC236}">
                <a16:creationId xmlns:a16="http://schemas.microsoft.com/office/drawing/2014/main" id="{936EC8B8-32A3-4C88-B1D3-F968BDE88E9C}"/>
              </a:ext>
            </a:extLst>
          </p:cNvPr>
          <p:cNvSpPr>
            <a:spLocks xmlns:a="http://schemas.openxmlformats.org/drawingml/2006/main" noGrp="1"/>
          </p:cNvSpPr>
          <p:nvPr/>
        </p:nvSpPr>
        <p:spPr>
          <a:xfrm xmlns:a="http://schemas.openxmlformats.org/drawingml/2006/main">
            <a:off x="838200" y="1933575"/>
            <a:ext cx="3009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Presentation layer</a:t>
            </a:r>
          </a:p>
        </p:txBody>
      </p:sp>
      <p:sp>
        <p:nvSpPr>
          <p:cNvPr id="12" name="">
            <a:extLst xmlns:a="http://schemas.openxmlformats.org/drawingml/2006/main">
              <a:ext uri="{FF2B5EF4-FFF2-40B4-BE49-F238E27FC236}">
                <a16:creationId xmlns:a16="http://schemas.microsoft.com/office/drawing/2014/main" id="{55F4A948-D8CC-40FF-A4B7-DF2FB09AE485}"/>
              </a:ext>
            </a:extLst>
          </p:cNvPr>
          <p:cNvSpPr>
            <a:spLocks xmlns:a="http://schemas.openxmlformats.org/drawingml/2006/main" noGrp="1"/>
          </p:cNvSpPr>
          <p:nvPr/>
        </p:nvSpPr>
        <p:spPr>
          <a:xfrm xmlns:a="http://schemas.openxmlformats.org/drawingml/2006/main">
            <a:off x="4114800" y="196215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Django templates, Bootstrap 5.3.3 and custom CSS</a:t>
            </a:r>
          </a:p>
        </p:txBody>
      </p:sp>
      <p:sp>
        <p:nvSpPr>
          <p:cNvPr id="13" name="">
            <a:extLst xmlns:a="http://schemas.openxmlformats.org/drawingml/2006/main">
              <a:ext uri="{FF2B5EF4-FFF2-40B4-BE49-F238E27FC236}">
                <a16:creationId xmlns:a16="http://schemas.microsoft.com/office/drawing/2014/main" id="{5F409235-E57B-4ACA-8B2A-4D7709B9F0AF}"/>
              </a:ext>
            </a:extLst>
          </p:cNvPr>
          <p:cNvSpPr>
            <a:spLocks xmlns:a="http://schemas.openxmlformats.org/drawingml/2006/main" noGrp="1"/>
          </p:cNvSpPr>
          <p:nvPr/>
        </p:nvSpPr>
        <p:spPr>
          <a:xfrm xmlns:a="http://schemas.openxmlformats.org/drawingml/2006/main">
            <a:off x="838200" y="2867025"/>
            <a:ext cx="3009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Application layer</a:t>
            </a:r>
          </a:p>
        </p:txBody>
      </p:sp>
      <p:sp>
        <p:nvSpPr>
          <p:cNvPr id="14" name="">
            <a:extLst xmlns:a="http://schemas.openxmlformats.org/drawingml/2006/main">
              <a:ext uri="{FF2B5EF4-FFF2-40B4-BE49-F238E27FC236}">
                <a16:creationId xmlns:a16="http://schemas.microsoft.com/office/drawing/2014/main" id="{73B81632-73C8-4D4D-AE64-1C1977EAD7CE}"/>
              </a:ext>
            </a:extLst>
          </p:cNvPr>
          <p:cNvSpPr>
            <a:spLocks xmlns:a="http://schemas.openxmlformats.org/drawingml/2006/main" noGrp="1"/>
          </p:cNvSpPr>
          <p:nvPr/>
        </p:nvSpPr>
        <p:spPr>
          <a:xfrm xmlns:a="http://schemas.openxmlformats.org/drawingml/2006/main">
            <a:off x="4114800" y="289560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Django authentication, ORM, views and Python services</a:t>
            </a:r>
          </a:p>
        </p:txBody>
      </p:sp>
      <p:sp>
        <p:nvSpPr>
          <p:cNvPr id="15" name="">
            <a:extLst xmlns:a="http://schemas.openxmlformats.org/drawingml/2006/main">
              <a:ext uri="{FF2B5EF4-FFF2-40B4-BE49-F238E27FC236}">
                <a16:creationId xmlns:a16="http://schemas.microsoft.com/office/drawing/2014/main" id="{87FB7417-830B-408F-AFF1-5396C40359DF}"/>
              </a:ext>
            </a:extLst>
          </p:cNvPr>
          <p:cNvSpPr>
            <a:spLocks xmlns:a="http://schemas.openxmlformats.org/drawingml/2006/main" noGrp="1"/>
          </p:cNvSpPr>
          <p:nvPr/>
        </p:nvSpPr>
        <p:spPr>
          <a:xfrm xmlns:a="http://schemas.openxmlformats.org/drawingml/2006/main">
            <a:off x="838200" y="3800475"/>
            <a:ext cx="3009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Data layer</a:t>
            </a:r>
          </a:p>
        </p:txBody>
      </p:sp>
      <p:sp>
        <p:nvSpPr>
          <p:cNvPr id="16" name="">
            <a:extLst xmlns:a="http://schemas.openxmlformats.org/drawingml/2006/main">
              <a:ext uri="{FF2B5EF4-FFF2-40B4-BE49-F238E27FC236}">
                <a16:creationId xmlns:a16="http://schemas.microsoft.com/office/drawing/2014/main" id="{5151E810-F376-42BF-9573-A30C5A1CF39F}"/>
              </a:ext>
            </a:extLst>
          </p:cNvPr>
          <p:cNvSpPr>
            <a:spLocks xmlns:a="http://schemas.openxmlformats.org/drawingml/2006/main" noGrp="1"/>
          </p:cNvSpPr>
          <p:nvPr/>
        </p:nvSpPr>
        <p:spPr>
          <a:xfrm xmlns:a="http://schemas.openxmlformats.org/drawingml/2006/main">
            <a:off x="4114800" y="382905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SQLite database and local files for uploaded resources</a:t>
            </a:r>
          </a:p>
        </p:txBody>
      </p:sp>
      <p:sp>
        <p:nvSpPr>
          <p:cNvPr id="17" name="">
            <a:extLst xmlns:a="http://schemas.openxmlformats.org/drawingml/2006/main">
              <a:ext uri="{FF2B5EF4-FFF2-40B4-BE49-F238E27FC236}">
                <a16:creationId xmlns:a16="http://schemas.microsoft.com/office/drawing/2014/main" id="{ED5F9EF8-C1C4-46D0-AD0A-F5ECAAF1A9C1}"/>
              </a:ext>
            </a:extLst>
          </p:cNvPr>
          <p:cNvSpPr>
            <a:spLocks xmlns:a="http://schemas.openxmlformats.org/drawingml/2006/main" noGrp="1"/>
          </p:cNvSpPr>
          <p:nvPr/>
        </p:nvSpPr>
        <p:spPr>
          <a:xfrm xmlns:a="http://schemas.openxmlformats.org/drawingml/2006/main">
            <a:off x="838200" y="4981575"/>
            <a:ext cx="3009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Five domain apps</a:t>
            </a:r>
          </a:p>
        </p:txBody>
      </p:sp>
      <p:sp>
        <p:nvSpPr>
          <p:cNvPr id="18" name="">
            <a:extLst xmlns:a="http://schemas.openxmlformats.org/drawingml/2006/main">
              <a:ext uri="{FF2B5EF4-FFF2-40B4-BE49-F238E27FC236}">
                <a16:creationId xmlns:a16="http://schemas.microsoft.com/office/drawing/2014/main" id="{7517DA24-055E-4842-B172-ED3759776011}"/>
              </a:ext>
            </a:extLst>
          </p:cNvPr>
          <p:cNvSpPr>
            <a:spLocks xmlns:a="http://schemas.openxmlformats.org/drawingml/2006/main" noGrp="1"/>
          </p:cNvSpPr>
          <p:nvPr/>
        </p:nvSpPr>
        <p:spPr>
          <a:xfrm xmlns:a="http://schemas.openxmlformats.org/drawingml/2006/main">
            <a:off x="4114800" y="4981575"/>
            <a:ext cx="7239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accounts    matching    mentorship</a:t>
            </a:r>
          </a:p>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gamification    notifications</a:t>
            </a:r>
          </a:p>
        </p:txBody>
      </p:sp>
    </p:spTree>
    <p:extLst>
      <p:ext uri="{BB962C8B-B14F-4D97-AF65-F5344CB8AC3E}">
        <p14:creationId xmlns:p14="http://schemas.microsoft.com/office/powerpoint/2010/main" val="14627022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8BB787-BF44-4DCF-A4F8-631F9A914A4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5. Demonstration</a:t>
            </a:r>
          </a:p>
        </p:txBody>
      </p:sp>
      <p:pic>
        <p:nvPicPr>
          <p:cNvPr id="5" name="Picture 4">
            <a:extLst xmlns:a="http://schemas.openxmlformats.org/drawingml/2006/main">
              <a:ext uri="{FF2B5EF4-FFF2-40B4-BE49-F238E27FC236}">
                <a16:creationId xmlns:a16="http://schemas.microsoft.com/office/drawing/2014/main" id="{7655AA0E-C3FE-4E8D-8A4A-F2DA703279E2}"/>
              </a:ext>
            </a:extLst>
          </p:cNvPr>
          <p:cNvPicPr>
            <a:picLocks xmlns:a="http://schemas.openxmlformats.org/drawingml/2006/main" noChangeAspect="1"/>
          </p:cNvPicPr>
          <p:nvPr/>
        </p:nvPicPr>
        <p:blipFill>
          <a:blip xmlns:r="http://schemas.openxmlformats.org/officeDocument/2006/relationships" xmlns:a="http://schemas.openxmlformats.org/drawingml/2006/main" r:embed="R8e0b460c1b9f4b38"/>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B16F7F75-E1C4-4490-AD49-9AEAB114FC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FAE1A985-9D27-40CC-B31C-449A3B2A11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93F5E7-1286-4B25-AAA4-07DE12CCF392}" type="slidenum">
              <a:rPr sz="1600"/>
              <a:t>6</a:t>
            </a:fld>
            <a:endParaRPr sz="1600"/>
          </a:p>
        </p:txBody>
      </p:sp>
      <p:sp>
        <p:nvSpPr>
          <p:cNvPr id="6" name="Content Placeholder 5">
            <a:extLst xmlns:a="http://schemas.openxmlformats.org/drawingml/2006/main">
              <a:ext uri="{FF2B5EF4-FFF2-40B4-BE49-F238E27FC236}">
                <a16:creationId xmlns:a16="http://schemas.microsoft.com/office/drawing/2014/main" id="{E1770D02-8F7E-465B-BDE6-D87B1488F07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endParaRPr/>
          </a:p>
        </p:txBody>
      </p:sp>
      <p:sp>
        <p:nvSpPr>
          <p:cNvPr id="11" name="">
            <a:extLst xmlns:a="http://schemas.openxmlformats.org/drawingml/2006/main">
              <a:ext uri="{FF2B5EF4-FFF2-40B4-BE49-F238E27FC236}">
                <a16:creationId xmlns:a16="http://schemas.microsoft.com/office/drawing/2014/main" id="{FF3B244C-9761-4F76-A441-10AD30461ADA}"/>
              </a:ext>
            </a:extLst>
          </p:cNvPr>
          <p:cNvSpPr>
            <a:spLocks xmlns:a="http://schemas.openxmlformats.org/drawingml/2006/main" noGrp="1"/>
          </p:cNvSpPr>
          <p:nvPr/>
        </p:nvSpPr>
        <p:spPr>
          <a:xfrm xmlns:a="http://schemas.openxmlformats.org/drawingml/2006/main">
            <a:off x="838200" y="1905000"/>
            <a:ext cx="535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0000"/>
                </a:solidFill>
                <a:latin typeface="Calibri"/>
                <a:ea typeface="Calibri"/>
                <a:cs typeface="Calibri"/>
              </a:defRPr>
            </a:defPPr>
          </a:lstStyle>
          <a:p xmlns:a="http://schemas.openxmlformats.org/drawingml/2006/main">
            <a:pPr algn="l">
              <a:defRPr sz="2325" b="1">
                <a:solidFill>
                  <a:srgbClr val="000000"/>
                </a:solidFill>
                <a:latin typeface="Calibri"/>
                <a:ea typeface="Calibri"/>
                <a:cs typeface="Calibri"/>
              </a:defRPr>
            </a:pPr>
            <a:r>
              <a:rPr sz="2325" b="1">
                <a:solidFill>
                  <a:srgbClr val="000000"/>
                </a:solidFill>
                <a:latin typeface="Calibri"/>
                <a:ea typeface="Calibri"/>
                <a:cs typeface="Calibri"/>
              </a:rPr>
              <a:t>Seeded demonstration scenarios</a:t>
            </a:r>
          </a:p>
        </p:txBody>
      </p:sp>
      <p:sp>
        <p:nvSpPr>
          <p:cNvPr id="12" name="">
            <a:extLst xmlns:a="http://schemas.openxmlformats.org/drawingml/2006/main">
              <a:ext uri="{FF2B5EF4-FFF2-40B4-BE49-F238E27FC236}">
                <a16:creationId xmlns:a16="http://schemas.microsoft.com/office/drawing/2014/main" id="{DA246BC2-45DE-4157-B92F-6B79B0FDB6B1}"/>
              </a:ext>
            </a:extLst>
          </p:cNvPr>
          <p:cNvSpPr>
            <a:spLocks xmlns:a="http://schemas.openxmlformats.org/drawingml/2006/main" noGrp="1"/>
          </p:cNvSpPr>
          <p:nvPr/>
        </p:nvSpPr>
        <p:spPr>
          <a:xfrm xmlns:a="http://schemas.openxmlformats.org/drawingml/2006/main">
            <a:off x="838200" y="2600325"/>
            <a:ext cx="52673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Alex Rivera</a:t>
            </a:r>
          </a:p>
        </p:txBody>
      </p:sp>
      <p:sp>
        <p:nvSpPr>
          <p:cNvPr id="13" name="">
            <a:extLst xmlns:a="http://schemas.openxmlformats.org/drawingml/2006/main">
              <a:ext uri="{FF2B5EF4-FFF2-40B4-BE49-F238E27FC236}">
                <a16:creationId xmlns:a16="http://schemas.microsoft.com/office/drawing/2014/main" id="{9B285398-A859-4856-B9A2-E65888846BB6}"/>
              </a:ext>
            </a:extLst>
          </p:cNvPr>
          <p:cNvSpPr>
            <a:spLocks xmlns:a="http://schemas.openxmlformats.org/drawingml/2006/main" noGrp="1"/>
          </p:cNvSpPr>
          <p:nvPr/>
        </p:nvSpPr>
        <p:spPr>
          <a:xfrm xmlns:a="http://schemas.openxmlformats.org/drawingml/2006/main">
            <a:off x="838200" y="2990850"/>
            <a:ext cx="5267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Active workspace: 61.7% progress</a:t>
            </a:r>
          </a:p>
        </p:txBody>
      </p:sp>
      <p:sp>
        <p:nvSpPr>
          <p:cNvPr id="14" name="">
            <a:extLst xmlns:a="http://schemas.openxmlformats.org/drawingml/2006/main">
              <a:ext uri="{FF2B5EF4-FFF2-40B4-BE49-F238E27FC236}">
                <a16:creationId xmlns:a16="http://schemas.microsoft.com/office/drawing/2014/main" id="{F83EEBD1-E0B0-424B-AA25-FC69B91A80CA}"/>
              </a:ext>
            </a:extLst>
          </p:cNvPr>
          <p:cNvSpPr>
            <a:spLocks xmlns:a="http://schemas.openxmlformats.org/drawingml/2006/main" noGrp="1"/>
          </p:cNvSpPr>
          <p:nvPr/>
        </p:nvSpPr>
        <p:spPr>
          <a:xfrm xmlns:a="http://schemas.openxmlformats.org/drawingml/2006/main">
            <a:off x="838200" y="3448050"/>
            <a:ext cx="52673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Jordan Lee</a:t>
            </a:r>
          </a:p>
        </p:txBody>
      </p:sp>
      <p:sp>
        <p:nvSpPr>
          <p:cNvPr id="15" name="">
            <a:extLst xmlns:a="http://schemas.openxmlformats.org/drawingml/2006/main">
              <a:ext uri="{FF2B5EF4-FFF2-40B4-BE49-F238E27FC236}">
                <a16:creationId xmlns:a16="http://schemas.microsoft.com/office/drawing/2014/main" id="{D2D2794E-ABC9-48E9-9E92-91CFB8669DAD}"/>
              </a:ext>
            </a:extLst>
          </p:cNvPr>
          <p:cNvSpPr>
            <a:spLocks xmlns:a="http://schemas.openxmlformats.org/drawingml/2006/main" noGrp="1"/>
          </p:cNvSpPr>
          <p:nvPr/>
        </p:nvSpPr>
        <p:spPr>
          <a:xfrm xmlns:a="http://schemas.openxmlformats.org/drawingml/2006/main">
            <a:off x="838200" y="3838575"/>
            <a:ext cx="5267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Pending priority request: 15 credits</a:t>
            </a:r>
          </a:p>
        </p:txBody>
      </p:sp>
      <p:sp>
        <p:nvSpPr>
          <p:cNvPr id="16" name="">
            <a:extLst xmlns:a="http://schemas.openxmlformats.org/drawingml/2006/main">
              <a:ext uri="{FF2B5EF4-FFF2-40B4-BE49-F238E27FC236}">
                <a16:creationId xmlns:a16="http://schemas.microsoft.com/office/drawing/2014/main" id="{7F66CE18-EC85-4ED4-BAA3-8D69132049D9}"/>
              </a:ext>
            </a:extLst>
          </p:cNvPr>
          <p:cNvSpPr>
            <a:spLocks xmlns:a="http://schemas.openxmlformats.org/drawingml/2006/main" noGrp="1"/>
          </p:cNvSpPr>
          <p:nvPr/>
        </p:nvSpPr>
        <p:spPr>
          <a:xfrm xmlns:a="http://schemas.openxmlformats.org/drawingml/2006/main">
            <a:off x="838200" y="4295775"/>
            <a:ext cx="52673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Priya Sharma</a:t>
            </a:r>
          </a:p>
        </p:txBody>
      </p:sp>
      <p:sp>
        <p:nvSpPr>
          <p:cNvPr id="17" name="">
            <a:extLst xmlns:a="http://schemas.openxmlformats.org/drawingml/2006/main">
              <a:ext uri="{FF2B5EF4-FFF2-40B4-BE49-F238E27FC236}">
                <a16:creationId xmlns:a16="http://schemas.microsoft.com/office/drawing/2014/main" id="{86A9F612-F08B-403E-B004-666399D13117}"/>
              </a:ext>
            </a:extLst>
          </p:cNvPr>
          <p:cNvSpPr>
            <a:spLocks xmlns:a="http://schemas.openxmlformats.org/drawingml/2006/main" noGrp="1"/>
          </p:cNvSpPr>
          <p:nvPr/>
        </p:nvSpPr>
        <p:spPr>
          <a:xfrm xmlns:a="http://schemas.openxmlformats.org/drawingml/2006/main">
            <a:off x="838200" y="4686300"/>
            <a:ext cx="5267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Completed mentorship and certificate</a:t>
            </a:r>
          </a:p>
        </p:txBody>
      </p:sp>
      <p:pic>
        <p:nvPicPr>
          <p:cNvPr id="18" name="">
            <a:extLst xmlns:a="http://schemas.openxmlformats.org/drawingml/2006/main">
              <a:ext uri="{FF2B5EF4-FFF2-40B4-BE49-F238E27FC236}">
                <a16:creationId xmlns:a16="http://schemas.microsoft.com/office/drawing/2014/main" id="{088EDA1A-53CB-44D9-99FC-A119A791F977}"/>
              </a:ext>
            </a:extLst>
          </p:cNvPr>
          <p:cNvPicPr>
            <a:picLocks xmlns:a="http://schemas.openxmlformats.org/drawingml/2006/main" noChangeAspect="1"/>
          </p:cNvPicPr>
          <p:nvPr/>
        </p:nvPicPr>
        <p:blipFill>
          <a:blip xmlns:r="http://schemas.openxmlformats.org/officeDocument/2006/relationships" xmlns:a="http://schemas.openxmlformats.org/drawingml/2006/main" r:embed="R6c4b3ef6b68e45d2"/>
          <a:stretch xmlns:a="http://schemas.openxmlformats.org/drawingml/2006/main"/>
        </p:blipFill>
        <p:spPr>
          <a:xfrm xmlns:a="http://schemas.openxmlformats.org/drawingml/2006/main">
            <a:off x="6486525" y="2402406"/>
            <a:ext cx="4867275" cy="3053314"/>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40E17BD-C3E9-4CCF-B515-2F312ABF4837}"/>
              </a:ext>
            </a:extLst>
          </p:cNvPr>
          <p:cNvSpPr>
            <a:spLocks xmlns:a="http://schemas.openxmlformats.org/drawingml/2006/main" noGrp="1"/>
          </p:cNvSpPr>
          <p:nvPr/>
        </p:nvSpPr>
        <p:spPr>
          <a:xfrm xmlns:a="http://schemas.openxmlformats.org/drawingml/2006/main">
            <a:off x="6486525" y="5638800"/>
            <a:ext cx="4867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0000"/>
                </a:solidFill>
                <a:latin typeface="Calibri"/>
                <a:ea typeface="Calibri"/>
                <a:cs typeface="Calibri"/>
              </a:defRPr>
            </a:defPPr>
          </a:lstStyle>
          <a:p xmlns:a="http://schemas.openxmlformats.org/drawingml/2006/main">
            <a:pPr algn="l">
              <a:defRPr sz="1575" b="0">
                <a:solidFill>
                  <a:srgbClr val="000000"/>
                </a:solidFill>
                <a:latin typeface="Calibri"/>
                <a:ea typeface="Calibri"/>
                <a:cs typeface="Calibri"/>
              </a:defRPr>
            </a:pPr>
            <a:r>
              <a:rPr sz="1575" b="0">
                <a:solidFill>
                  <a:srgbClr val="000000"/>
                </a:solidFill>
                <a:latin typeface="Calibri"/>
                <a:ea typeface="Calibri"/>
                <a:cs typeface="Calibri"/>
              </a:rPr>
              <a:t>Demo Switcher changes accounts while DEBUG is enabled</a:t>
            </a:r>
          </a:p>
        </p:txBody>
      </p:sp>
      <p:sp>
        <p:nvSpPr>
          <p:cNvPr id="20" name="">
            <a:extLst xmlns:a="http://schemas.openxmlformats.org/drawingml/2006/main">
              <a:ext uri="{FF2B5EF4-FFF2-40B4-BE49-F238E27FC236}">
                <a16:creationId xmlns:a16="http://schemas.microsoft.com/office/drawing/2014/main" id="{762C3802-EC18-4E32-8358-6CAE4285C021}"/>
              </a:ext>
            </a:extLst>
          </p:cNvPr>
          <p:cNvSpPr>
            <a:spLocks xmlns:a="http://schemas.openxmlformats.org/drawingml/2006/main" noGrp="1"/>
          </p:cNvSpPr>
          <p:nvPr/>
        </p:nvSpPr>
        <p:spPr>
          <a:xfrm xmlns:a="http://schemas.openxmlformats.org/drawingml/2006/main">
            <a:off x="838200" y="5638800"/>
            <a:ext cx="52673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Calibri"/>
                <a:ea typeface="Calibri"/>
                <a:cs typeface="Calibri"/>
              </a:defRPr>
            </a:defPPr>
          </a:lstStyle>
          <a:p xmlns:a="http://schemas.openxmlformats.org/drawingml/2006/main">
            <a:pPr algn="l">
              <a:defRPr sz="1725" b="0">
                <a:solidFill>
                  <a:srgbClr val="000000"/>
                </a:solidFill>
                <a:latin typeface="Calibri"/>
                <a:ea typeface="Calibri"/>
                <a:cs typeface="Calibri"/>
              </a:defRPr>
            </a:pPr>
            <a:r>
              <a:rPr sz="1725" b="0">
                <a:solidFill>
                  <a:srgbClr val="000000"/>
                </a:solidFill>
                <a:latin typeface="Calibri"/>
                <a:ea typeface="Calibri"/>
                <a:cs typeface="Calibri"/>
              </a:rPr>
              <a:t>Local launch: migrate, seed_demo_data, runserver</a:t>
            </a:r>
          </a:p>
        </p:txBody>
      </p:sp>
    </p:spTree>
    <p:extLst>
      <p:ext uri="{BB962C8B-B14F-4D97-AF65-F5344CB8AC3E}">
        <p14:creationId xmlns:p14="http://schemas.microsoft.com/office/powerpoint/2010/main" val="60267862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2026-10-11T20:08:51.8870000Z</dcterms:created>
  <dcterms:modified xsi:type="dcterms:W3CDTF">2026-10-11T20:08:51.8870000Z</dcterms:modified>
</coreProperties>
</file>