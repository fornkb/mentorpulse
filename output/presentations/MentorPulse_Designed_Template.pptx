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1ec2b40a33401e" /><Relationship Type="http://schemas.openxmlformats.org/officeDocument/2006/relationships/extended-properties" Target="/docProps/app.xml" Id="R6f91c2d90b324873" /><Relationship Type="http://schemas.openxmlformats.org/officeDocument/2006/relationships/officeDocument" Target="/ppt/presentation.xml" Id="R5f3ee9f97ef04a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b04b92a0804003"/>
  </p:sldMasterIdLst>
  <p:notesMasterIdLst>
    <p:notesMasterId xmlns:r="http://schemas.openxmlformats.org/officeDocument/2006/relationships" r:id="Re2e34140686742b5"/>
  </p:notesMasterIdLst>
  <p:sldIdLst>
    <p:sldId xmlns:r="http://schemas.openxmlformats.org/officeDocument/2006/relationships" id="256" r:id="R460418e97a114a50"/>
    <p:sldId xmlns:r="http://schemas.openxmlformats.org/officeDocument/2006/relationships" id="257" r:id="R26d960cc210d4215"/>
    <p:sldId xmlns:r="http://schemas.openxmlformats.org/officeDocument/2006/relationships" id="258" r:id="R0b6f9faa11524eca"/>
    <p:sldId xmlns:r="http://schemas.openxmlformats.org/officeDocument/2006/relationships" id="259" r:id="R6da2f265bda04d00"/>
    <p:sldId xmlns:r="http://schemas.openxmlformats.org/officeDocument/2006/relationships" id="260" r:id="Rc7cdaac9f35b4350"/>
    <p:sldId xmlns:r="http://schemas.openxmlformats.org/officeDocument/2006/relationships" id="261" r:id="Refcd76680f61446e"/>
    <p:sldId xmlns:r="http://schemas.openxmlformats.org/officeDocument/2006/relationships" id="262" r:id="R584c6ea823eb4618"/>
    <p:sldId xmlns:r="http://schemas.openxmlformats.org/officeDocument/2006/relationships" id="263" r:id="Rf638dfb6bd814395"/>
    <p:sldId xmlns:r="http://schemas.openxmlformats.org/officeDocument/2006/relationships" id="264" r:id="R28ca06f67c864db1"/>
    <p:sldId xmlns:r="http://schemas.openxmlformats.org/officeDocument/2006/relationships" id="265" r:id="Re8b492191853417c"/>
    <p:sldId xmlns:r="http://schemas.openxmlformats.org/officeDocument/2006/relationships" id="266" r:id="Rb33646d3be394a55"/>
    <p:sldId xmlns:r="http://schemas.openxmlformats.org/officeDocument/2006/relationships" id="267" r:id="Rfe0d2f5fe49b457d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a46605bb3042ae" /><Relationship Type="http://schemas.openxmlformats.org/officeDocument/2006/relationships/slideMaster" Target="/ppt/slideMasters/slideMaster1.xml" Id="Re5b04b92a0804003" /><Relationship Type="http://schemas.openxmlformats.org/officeDocument/2006/relationships/notesMaster" Target="/ppt/notesMasters/notesMaster1.xml" Id="Re2e34140686742b5" /><Relationship Type="http://schemas.openxmlformats.org/officeDocument/2006/relationships/presProps" Target="/ppt/presProps.xml" Id="R9f502f57961e4620" /><Relationship Type="http://schemas.openxmlformats.org/officeDocument/2006/relationships/viewProps" Target="/ppt/viewProps.xml" Id="R1e49757e82114277" /><Relationship Type="http://schemas.openxmlformats.org/officeDocument/2006/relationships/tableStyles" Target="/ppt/tableStyles.xml" Id="Reb0a69685d344fc4" /><Relationship Type="http://schemas.openxmlformats.org/officeDocument/2006/relationships/slide" Target="/ppt/slides/slide1.xml" Id="R460418e97a114a50" /><Relationship Type="http://schemas.openxmlformats.org/officeDocument/2006/relationships/slide" Target="/ppt/slides/slide2.xml" Id="R26d960cc210d4215" /><Relationship Type="http://schemas.openxmlformats.org/officeDocument/2006/relationships/slide" Target="/ppt/slides/slide3.xml" Id="R0b6f9faa11524eca" /><Relationship Type="http://schemas.openxmlformats.org/officeDocument/2006/relationships/slide" Target="/ppt/slides/slide4.xml" Id="R6da2f265bda04d00" /><Relationship Type="http://schemas.openxmlformats.org/officeDocument/2006/relationships/slide" Target="/ppt/slides/slide5.xml" Id="Rc7cdaac9f35b4350" /><Relationship Type="http://schemas.openxmlformats.org/officeDocument/2006/relationships/slide" Target="/ppt/slides/slide6.xml" Id="Refcd76680f61446e" /><Relationship Type="http://schemas.openxmlformats.org/officeDocument/2006/relationships/slide" Target="/ppt/slides/slide7.xml" Id="R584c6ea823eb4618" /><Relationship Type="http://schemas.openxmlformats.org/officeDocument/2006/relationships/slide" Target="/ppt/slides/slide8.xml" Id="Rf638dfb6bd814395" /><Relationship Type="http://schemas.openxmlformats.org/officeDocument/2006/relationships/slide" Target="/ppt/slides/slide9.xml" Id="R28ca06f67c864db1" /><Relationship Type="http://schemas.openxmlformats.org/officeDocument/2006/relationships/slide" Target="/ppt/slides/slide10.xml" Id="Re8b492191853417c" /><Relationship Type="http://schemas.openxmlformats.org/officeDocument/2006/relationships/slide" Target="/ppt/slides/slide11.xml" Id="Rb33646d3be394a55" /><Relationship Type="http://schemas.openxmlformats.org/officeDocument/2006/relationships/slide" Target="/ppt/slides/slide12.xml" Id="Rfe0d2f5fe49b45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6356533cb34d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417a5825744b4f" /><Relationship Type="http://schemas.openxmlformats.org/officeDocument/2006/relationships/notesMaster" Target="/ppt/notesMasters/notesMaster1.xml" Id="R22404b4c3d4843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ede67dcb224bd7" /><Relationship Type="http://schemas.openxmlformats.org/officeDocument/2006/relationships/notesMaster" Target="/ppt/notesMasters/notesMaster1.xml" Id="R3f950d0a049641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00e4fbd7e64550" /><Relationship Type="http://schemas.openxmlformats.org/officeDocument/2006/relationships/notesMaster" Target="/ppt/notesMasters/notesMaster1.xml" Id="Re885e5c02ac34b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11f51ecd604e7d" /><Relationship Type="http://schemas.openxmlformats.org/officeDocument/2006/relationships/notesMaster" Target="/ppt/notesMasters/notesMaster1.xml" Id="R90deac09decc44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265aa8cdc74e3e" /><Relationship Type="http://schemas.openxmlformats.org/officeDocument/2006/relationships/notesMaster" Target="/ppt/notesMasters/notesMaster1.xml" Id="Rf023c093f51d4b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1a2ccba87f4c5e" /><Relationship Type="http://schemas.openxmlformats.org/officeDocument/2006/relationships/notesMaster" Target="/ppt/notesMasters/notesMaster1.xml" Id="Rcbb77259b26f48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30676817534db4" /><Relationship Type="http://schemas.openxmlformats.org/officeDocument/2006/relationships/notesMaster" Target="/ppt/notesMasters/notesMaster1.xml" Id="R018e5114b64249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0520521e214779" /><Relationship Type="http://schemas.openxmlformats.org/officeDocument/2006/relationships/notesMaster" Target="/ppt/notesMasters/notesMaster1.xml" Id="Rf1e0cba1dc1446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99e4f303cd41a3" /><Relationship Type="http://schemas.openxmlformats.org/officeDocument/2006/relationships/notesMaster" Target="/ppt/notesMasters/notesMaster1.xml" Id="R88f61d4d30b641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291b3f161a4151" /><Relationship Type="http://schemas.openxmlformats.org/officeDocument/2006/relationships/notesMaster" Target="/ppt/notesMasters/notesMaster1.xml" Id="R20ba4f7bd28d46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f88cacec4341ec" /><Relationship Type="http://schemas.openxmlformats.org/officeDocument/2006/relationships/notesMaster" Target="/ppt/notesMasters/notesMaster1.xml" Id="R4562021e38dc43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97e8f2a4664a35" /><Relationship Type="http://schemas.openxmlformats.org/officeDocument/2006/relationships/notesMaster" Target="/ppt/notesMasters/notesMaster1.xml" Id="R391678acc5f540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Django mentorship platform. Team identity and institute branding follow the supplied presentation.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Project sources (reviewed 12 October 2026):</a:t>
            </a:r>
            <a:endParaRPr/>
          </a:p>
          <a:p xmlns:a="http://schemas.openxmlformats.org/drawingml/2006/main">
            <a:r>
              <a:t>C:\Users\babur\OneDrive\Desktop\MentorPulse\MentorPulse\README.md</a:t>
            </a:r>
            <a:endParaRPr/>
          </a:p>
          <a:p xmlns:a="http://schemas.openxmlformats.org/drawingml/2006/main">
            <a:r>
              <a:t>C:\Users\babur\OneDrive\Desktop\MentorPulse\MentorPulse\MentorPulse_Project_Description.md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Profile stores skills, goals, experience and availability. Users may hold Mentor and Learner roles concurrently. This diagram shows the product relationship, not external services.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C:\Users\babur\OneDrive\Desktop\MentorPulse\MentorPulse\accounts\models.py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C:\Users\babur\OneDrive\Desktop\MentorPulse\MentorPulse\matching\services.py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C:\Users\babur\OneDrive\Desktop\MentorPulse\MentorPulse\mentorship\models.py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Request validation blocks self-requests, requires an active mentor, prevents duplicate active/pending pairs and checks credits. Mentor acceptance creates an active workspace. States also include REJECTED and CANCELLED. Any authorised participant or staff can mark an active mentorship complete.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C:\Users\babur\OneDrive\Desktop\MentorPulse\MentorPulse\mentorship\views.py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C:\Users\babur\OneDrive\Desktop\MentorPulse\MentorPulse\mentorship\models.py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C:\Users\babur\OneDrive\Desktop\MentorPulse\MentorPulse\gamification\services.py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Design objectives from the project specification. These are motivations, not measured survey findings or claims of learning impact.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C:\Users\babur\OneDrive\Desktop\MentorPulse\MentorPulse\MentorPulse_Project_Description.md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C:\Users\babur\OneDrive\Desktop\MentorPulse\MentorPulse\mentorship\views.py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Dual roles use RoleAssignment records. Resources include links, files and notes. Notifications are database records rendered with HTTP requests, not pushed websocket events. Certificates reflect workflow completion.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C:\Users\babur\OneDrive\Desktop\MentorPulse\MentorPulse\accounts\models.py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C:\Users\babur\OneDrive\Desktop\MentorPulse\MentorPulse\matching\views.py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C:\Users\babur\OneDrive\Desktop\MentorPulse\MentorPulse\mentorship\models.py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C:\Users\babur\OneDrive\Desktop\MentorPulse\MentorPulse\notifications\views.py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C:\Users\babur\OneDrive\Desktop\MentorPulse\MentorPulse\gamification\views.py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Illustrative arithmetic examples, not seeded-user scenarios. Matching total is round(skill overlap*50 + availability ratio*30 + experience ratio*20), clamped 0–100. Availability ratios: exact 1, flexible .9, missing .6, incompatible .2. Experience affinity: +1/+2 tiers 1, +3 .9, same .65, lower .25. Skill overlap uses shared skills / learner skills, or .5 when none selected. Progress uses 70/30 when both types exist, 100% for the only existing type, 0% for no records. COMPLETED forces100%, rather than assessing competency.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C:\Users\babur\OneDrive\Desktop\MentorPulse\MentorPulse\matching\services.py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C:\Users\babur\OneDrive\Desktop\MentorPulse\MentorPulse\mentorship\models.py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Credits have no monetary value. Priority costs10 plus5. Automatic wallet operations create CreditTransaction records. Refunds and completed-session rewards include context-based duplicate guards. BadgeService uses the shown thresholds, superseding the earlier specification. First Steps checks mentorship completion, not a single milestone. Skill score is a stored profile value. Leaderboard recalculates at relevant events and when its page opens.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C:\Users\babur\OneDrive\Desktop\MentorPulse\MentorPulse\gamification\services.py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C:\Users\babur\OneDrive\Desktop\MentorPulse\MentorPulse\gamification\models.py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C:\Users\babur\OneDrive\Desktop\MentorPulse\MentorPulse\gamification\signals.py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C:\Users\babur\OneDrive\Desktop\MentorPulse\MentorPulse\gamification\views.py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Test command python manage.py test --noinput ran successfully earlier in this presentation task:53 tests, OK, no system check issues. Counts come from current test methods. Upload validator allows .pdf,.png,.jpg,.jpeg,.txt,.docx,.doc and checks 10*1024*1024 bytes. Authentication and participant checks exist, but no production security review or load test is claimed. Settings DEBUG=True suit local development. Proposed future hardening includes disabling demo switching, atomic credit writes, stricter completion criteria and deployment configuration.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C:\Users\babur\OneDrive\Desktop\MentorPulse\MentorPulse\mentorship\forms.py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C:\Users\babur\OneDrive\Desktop\MentorPulse\MentorPulse\mentorship\models.py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C:\Users\babur\OneDrive\Desktop\MentorPulse\MentorPulse\mentorpulse\settings.py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C:\Users\babur\OneDrive\Desktop\MentorPulse\MentorPulse\accounts\tests.py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C:\Users\babur\OneDrive\Desktop\MentorPulse\MentorPulse\matching\tests.py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C:\Users\babur\OneDrive\Desktop\MentorPulse\MentorPulse\mentorship\tests.py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C:\Users\babur\OneDrive\Desktop\MentorPulse\MentorPulse\gamification\tests.py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C:\Users\babur\OneDrive\Desktop\MentorPulse\MentorPulse\notifications\tests.py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Native architecture diagram represents implemented local system. Templates use Bootstrap5.3.3 and custom CSS. Django5.x requirement. Five apps run in one process with synchronous request handlers. SQLite and local MEDIA_ROOT provide storage. Bootstrap and font files normally load from public CDNs. External meeting links are fields, not video integrations.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C:\Users\babur\OneDrive\Desktop\MentorPulse\MentorPulse\mentorpulse\settings.py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C:\Users\babur\OneDrive\Desktop\MentorPulse\MentorPulse\mentorpulse\urls.py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C:\Users\babur\OneDrive\Desktop\MentorPulse\MentorPulse\templates\base.html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C:\Users\babur\OneDrive\Desktop\MentorPulse\MentorPulse\requirements.txt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Conceptual relationship diagram: Mentorship references two User records. Profile is one-to-one to User, RoleAssignment is many-to-one. Progress is one-to-one to Mentorship. Sessions,milestones,resources and posts have foreign keys to Mentorship. Completion handler invokes reward service and recalculates progress. Reward service checks badges and refreshes ranks; notification helper records events. Updates need no background queue.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C:\Users\babur\OneDrive\Desktop\MentorPulse\MentorPulse\accounts\models.py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C:\Users\babur\OneDrive\Desktop\MentorPulse\MentorPulse\mentorship\models.py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C:\Users\babur\OneDrive\Desktop\MentorPulse\MentorPulse\mentorship\views.py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C:\Users\babur\OneDrive\Desktop\MentorPulse\MentorPulse\gamification\services.py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C:\Users\babur\OneDrive\Desktop\MentorPulse\MentorPulse\notifications\services.py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Instructions start the project without seeding demonstration users. requirements.txt installs Django&gt;=5.0,&lt;6.0 plus asgiref,sqlparse,tzdata andPillow. Python3.10+ is named in README and launcher. Optional virtual environment: python -m venv .venv, then on Windows .venv\Scripts\activate or Unix source .venv/bin/activate. Skills taxonomy and mentor profiles can be created through Django Admin after python manage.py createsuperuser. Windows launchers automate migrations and data seeding; not used in this clean setup walkthrough.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C:\Users\babur\OneDrive\Desktop\MentorPulse\MentorPulse\README.md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C:\Users\babur\OneDrive\Desktop\MentorPulse\MentorPulse\requirements.txt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C:\Users\babur\OneDrive\Desktop\MentorPulse\MentorPulse\manage.py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C:\Users\babur\OneDrive\Desktop\MentorPulse\MentorPulse\debug.bat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Demonstration uses newly created accounts rather than named seeded users. Create the skill taxonomy and any required profile data through Django Admin after creating a superuser. Registration creates a profile and starting credit wallet. Activate roles through profile controls. Expected standard request costs10,priority15, mentor completion reward10, refund on rejection/cancellation. Milestone/session update changes weighted progress. Completion unlocks certificate. Test command checks current functional suite;53 tests passed during this task. Use external video URLs as session links, rather than expecting native calls.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C:\Users\babur\OneDrive\Desktop\MentorPulse\MentorPulse\accounts\forms.py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C:\Users\babur\OneDrive\Desktop\MentorPulse\MentorPulse\accounts\views.py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C:\Users\babur\OneDrive\Desktop\MentorPulse\MentorPulse\accounts\admin.py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C:\Users\babur\OneDrive\Desktop\MentorPulse\MentorPulse\matching\views.py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C:\Users\babur\OneDrive\Desktop\MentorPulse\MentorPulse\mentorship\views.py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C:\Users\babur\OneDrive\Desktop\MentorPulse\MentorPulse\gamification\services.py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C:\Users\babur\OneDrive\Desktop\MentorPulse\MentorPulse\mentorship\tests.py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f46d5f9604e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02e487483044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3375f94a84b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2d2cff4df4b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472845dad24b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fc0424ef714b9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e7d27de61346f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1f9365123d416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6f2b5c9d7485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1845f25e71456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84fc60ff04bb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729B47E-7FD2-4F7F-9381-C4308D25873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112F421-AC29-47BD-8892-41909CF195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9CFB46-51B2-43F8-B3E5-F10413A22C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E93CC8D-DF4F-4537-888A-8EE6EA88B2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83F124-D10F-42EF-94F2-7FBC9565EA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AFAF84-1226-4033-A36F-9CBF8F50CB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402083-37E7-4972-9BD5-DD44F1A3C5A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232F544-050C-4AB9-9095-D9D49AAD20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9DA83C4-112A-4972-9490-E0C0BFDA0B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97559D-8902-4FE2-8DC9-183BD5B086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271EF2A-5C6B-4555-B136-8C1C3CF3E7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A2A057-50B5-4DD0-8F0A-F2D8D5D2BC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C4B264-D1AA-42A0-AFED-4F6CAB8BF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07B74F-FC03-4A6C-A8E2-A0A5389178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1910F8-597D-4792-BAC8-A78F4A425F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6D0B0B-FB76-4571-8977-8B3C08C5D6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CF7BF79-B272-4FC4-9106-632C8D23CA0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08AF5FA-67E8-4EBE-A468-53B751D6CDD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37AA619-C884-49E4-BAB7-9893F92202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075F6F1-CD3D-4683-B56A-CA4563B568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2C63B8C-7D18-4E19-8978-D5C6EBA987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0877B01-8C23-4336-B1C3-FF72D68AAD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B695C1-E1E9-4A98-937E-ED1C020AD2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0D75512-181D-4D77-8CAF-A5144E14BFA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C35E4DC-DF2F-4F4A-8F3F-9A0A93E622A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82C58E7-FA62-4552-96A3-2A990338607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998AE32-9603-437D-8BF7-0E77546FC8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701969E-3CD1-4F9E-A7E7-B9B4EF8A0C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597F010-A6F0-4DF8-A842-5E31FC018D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8E5A20-2A9F-4D6C-943E-3346E4B880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866C692-C827-4E55-AFA5-76012CD1DA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49F3284-9696-48B8-984D-EF44AFF57A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E3B2182-6056-4315-85AF-6B170A3BD3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23127D1-DB28-4E2E-AB99-81CE7B31D5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6D74E91-7F9D-445A-9D5A-D936D47F61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DF7EE57-433A-40AE-9D93-D33BBB3E71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75A1A1-4F5E-44F9-B94A-C250BE5551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90D6C8D-A700-4FCE-B56C-3A9ABC2F10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6410EC8-7B17-4C9B-9964-44916E0219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220A7F-94E3-4E5B-BFA0-48322E2FC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7E378A7-2C2A-4383-8653-F4DA3178C6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888D93A-9480-4E63-8798-CD24AF0A91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EF6621-ECC8-4152-9057-81E2FDAEC2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93B2BEA-9AD4-4A0C-A422-54C36BB8401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6126CA7-371A-43DB-8F97-FAC204E225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E1BBC57-3C07-4506-B4A1-832FDC2AC2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51FE5C9-2CC7-4F1D-BC56-0A551A41B6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B8682B3-FAFE-491A-8C8A-4FCDBD771F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254D76-6DBE-44B7-BA10-CABAE4DC19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D751C6-4C65-4D0C-803C-D873E7572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E3335A-CD1D-48A4-BBF1-DFE274F90F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ED7192-B6E0-4D23-B0F4-2ED81C2414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E35068-BFD5-4BFC-983A-200964FB6D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9EE84AD-9F49-48BE-9C47-E797DEF603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1AD3D05-FE87-4F0F-8AD2-D3A0256B3B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B5D02F6-DF5D-4A18-81E3-7798A49C00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B3DD7E-1A38-4F0A-8410-AFE04DC7FD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FA0932-B146-44C0-800B-F7D153BAA7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2c483729bf4296" /><Relationship Type="http://schemas.openxmlformats.org/officeDocument/2006/relationships/slideLayout" Target="/ppt/slideLayouts/slideLayout1.xml" Id="R0f25cd53d95a4d76" /><Relationship Type="http://schemas.openxmlformats.org/officeDocument/2006/relationships/slideLayout" Target="/ppt/slideLayouts/slideLayout2.xml" Id="R5868dcc9a082428e" /><Relationship Type="http://schemas.openxmlformats.org/officeDocument/2006/relationships/slideLayout" Target="/ppt/slideLayouts/slideLayout3.xml" Id="R644cdeea3a544385" /><Relationship Type="http://schemas.openxmlformats.org/officeDocument/2006/relationships/slideLayout" Target="/ppt/slideLayouts/slideLayout4.xml" Id="R25a5182b4fab4e8b" /><Relationship Type="http://schemas.openxmlformats.org/officeDocument/2006/relationships/slideLayout" Target="/ppt/slideLayouts/slideLayout5.xml" Id="R23658f66b64e4ea6" /><Relationship Type="http://schemas.openxmlformats.org/officeDocument/2006/relationships/slideLayout" Target="/ppt/slideLayouts/slideLayout6.xml" Id="R3be42311955642b5" /><Relationship Type="http://schemas.openxmlformats.org/officeDocument/2006/relationships/slideLayout" Target="/ppt/slideLayouts/slideLayout7.xml" Id="R9b73195abb994c2a" /><Relationship Type="http://schemas.openxmlformats.org/officeDocument/2006/relationships/slideLayout" Target="/ppt/slideLayouts/slideLayout8.xml" Id="Rac6a1ac741044c63" /><Relationship Type="http://schemas.openxmlformats.org/officeDocument/2006/relationships/slideLayout" Target="/ppt/slideLayouts/slideLayout9.xml" Id="Re50493e9569a41b1" /><Relationship Type="http://schemas.openxmlformats.org/officeDocument/2006/relationships/slideLayout" Target="/ppt/slideLayouts/slideLayout10.xml" Id="Rfee29c278f254a57" /><Relationship Type="http://schemas.openxmlformats.org/officeDocument/2006/relationships/slideLayout" Target="/ppt/slideLayouts/slideLayout11.xml" Id="R8108b9b3133a4cf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695D76-3F76-4440-BE44-E11DC8D099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1A57BFB-E7FD-43C8-A3D2-454449D5C4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CD78B87-4569-4FAE-AC1E-60B780FF435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29C498-524F-43DB-8E60-5093D891D8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CA8424-BFE9-4B1D-B213-4F570AB349A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25cd53d95a4d76"/>
    <p:sldLayoutId xmlns:r="http://schemas.openxmlformats.org/officeDocument/2006/relationships" id="2147483650" r:id="R5868dcc9a082428e"/>
    <p:sldLayoutId xmlns:r="http://schemas.openxmlformats.org/officeDocument/2006/relationships" id="2147483651" r:id="R644cdeea3a544385"/>
    <p:sldLayoutId xmlns:r="http://schemas.openxmlformats.org/officeDocument/2006/relationships" id="2147483652" r:id="R25a5182b4fab4e8b"/>
    <p:sldLayoutId xmlns:r="http://schemas.openxmlformats.org/officeDocument/2006/relationships" id="2147483653" r:id="R23658f66b64e4ea6"/>
    <p:sldLayoutId xmlns:r="http://schemas.openxmlformats.org/officeDocument/2006/relationships" id="2147483654" r:id="R3be42311955642b5"/>
    <p:sldLayoutId xmlns:r="http://schemas.openxmlformats.org/officeDocument/2006/relationships" id="2147483655" r:id="R9b73195abb994c2a"/>
    <p:sldLayoutId xmlns:r="http://schemas.openxmlformats.org/officeDocument/2006/relationships" id="2147483656" r:id="Rac6a1ac741044c63"/>
    <p:sldLayoutId xmlns:r="http://schemas.openxmlformats.org/officeDocument/2006/relationships" id="2147483657" r:id="Re50493e9569a41b1"/>
    <p:sldLayoutId xmlns:r="http://schemas.openxmlformats.org/officeDocument/2006/relationships" id="2147483658" r:id="Rfee29c278f254a57"/>
    <p:sldLayoutId xmlns:r="http://schemas.openxmlformats.org/officeDocument/2006/relationships" id="2147483659" r:id="R8108b9b3133a4cf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6ca6f40a34e96" /><Relationship Type="http://schemas.openxmlformats.org/officeDocument/2006/relationships/image" Target="/ppt/media/image.jpeg" Id="R6236db5cb429435e" /><Relationship Type="http://schemas.openxmlformats.org/officeDocument/2006/relationships/notesSlide" Target="/ppt/notesSlides/notesSlide1.xml" Id="R6b3fa3b5dd144c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f89242a4c64986" /><Relationship Type="http://schemas.openxmlformats.org/officeDocument/2006/relationships/image" Target="/ppt/media/image.jpeg" Id="R81d5f9a33dd44912" /><Relationship Type="http://schemas.openxmlformats.org/officeDocument/2006/relationships/notesSlide" Target="/ppt/notesSlides/notesSlide2.xml" Id="R21cc102de4444e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6a9b04b5274848" /><Relationship Type="http://schemas.openxmlformats.org/officeDocument/2006/relationships/image" Target="/ppt/media/image.jpeg" Id="R89c63dc5d586455a" /><Relationship Type="http://schemas.openxmlformats.org/officeDocument/2006/relationships/notesSlide" Target="/ppt/notesSlides/notesSlide3.xml" Id="Rf52a813768014f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08c793d9a04e4c" /><Relationship Type="http://schemas.openxmlformats.org/officeDocument/2006/relationships/image" Target="/ppt/media/image.jpeg" Id="R99e1f158647a47a2" /><Relationship Type="http://schemas.openxmlformats.org/officeDocument/2006/relationships/notesSlide" Target="/ppt/notesSlides/notesSlide4.xml" Id="R10079a50604544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acfb55828341d6" /><Relationship Type="http://schemas.openxmlformats.org/officeDocument/2006/relationships/image" Target="/ppt/media/image.jpeg" Id="R7c766e83f68c4ca0" /><Relationship Type="http://schemas.openxmlformats.org/officeDocument/2006/relationships/notesSlide" Target="/ppt/notesSlides/notesSlide5.xml" Id="Rb3d97245ba6d44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a6c60455c546f2" /><Relationship Type="http://schemas.openxmlformats.org/officeDocument/2006/relationships/image" Target="/ppt/media/image.jpeg" Id="R774384d73999415c" /><Relationship Type="http://schemas.openxmlformats.org/officeDocument/2006/relationships/notesSlide" Target="/ppt/notesSlides/notesSlide6.xml" Id="Rcdde4415d72643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7d85433db4467d" /><Relationship Type="http://schemas.openxmlformats.org/officeDocument/2006/relationships/image" Target="/ppt/media/image.jpeg" Id="R34a36833cd8049c0" /><Relationship Type="http://schemas.openxmlformats.org/officeDocument/2006/relationships/notesSlide" Target="/ppt/notesSlides/notesSlide7.xml" Id="Rb67af382acf744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73af46841a4658" /><Relationship Type="http://schemas.openxmlformats.org/officeDocument/2006/relationships/image" Target="/ppt/media/image.jpeg" Id="Ra3e58d32d75d4be6" /><Relationship Type="http://schemas.openxmlformats.org/officeDocument/2006/relationships/notesSlide" Target="/ppt/notesSlides/notesSlide8.xml" Id="Rfc12ed88bd044e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51a8bf73ab469e" /><Relationship Type="http://schemas.openxmlformats.org/officeDocument/2006/relationships/image" Target="/ppt/media/image.jpeg" Id="R3a3091dcf35148a7" /><Relationship Type="http://schemas.openxmlformats.org/officeDocument/2006/relationships/notesSlide" Target="/ppt/notesSlides/notesSlide9.xml" Id="R83884be7c55143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5960f18e634d2c" /><Relationship Type="http://schemas.openxmlformats.org/officeDocument/2006/relationships/image" Target="/ppt/media/image.jpeg" Id="R8aa96b1457ec4ec0" /><Relationship Type="http://schemas.openxmlformats.org/officeDocument/2006/relationships/notesSlide" Target="/ppt/notesSlides/notesSlide10.xml" Id="Rc3ff9762f96345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1931fefcbb47d2" /><Relationship Type="http://schemas.openxmlformats.org/officeDocument/2006/relationships/image" Target="/ppt/media/image.jpeg" Id="R5f7745f0e22e4985" /><Relationship Type="http://schemas.openxmlformats.org/officeDocument/2006/relationships/notesSlide" Target="/ppt/notesSlides/notesSlide11.xml" Id="R54facfa871a04d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91b3d9afac4ca3" /><Relationship Type="http://schemas.openxmlformats.org/officeDocument/2006/relationships/image" Target="/ppt/media/image.jpeg" Id="Rb9a4574cdf4f49f0" /><Relationship Type="http://schemas.openxmlformats.org/officeDocument/2006/relationships/notesSlide" Target="/ppt/notesSlides/notesSlide12.xml" Id="R331db90a66324c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C1ECF6-06F9-4BF2-AA72-39125277DCD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2209800"/>
            <a:ext cx="9144000" cy="112395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6150">
                <a:solidFill>
                  <a:srgbClr val="213B57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6150">
                <a:solidFill>
                  <a:srgbClr val="213B57"/>
                </a:solidFill>
                <a:latin typeface="Calibri Light"/>
                <a:ea typeface="Calibri Light"/>
                <a:cs typeface="Calibri Light"/>
              </a:defRPr>
            </a:pPr>
            <a:r>
              <a:rPr sz="6150">
                <a:solidFill>
                  <a:srgbClr val="213B57"/>
                </a:solidFill>
                <a:latin typeface="Calibri Light"/>
                <a:ea typeface="Calibri Light"/>
                <a:cs typeface="Calibri Light"/>
              </a:rPr>
              <a:t>MentorPulse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A5ED2E5-5C9C-49B3-BD95-23F43B6821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4362450"/>
            <a:ext cx="9144000" cy="93345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75" i="0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175" i="0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175" i="0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Navaneeth Krishna    Shivamshi Ullas</a:t>
            </a:r>
          </a:p>
          <a:p xmlns:a="http://schemas.openxmlformats.org/drawingml/2006/main">
            <a:pPr algn="ctr">
              <a:defRPr sz="2175" i="0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175" i="0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Chandhana    Prakshitha Pradeep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F0A3B73D-1E61-4802-9628-AFFC071800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6db5cb42943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23813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0FD8DA5-AA38-4A16-BEFF-42F53C3721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6" name="Subtitle 2">
            <a:extLst xmlns:a="http://schemas.openxmlformats.org/drawingml/2006/main">
              <a:ext uri="{FF2B5EF4-FFF2-40B4-BE49-F238E27FC236}">
                <a16:creationId xmlns:a16="http://schemas.microsoft.com/office/drawing/2014/main" id="{7838B591-0C5A-463F-90ED-B9642E30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 algn="ctr">
              <a:defRPr sz="1875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75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Group 11</a:t>
            </a:r>
            <a:endParaRPr i="1"/>
          </a:p>
        </p:txBody>
      </p:sp>
      <p:sp>
        <p:nvSpPr>
          <p:cNvPr id="8" name="Skill-based mentor matching and progress tracking">
            <a:extLst xmlns:a="http://schemas.openxmlformats.org/drawingml/2006/main">
              <a:ext uri="{FF2B5EF4-FFF2-40B4-BE49-F238E27FC236}">
                <a16:creationId xmlns:a16="http://schemas.microsoft.com/office/drawing/2014/main" id="{795C976C-9D1A-4182-8B15-9B2E404C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914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75" b="0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475" b="0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Skill-based mentor matching and progress tracking</a:t>
            </a:r>
          </a:p>
        </p:txBody>
      </p:sp>
    </p:spTree>
    <p:extLst>
      <p:ext uri="{BB962C8B-B14F-4D97-AF65-F5344CB8AC3E}">
        <p14:creationId xmlns:p14="http://schemas.microsoft.com/office/powerpoint/2010/main" val="25252304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055975-45D5-4EE9-9FE2-91751D233737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7486650" y="4086225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head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8AB75-ED11-43D0-9ADD-0852CFBDD7A8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629025" y="408622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headEnd type="triangle" w="sm" len="sm"/>
          </a:ln>
        </p:spPr>
      </p:cxn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FBE327-1501-4EDF-B7EB-0756824AF9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Introduction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ADE328D-AA37-469F-9756-AD1E3E4C0D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11553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827D2206-887A-4BA3-AD23-7BCD4FDED2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5f9a33dd449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F2E8629C-A6E4-4D66-99CF-399E428108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9C2E3A0E-B88C-44B1-9AC6-41F0821E54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rPr sz="1600"/>
              <a:t>2</a:t>
            </a:fld>
            <a:endParaRPr sz="1600"/>
          </a:p>
        </p:txBody>
      </p:sp>
      <p:sp>
        <p:nvSpPr>
          <p:cNvPr id="11" name="Platform overview">
            <a:extLst xmlns:a="http://schemas.openxmlformats.org/drawingml/2006/main">
              <a:ext uri="{FF2B5EF4-FFF2-40B4-BE49-F238E27FC236}">
                <a16:creationId xmlns:a16="http://schemas.microsoft.com/office/drawing/2014/main" id="{C1EDF11F-47C4-4BA2-8504-18C1B4A9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Platform overview</a:t>
            </a:r>
          </a:p>
        </p:txBody>
      </p:sp>
      <p:sp>
        <p:nvSpPr>
          <p:cNvPr id="12" name="MentorPulse connects learners with mentors and giv">
            <a:extLst xmlns:a="http://schemas.openxmlformats.org/drawingml/2006/main">
              <a:ext uri="{FF2B5EF4-FFF2-40B4-BE49-F238E27FC236}">
                <a16:creationId xmlns:a16="http://schemas.microsoft.com/office/drawing/2014/main" id="{41B918C0-9E3A-4C32-9929-9D533FB0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0275"/>
            <a:ext cx="1051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MentorPulse connects learners with mentors and gives</a:t>
            </a:r>
          </a:p>
          <a:p xmlns:a="http://schemas.openxmlformats.org/drawingml/2006/main">
            <a:pPr algn="l">
              <a:defRPr sz="24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each pair a shared record of their learning journey.</a:t>
            </a:r>
          </a:p>
        </p:txBody>
      </p:sp>
      <p:sp>
        <p:nvSpPr>
          <p:cNvPr id="13" name="Learner Skills and learning goals">
            <a:extLst xmlns:a="http://schemas.openxmlformats.org/drawingml/2006/main">
              <a:ext uri="{FF2B5EF4-FFF2-40B4-BE49-F238E27FC236}">
                <a16:creationId xmlns:a16="http://schemas.microsoft.com/office/drawing/2014/main" id="{6283F625-2D88-4E7F-B359-2FD0F0A9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2790825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Learner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Skills and learning goals</a:t>
            </a:r>
          </a:p>
        </p:txBody>
      </p:sp>
      <p:sp>
        <p:nvSpPr>
          <p:cNvPr id="14" name="MentorPulse Matching and workspace">
            <a:extLst xmlns:a="http://schemas.openxmlformats.org/drawingml/2006/main">
              <a:ext uri="{FF2B5EF4-FFF2-40B4-BE49-F238E27FC236}">
                <a16:creationId xmlns:a16="http://schemas.microsoft.com/office/drawing/2014/main" id="{3CBEFEB9-4039-4EB5-89F9-C433492D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33775"/>
            <a:ext cx="2790825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MentorPulse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Matching and workspace</a:t>
            </a:r>
          </a:p>
        </p:txBody>
      </p:sp>
      <p:sp>
        <p:nvSpPr>
          <p:cNvPr id="15" name="Mentor Experience and availability">
            <a:extLst xmlns:a="http://schemas.openxmlformats.org/drawingml/2006/main">
              <a:ext uri="{FF2B5EF4-FFF2-40B4-BE49-F238E27FC236}">
                <a16:creationId xmlns:a16="http://schemas.microsoft.com/office/drawing/2014/main" id="{A1E986CD-6640-4BD5-9142-0CAFA29B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533775"/>
            <a:ext cx="2790825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Mentor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Experience and availability</a:t>
            </a:r>
          </a:p>
        </p:txBody>
      </p:sp>
      <p:sp>
        <p:nvSpPr>
          <p:cNvPr id="18" name="Discovery">
            <a:extLst xmlns:a="http://schemas.openxmlformats.org/drawingml/2006/main">
              <a:ext uri="{FF2B5EF4-FFF2-40B4-BE49-F238E27FC236}">
                <a16:creationId xmlns:a16="http://schemas.microsoft.com/office/drawing/2014/main" id="{86725E80-DD73-4913-A9E3-660B268D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676AD"/>
                </a:solidFill>
                <a:latin typeface="Segoe UI"/>
                <a:ea typeface="Segoe UI"/>
                <a:cs typeface="Segoe UI"/>
              </a:rPr>
              <a:t>Discovery</a:t>
            </a:r>
          </a:p>
        </p:txBody>
      </p:sp>
      <p:sp>
        <p:nvSpPr>
          <p:cNvPr id="19" name="Rank suitable mentors&#10;with an explainable score">
            <a:extLst xmlns:a="http://schemas.openxmlformats.org/drawingml/2006/main">
              <a:ext uri="{FF2B5EF4-FFF2-40B4-BE49-F238E27FC236}">
                <a16:creationId xmlns:a16="http://schemas.microsoft.com/office/drawing/2014/main" id="{DEE78E5D-EC49-4CD3-94F0-035BB11B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323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Rank suitable mentors</a:t>
            </a:r>
          </a:p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with an explainable score</a:t>
            </a:r>
          </a:p>
        </p:txBody>
      </p:sp>
      <p:sp>
        <p:nvSpPr>
          <p:cNvPr id="20" name="Collaboration">
            <a:extLst xmlns:a="http://schemas.openxmlformats.org/drawingml/2006/main">
              <a:ext uri="{FF2B5EF4-FFF2-40B4-BE49-F238E27FC236}">
                <a16:creationId xmlns:a16="http://schemas.microsoft.com/office/drawing/2014/main" id="{69590D6C-5D0E-4027-8D23-B2B7977C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15302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676AD"/>
                </a:solidFill>
                <a:latin typeface="Segoe UI"/>
                <a:ea typeface="Segoe UI"/>
                <a:cs typeface="Segoe UI"/>
              </a:rPr>
              <a:t>Collaboration</a:t>
            </a:r>
          </a:p>
        </p:txBody>
      </p:sp>
      <p:sp>
        <p:nvSpPr>
          <p:cNvPr id="21" name="Keep sessions and milestones&#10;in a shared workspace">
            <a:extLst xmlns:a="http://schemas.openxmlformats.org/drawingml/2006/main">
              <a:ext uri="{FF2B5EF4-FFF2-40B4-BE49-F238E27FC236}">
                <a16:creationId xmlns:a16="http://schemas.microsoft.com/office/drawing/2014/main" id="{9547A755-9676-46EB-83EB-276AC1E1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19750"/>
            <a:ext cx="323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Keep sessions and milestones</a:t>
            </a:r>
          </a:p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in a shared workspace</a:t>
            </a:r>
          </a:p>
        </p:txBody>
      </p:sp>
      <p:sp>
        <p:nvSpPr>
          <p:cNvPr id="22" name="Recognition">
            <a:extLst xmlns:a="http://schemas.openxmlformats.org/drawingml/2006/main">
              <a:ext uri="{FF2B5EF4-FFF2-40B4-BE49-F238E27FC236}">
                <a16:creationId xmlns:a16="http://schemas.microsoft.com/office/drawing/2014/main" id="{FECE07DB-C6E7-48E2-AE07-215F1349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153025"/>
            <a:ext cx="2790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676AD"/>
                </a:solidFill>
                <a:latin typeface="Segoe UI"/>
                <a:ea typeface="Segoe UI"/>
                <a:cs typeface="Segoe UI"/>
              </a:rPr>
              <a:t>Recognition</a:t>
            </a:r>
          </a:p>
        </p:txBody>
      </p:sp>
      <p:sp>
        <p:nvSpPr>
          <p:cNvPr id="23" name="Record feedback, credits&#10;and completion">
            <a:extLst xmlns:a="http://schemas.openxmlformats.org/drawingml/2006/main">
              <a:ext uri="{FF2B5EF4-FFF2-40B4-BE49-F238E27FC236}">
                <a16:creationId xmlns:a16="http://schemas.microsoft.com/office/drawing/2014/main" id="{6E5F7BE4-0B98-40F3-8668-C0A24E8F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619750"/>
            <a:ext cx="27908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Record feedback, credits</a:t>
            </a:r>
          </a:p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and completion</a:t>
            </a:r>
          </a:p>
        </p:txBody>
      </p:sp>
    </p:spTree>
    <p:extLst>
      <p:ext uri="{BB962C8B-B14F-4D97-AF65-F5344CB8AC3E}">
        <p14:creationId xmlns:p14="http://schemas.microsoft.com/office/powerpoint/2010/main" val="6130663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4FDA37-55FA-47D4-9208-F3311C6C0910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8391525" y="5257800"/>
            <a:ext cx="9620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head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2F4226-A034-44F9-AD70-4EBC94027F5F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457825" y="5257800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head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C7CED-54E2-4A5D-9B5E-EFE387E1FDA0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163050" y="296703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head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617E67-8E00-4534-BAE5-44B1E049967F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72300" y="296703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head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4298BA-C3F5-41C3-9062-40A7DDC54C1E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781550" y="296703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head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6E415-E122-46AD-A51A-138C4BE82DB4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590800" y="296703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headEnd type="triangle" w="sm" len="sm"/>
          </a:ln>
        </p:spPr>
      </p:cxn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FBE327-1501-4EDF-B7EB-0756824AF9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Introduction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ADE328D-AA37-469F-9756-AD1E3E4C0D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11553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827D2206-887A-4BA3-AD23-7BCD4FDED2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63dc5d58645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F2E8629C-A6E4-4D66-99CF-399E428108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9C2E3A0E-B88C-44B1-9AC6-41F0821E54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rPr sz="1600"/>
              <a:t>3</a:t>
            </a:fld>
            <a:endParaRPr sz="1600"/>
          </a:p>
        </p:txBody>
      </p:sp>
      <p:sp>
        <p:nvSpPr>
          <p:cNvPr id="11" name="Mentorship workflow">
            <a:extLst xmlns:a="http://schemas.openxmlformats.org/drawingml/2006/main">
              <a:ext uri="{FF2B5EF4-FFF2-40B4-BE49-F238E27FC236}">
                <a16:creationId xmlns:a16="http://schemas.microsoft.com/office/drawing/2014/main" id="{269FD69C-0499-43FF-8D05-FBDCFF14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Mentorship workflow</a:t>
            </a:r>
          </a:p>
        </p:txBody>
      </p:sp>
      <p:sp>
        <p:nvSpPr>
          <p:cNvPr id="12" name="Profile">
            <a:extLst xmlns:a="http://schemas.openxmlformats.org/drawingml/2006/main">
              <a:ext uri="{FF2B5EF4-FFF2-40B4-BE49-F238E27FC236}">
                <a16:creationId xmlns:a16="http://schemas.microsoft.com/office/drawing/2014/main" id="{60A07CAC-8622-4ED0-9DA2-FD1C6F9C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752600" cy="8096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Profile</a:t>
            </a:r>
          </a:p>
        </p:txBody>
      </p:sp>
      <p:sp>
        <p:nvSpPr>
          <p:cNvPr id="13" name="Discover">
            <a:extLst xmlns:a="http://schemas.openxmlformats.org/drawingml/2006/main">
              <a:ext uri="{FF2B5EF4-FFF2-40B4-BE49-F238E27FC236}">
                <a16:creationId xmlns:a16="http://schemas.microsoft.com/office/drawing/2014/main" id="{DD47911E-4DEC-43A0-BD04-B8A94557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62225"/>
            <a:ext cx="1752600" cy="8096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Discover</a:t>
            </a:r>
          </a:p>
        </p:txBody>
      </p:sp>
      <p:sp>
        <p:nvSpPr>
          <p:cNvPr id="14" name="Request">
            <a:extLst xmlns:a="http://schemas.openxmlformats.org/drawingml/2006/main">
              <a:ext uri="{FF2B5EF4-FFF2-40B4-BE49-F238E27FC236}">
                <a16:creationId xmlns:a16="http://schemas.microsoft.com/office/drawing/2014/main" id="{D34D9828-E9DD-46F9-A6E2-63F88468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62225"/>
            <a:ext cx="1752600" cy="8096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Request</a:t>
            </a:r>
          </a:p>
        </p:txBody>
      </p:sp>
      <p:sp>
        <p:nvSpPr>
          <p:cNvPr id="15" name="Collaborate">
            <a:extLst xmlns:a="http://schemas.openxmlformats.org/drawingml/2006/main">
              <a:ext uri="{FF2B5EF4-FFF2-40B4-BE49-F238E27FC236}">
                <a16:creationId xmlns:a16="http://schemas.microsoft.com/office/drawing/2014/main" id="{4CFD1545-5CC7-4B06-B774-2074E4EA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62225"/>
            <a:ext cx="1752600" cy="8096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Collaborate</a:t>
            </a:r>
          </a:p>
        </p:txBody>
      </p:sp>
      <p:sp>
        <p:nvSpPr>
          <p:cNvPr id="16" name="Complete">
            <a:extLst xmlns:a="http://schemas.openxmlformats.org/drawingml/2006/main">
              <a:ext uri="{FF2B5EF4-FFF2-40B4-BE49-F238E27FC236}">
                <a16:creationId xmlns:a16="http://schemas.microsoft.com/office/drawing/2014/main" id="{94FE3D19-35E8-443D-9DBC-15EA9419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62225"/>
            <a:ext cx="1752600" cy="8096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Complete</a:t>
            </a:r>
          </a:p>
        </p:txBody>
      </p:sp>
      <p:sp>
        <p:nvSpPr>
          <p:cNvPr id="21" name="Set skills, goals&#10;and availability">
            <a:extLst xmlns:a="http://schemas.openxmlformats.org/drawingml/2006/main">
              <a:ext uri="{FF2B5EF4-FFF2-40B4-BE49-F238E27FC236}">
                <a16:creationId xmlns:a16="http://schemas.microsoft.com/office/drawing/2014/main" id="{CF0182FB-D736-4EC8-9159-C594C8A7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Set skills, goals</a:t>
            </a:r>
          </a:p>
          <a:p xmlns:a="http://schemas.openxmlformats.org/drawingml/2006/main">
            <a: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and availability</a:t>
            </a:r>
          </a:p>
        </p:txBody>
      </p:sp>
      <p:sp>
        <p:nvSpPr>
          <p:cNvPr id="22" name="Compare ranked&#10;mentor profiles">
            <a:extLst xmlns:a="http://schemas.openxmlformats.org/drawingml/2006/main">
              <a:ext uri="{FF2B5EF4-FFF2-40B4-BE49-F238E27FC236}">
                <a16:creationId xmlns:a16="http://schemas.microsoft.com/office/drawing/2014/main" id="{60886383-3804-4939-B49F-0D41E74B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7187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Compare ranked</a:t>
            </a:r>
          </a:p>
          <a:p xmlns:a="http://schemas.openxmlformats.org/drawingml/2006/main">
            <a: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mentor profiles</a:t>
            </a:r>
          </a:p>
        </p:txBody>
      </p:sp>
      <p:sp>
        <p:nvSpPr>
          <p:cNvPr id="23" name="Submit goals for&#10;mentor review">
            <a:extLst xmlns:a="http://schemas.openxmlformats.org/drawingml/2006/main">
              <a:ext uri="{FF2B5EF4-FFF2-40B4-BE49-F238E27FC236}">
                <a16:creationId xmlns:a16="http://schemas.microsoft.com/office/drawing/2014/main" id="{F35BA200-4EA9-48E6-B774-C09C1720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7187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Submit goals for</a:t>
            </a:r>
          </a:p>
          <a:p xmlns:a="http://schemas.openxmlformats.org/drawingml/2006/main">
            <a: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mentor review</a:t>
            </a:r>
          </a:p>
        </p:txBody>
      </p:sp>
      <p:sp>
        <p:nvSpPr>
          <p:cNvPr id="24" name="Log sessions,&#10;resources and tasks">
            <a:extLst xmlns:a="http://schemas.openxmlformats.org/drawingml/2006/main">
              <a:ext uri="{FF2B5EF4-FFF2-40B4-BE49-F238E27FC236}">
                <a16:creationId xmlns:a16="http://schemas.microsoft.com/office/drawing/2014/main" id="{AE884AB6-D4ED-44F1-B651-1556A7FF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7187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Log sessions,</a:t>
            </a:r>
          </a:p>
          <a:p xmlns:a="http://schemas.openxmlformats.org/drawingml/2006/main">
            <a: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resources and tasks</a:t>
            </a:r>
          </a:p>
        </p:txBody>
      </p:sp>
      <p:sp>
        <p:nvSpPr>
          <p:cNvPr id="25" name="Receive feedback&#10;and a certificate">
            <a:extLst xmlns:a="http://schemas.openxmlformats.org/drawingml/2006/main">
              <a:ext uri="{FF2B5EF4-FFF2-40B4-BE49-F238E27FC236}">
                <a16:creationId xmlns:a16="http://schemas.microsoft.com/office/drawing/2014/main" id="{24A90959-226E-4C73-B1AA-A9C0A6D3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7187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Receive feedback</a:t>
            </a:r>
          </a:p>
          <a:p xmlns:a="http://schemas.openxmlformats.org/drawingml/2006/main">
            <a: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and a certificate</a:t>
            </a:r>
          </a:p>
        </p:txBody>
      </p:sp>
      <p:sp>
        <p:nvSpPr>
          <p:cNvPr id="26" name="Request states">
            <a:extLst xmlns:a="http://schemas.openxmlformats.org/drawingml/2006/main">
              <a:ext uri="{FF2B5EF4-FFF2-40B4-BE49-F238E27FC236}">
                <a16:creationId xmlns:a16="http://schemas.microsoft.com/office/drawing/2014/main" id="{281F2293-64AF-4ED1-AAD5-481B0527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2409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Request states</a:t>
            </a:r>
          </a:p>
        </p:txBody>
      </p:sp>
      <p:sp>
        <p:nvSpPr>
          <p:cNvPr id="27" name="Pending">
            <a:extLst xmlns:a="http://schemas.openxmlformats.org/drawingml/2006/main">
              <a:ext uri="{FF2B5EF4-FFF2-40B4-BE49-F238E27FC236}">
                <a16:creationId xmlns:a16="http://schemas.microsoft.com/office/drawing/2014/main" id="{8629236C-C25C-4E26-BB0B-CEDAD81F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933950"/>
            <a:ext cx="20002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Pending</a:t>
            </a:r>
          </a:p>
        </p:txBody>
      </p:sp>
      <p:sp>
        <p:nvSpPr>
          <p:cNvPr id="28" name="Active">
            <a:extLst xmlns:a="http://schemas.openxmlformats.org/drawingml/2006/main">
              <a:ext uri="{FF2B5EF4-FFF2-40B4-BE49-F238E27FC236}">
                <a16:creationId xmlns:a16="http://schemas.microsoft.com/office/drawing/2014/main" id="{327AC894-3B77-419F-809B-416844AE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933950"/>
            <a:ext cx="20002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Active</a:t>
            </a:r>
          </a:p>
        </p:txBody>
      </p:sp>
      <p:sp>
        <p:nvSpPr>
          <p:cNvPr id="29" name="Completed">
            <a:extLst xmlns:a="http://schemas.openxmlformats.org/drawingml/2006/main">
              <a:ext uri="{FF2B5EF4-FFF2-40B4-BE49-F238E27FC236}">
                <a16:creationId xmlns:a16="http://schemas.microsoft.com/office/drawing/2014/main" id="{8DD02DFB-2E40-4FEB-B327-07B64C3E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33950"/>
            <a:ext cx="20002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Completed</a:t>
            </a:r>
          </a:p>
        </p:txBody>
      </p:sp>
      <p:sp>
        <p:nvSpPr>
          <p:cNvPr id="32" name="Rejection or cancellation refunds the request fee.">
            <a:extLst xmlns:a="http://schemas.openxmlformats.org/drawingml/2006/main">
              <a:ext uri="{FF2B5EF4-FFF2-40B4-BE49-F238E27FC236}">
                <a16:creationId xmlns:a16="http://schemas.microsoft.com/office/drawing/2014/main" id="{7740BDD3-0D60-4AFE-95D1-383BCA6E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819775"/>
            <a:ext cx="78962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Rejection or cancellation refunds the request fee.</a:t>
            </a:r>
          </a:p>
        </p:txBody>
      </p:sp>
    </p:spTree>
    <p:extLst>
      <p:ext uri="{BB962C8B-B14F-4D97-AF65-F5344CB8AC3E}">
        <p14:creationId xmlns:p14="http://schemas.microsoft.com/office/powerpoint/2010/main" val="6130663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E9AB8B-41D9-43FB-AA0D-29BEABD8693B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848225" y="5619750"/>
            <a:ext cx="1543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head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7EC8F-9092-48B7-B111-9E55215E6FEA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4848225" y="4810125"/>
            <a:ext cx="1543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head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73B10B-B121-41E8-A2D3-64164CC08B00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848225" y="4000500"/>
            <a:ext cx="1543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head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20F80-5B80-4185-B45B-55B0C71827AD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848225" y="3190875"/>
            <a:ext cx="1543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headEnd type="triangle" w="sm" len="sm"/>
          </a:ln>
        </p:spPr>
      </p:cxn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3DF91A-73DC-4313-A537-45FF55DFF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2. Problem statement &amp; Objectives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9F354D69-8DF1-4D53-B858-5E054E28C2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1f158647a47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69284B89-A9C5-46E6-987F-D4C9BACA2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FBBE6142-311D-468E-8105-6A099BD989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rPr sz="1600"/>
              <a:t>4</a:t>
            </a:fld>
            <a:endParaRPr sz="1600"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FA89230-3313-4F7D-BC7D-A21C959BE6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Problems and the corresponding objectives">
            <a:extLst xmlns:a="http://schemas.openxmlformats.org/drawingml/2006/main">
              <a:ext uri="{FF2B5EF4-FFF2-40B4-BE49-F238E27FC236}">
                <a16:creationId xmlns:a16="http://schemas.microsoft.com/office/drawing/2014/main" id="{8F0C2B12-CD36-4E20-B313-E273BCA4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Problems and the corresponding objectives</a:t>
            </a:r>
          </a:p>
        </p:txBody>
      </p:sp>
      <p:sp>
        <p:nvSpPr>
          <p:cNvPr id="12" name="Problem">
            <a:extLst xmlns:a="http://schemas.openxmlformats.org/drawingml/2006/main">
              <a:ext uri="{FF2B5EF4-FFF2-40B4-BE49-F238E27FC236}">
                <a16:creationId xmlns:a16="http://schemas.microsoft.com/office/drawing/2014/main" id="{2C9895B7-6ECE-47A8-973A-3DBBF1C1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4010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Problem</a:t>
            </a:r>
          </a:p>
        </p:txBody>
      </p:sp>
      <p:sp>
        <p:nvSpPr>
          <p:cNvPr id="13" name="Objective">
            <a:extLst xmlns:a="http://schemas.openxmlformats.org/drawingml/2006/main">
              <a:ext uri="{FF2B5EF4-FFF2-40B4-BE49-F238E27FC236}">
                <a16:creationId xmlns:a16="http://schemas.microsoft.com/office/drawing/2014/main" id="{183EC804-AAE4-4D43-9790-D0CD23AC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81225"/>
            <a:ext cx="4962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Objective</a:t>
            </a:r>
          </a:p>
        </p:txBody>
      </p:sp>
      <p:sp>
        <p:nvSpPr>
          <p:cNvPr id="14" name="Finding a suitable mentor">
            <a:extLst xmlns:a="http://schemas.openxmlformats.org/drawingml/2006/main">
              <a:ext uri="{FF2B5EF4-FFF2-40B4-BE49-F238E27FC236}">
                <a16:creationId xmlns:a16="http://schemas.microsoft.com/office/drawing/2014/main" id="{239D2155-AB8F-4889-BA3E-1251B002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4010025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Finding a suitable mentor</a:t>
            </a:r>
          </a:p>
        </p:txBody>
      </p:sp>
      <p:sp>
        <p:nvSpPr>
          <p:cNvPr id="15" name="Rank candidates by skills, availability and experience">
            <a:extLst xmlns:a="http://schemas.openxmlformats.org/drawingml/2006/main">
              <a:ext uri="{FF2B5EF4-FFF2-40B4-BE49-F238E27FC236}">
                <a16:creationId xmlns:a16="http://schemas.microsoft.com/office/drawing/2014/main" id="{D1A90893-2366-42F8-9AC9-6DE7460F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57500"/>
            <a:ext cx="49625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Rank candidates by skills, availability</a:t>
            </a:r>
          </a:p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and experience</a:t>
            </a:r>
          </a:p>
        </p:txBody>
      </p:sp>
      <p:sp>
        <p:nvSpPr>
          <p:cNvPr id="17" name="Keeping mentorship organised">
            <a:extLst xmlns:a="http://schemas.openxmlformats.org/drawingml/2006/main">
              <a:ext uri="{FF2B5EF4-FFF2-40B4-BE49-F238E27FC236}">
                <a16:creationId xmlns:a16="http://schemas.microsoft.com/office/drawing/2014/main" id="{623D31E3-0351-4456-A1F1-37A95B0A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4010025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Keeping mentorship organised</a:t>
            </a:r>
          </a:p>
        </p:txBody>
      </p:sp>
      <p:sp>
        <p:nvSpPr>
          <p:cNvPr id="18" name="Give each pair sessions, milestones and shared learning resources">
            <a:extLst xmlns:a="http://schemas.openxmlformats.org/drawingml/2006/main">
              <a:ext uri="{FF2B5EF4-FFF2-40B4-BE49-F238E27FC236}">
                <a16:creationId xmlns:a16="http://schemas.microsoft.com/office/drawing/2014/main" id="{CF26CB94-E9EF-4BF0-ABAD-73F476A8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67125"/>
            <a:ext cx="49625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Give each pair sessions, milestones</a:t>
            </a:r>
          </a:p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and shared learning resources</a:t>
            </a:r>
          </a:p>
        </p:txBody>
      </p:sp>
      <p:sp>
        <p:nvSpPr>
          <p:cNvPr id="20" name="Recognising participation">
            <a:extLst xmlns:a="http://schemas.openxmlformats.org/drawingml/2006/main">
              <a:ext uri="{FF2B5EF4-FFF2-40B4-BE49-F238E27FC236}">
                <a16:creationId xmlns:a16="http://schemas.microsoft.com/office/drawing/2014/main" id="{281CF740-AFCE-4EE7-A0FA-E6F5EC46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05325"/>
            <a:ext cx="4010025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Recognising participation</a:t>
            </a:r>
          </a:p>
        </p:txBody>
      </p:sp>
      <p:sp>
        <p:nvSpPr>
          <p:cNvPr id="21" name="Record credits, reviews and achievement badges">
            <a:extLst xmlns:a="http://schemas.openxmlformats.org/drawingml/2006/main">
              <a:ext uri="{FF2B5EF4-FFF2-40B4-BE49-F238E27FC236}">
                <a16:creationId xmlns:a16="http://schemas.microsoft.com/office/drawing/2014/main" id="{3ACD8C9A-998C-4B14-947E-F2FDD544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476750"/>
            <a:ext cx="49625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Record credits, reviews and</a:t>
            </a:r>
          </a:p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achievement badges</a:t>
            </a:r>
          </a:p>
        </p:txBody>
      </p:sp>
      <p:sp>
        <p:nvSpPr>
          <p:cNvPr id="23" name="Showing completion">
            <a:extLst xmlns:a="http://schemas.openxmlformats.org/drawingml/2006/main">
              <a:ext uri="{FF2B5EF4-FFF2-40B4-BE49-F238E27FC236}">
                <a16:creationId xmlns:a16="http://schemas.microsoft.com/office/drawing/2014/main" id="{5F75242D-41B1-449F-A486-3F281E09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4010025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Showing completion</a:t>
            </a:r>
          </a:p>
        </p:txBody>
      </p:sp>
      <p:sp>
        <p:nvSpPr>
          <p:cNvPr id="24" name="Unlock a printable certificate when mentorship is completed">
            <a:extLst xmlns:a="http://schemas.openxmlformats.org/drawingml/2006/main">
              <a:ext uri="{FF2B5EF4-FFF2-40B4-BE49-F238E27FC236}">
                <a16:creationId xmlns:a16="http://schemas.microsoft.com/office/drawing/2014/main" id="{951E0EC6-D0B3-4EC9-BA99-91422146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286375"/>
            <a:ext cx="49625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Unlock a printable certificate</a:t>
            </a:r>
          </a:p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when mentorship is completed</a:t>
            </a:r>
          </a:p>
        </p:txBody>
      </p:sp>
    </p:spTree>
    <p:extLst>
      <p:ext uri="{BB962C8B-B14F-4D97-AF65-F5344CB8AC3E}">
        <p14:creationId xmlns:p14="http://schemas.microsoft.com/office/powerpoint/2010/main" val="7221040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122AA2-6A6B-4818-82CB-6B044AEC77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3. Requirements ( Functional &amp; Non functional)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500787BD-5C6C-4AE6-B284-C5A6B91BDA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66e83f68c4c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B71AFAC3-B0BB-4ED7-840E-D2CEFB0FC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2FC923F4-0EAF-4EE6-85EF-09B816AB0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rPr sz="1600"/>
              <a:t>5</a:t>
            </a:fld>
            <a:endParaRPr sz="1600"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2213B9A-9C11-45C7-9314-5DE2984188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Functional requirements">
            <a:extLst xmlns:a="http://schemas.openxmlformats.org/drawingml/2006/main">
              <a:ext uri="{FF2B5EF4-FFF2-40B4-BE49-F238E27FC236}">
                <a16:creationId xmlns:a16="http://schemas.microsoft.com/office/drawing/2014/main" id="{A7F11FEF-6998-426C-8543-FB2EF6BF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Functional requirements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7F2EC-A674-4F26-85A4-D8FA35657A27}"/>
              </a:ext>
            </a:extLst>
          </p:cNvPr>
          <p:cNvGraphicFramePr/>
          <p:nvPr/>
        </p:nvGraphicFramePr>
        <p:xfrm>
          <a:off xmlns:a="http://schemas.openxmlformats.org/drawingml/2006/main" x="838200" y="2247900"/>
          <a:ext xmlns:a="http://schemas.openxmlformats.org/drawingml/2006/main" cx="10515600" cy="3609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7515225"/>
              </a:tblGrid>
              <a:tr h="515711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Capability</a:t>
                      </a:r>
                    </a:p>
                  </a:txBody>
                  <a:tcPr marL="91440" marR="91440" marT="45720" marB="45720" anchor="ctr">
                    <a:solidFill>
                      <a:srgbClr val="213B5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Implemented behaviour</a:t>
                      </a:r>
                    </a:p>
                  </a:txBody>
                  <a:tcPr marL="91440" marR="91440" marT="45720" marB="45720" anchor="ctr">
                    <a:solidFill>
                      <a:srgbClr val="213B57"/>
                    </a:solidFill>
                  </a:tcPr>
                </a:tc>
              </a:tr>
              <a:tr h="515711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Identity and roles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Register, sign in and activate Mentor or Learner roles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5711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Mentor discovery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Search and filter profiles, then rank compatibility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  <a:tr h="515711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Mentorship workspace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Sessions, milestones, resources and discussions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5711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Participation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Credits, ratings, badges and the leaderboard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  <a:tr h="515711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Communication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In-app notifications with read state and destination links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5711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Completion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Mark the mentorship complete and print a certificate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3" name="Learners and mentors can both contribute to the sh">
            <a:extLst xmlns:a="http://schemas.openxmlformats.org/drawingml/2006/main">
              <a:ext uri="{FF2B5EF4-FFF2-40B4-BE49-F238E27FC236}">
                <a16:creationId xmlns:a16="http://schemas.microsoft.com/office/drawing/2014/main" id="{023FB235-80B7-4554-87D8-448BFCEF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Learners and mentors can both contribute to the shared workspace.</a:t>
            </a:r>
          </a:p>
        </p:txBody>
      </p:sp>
    </p:spTree>
    <p:extLst>
      <p:ext uri="{BB962C8B-B14F-4D97-AF65-F5344CB8AC3E}">
        <p14:creationId xmlns:p14="http://schemas.microsoft.com/office/powerpoint/2010/main" val="33473403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030AB0-9CE6-4F9F-8AAD-C9D5AE15AEB7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8948738" y="3933825"/>
            <a:ext cx="1338263" cy="600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2860">
            <a:solidFill>
              <a:srgbClr val="2676AD"/>
            </a:solidFill>
            <a:head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968463-5062-458D-82E5-76334AA1CE1D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610475" y="3933825"/>
            <a:ext cx="1338263" cy="600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2860">
            <a:solidFill>
              <a:srgbClr val="138B5D"/>
            </a:solidFill>
            <a:headEnd type="triangle" w="sm" len="sm"/>
          </a:ln>
        </p:spPr>
      </p:cxn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122AA2-6A6B-4818-82CB-6B044AEC77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3. Requirements ( Functional &amp; Non functional)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500787BD-5C6C-4AE6-B284-C5A6B91BDA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384d7399941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B71AFAC3-B0BB-4ED7-840E-D2CEFB0FC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2FC923F4-0EAF-4EE6-85EF-09B816AB0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rPr sz="1600"/>
              <a:t>6</a:t>
            </a:fld>
            <a:endParaRPr sz="1600"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2213B9A-9C11-45C7-9314-5DE2984188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Matching and progress calculations">
            <a:extLst xmlns:a="http://schemas.openxmlformats.org/drawingml/2006/main">
              <a:ext uri="{FF2B5EF4-FFF2-40B4-BE49-F238E27FC236}">
                <a16:creationId xmlns:a16="http://schemas.microsoft.com/office/drawing/2014/main" id="{0FDF1383-92C6-4356-B8EE-46DB27B3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Matching and progress calculations</a:t>
            </a:r>
          </a:p>
        </p:txBody>
      </p:sp>
      <p:sp>
        <p:nvSpPr>
          <p:cNvPr id="12" name="Compatibility score">
            <a:extLst xmlns:a="http://schemas.openxmlformats.org/drawingml/2006/main">
              <a:ext uri="{FF2B5EF4-FFF2-40B4-BE49-F238E27FC236}">
                <a16:creationId xmlns:a16="http://schemas.microsoft.com/office/drawing/2014/main" id="{7AE40A77-7577-44FA-A886-86E71192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Compatibility score</a:t>
            </a:r>
          </a:p>
        </p:txBody>
      </p:sp>
      <p:sp>
        <p:nvSpPr>
          <p:cNvPr id="13" name="Learning progress">
            <a:extLst xmlns:a="http://schemas.openxmlformats.org/drawingml/2006/main">
              <a:ext uri="{FF2B5EF4-FFF2-40B4-BE49-F238E27FC236}">
                <a16:creationId xmlns:a16="http://schemas.microsoft.com/office/drawing/2014/main" id="{622EF93A-81C8-425D-96C1-D75E04D1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90750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Learning progress</a:t>
            </a:r>
          </a:p>
        </p:txBody>
      </p:sp>
      <p:sp>
        <p:nvSpPr>
          <p:cNvPr id="14" name="50%">
            <a:extLst xmlns:a="http://schemas.openxmlformats.org/drawingml/2006/main">
              <a:ext uri="{FF2B5EF4-FFF2-40B4-BE49-F238E27FC236}">
                <a16:creationId xmlns:a16="http://schemas.microsoft.com/office/drawing/2014/main" id="{AC35C0DB-A1B6-47F9-9A95-A6FF50B1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50%</a:t>
            </a:r>
          </a:p>
        </p:txBody>
      </p:sp>
      <p:sp>
        <p:nvSpPr>
          <p:cNvPr id="15" name="Skill overlap">
            <a:extLst xmlns:a="http://schemas.openxmlformats.org/drawingml/2006/main">
              <a:ext uri="{FF2B5EF4-FFF2-40B4-BE49-F238E27FC236}">
                <a16:creationId xmlns:a16="http://schemas.microsoft.com/office/drawing/2014/main" id="{1EBB4C24-D24F-44FF-9226-B5C7FF7A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52750"/>
            <a:ext cx="3076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Skill overlap</a:t>
            </a:r>
          </a:p>
        </p:txBody>
      </p:sp>
      <p:sp>
        <p:nvSpPr>
          <p:cNvPr id="16" name="30%">
            <a:extLst xmlns:a="http://schemas.openxmlformats.org/drawingml/2006/main">
              <a:ext uri="{FF2B5EF4-FFF2-40B4-BE49-F238E27FC236}">
                <a16:creationId xmlns:a16="http://schemas.microsoft.com/office/drawing/2014/main" id="{0189DA35-20C8-4CDA-898F-FB7F2BC1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2676AD"/>
                </a:solidFill>
                <a:latin typeface="Segoe UI"/>
                <a:ea typeface="Segoe UI"/>
                <a:cs typeface="Segoe UI"/>
              </a:rPr>
              <a:t>30%</a:t>
            </a:r>
          </a:p>
        </p:txBody>
      </p:sp>
      <p:sp>
        <p:nvSpPr>
          <p:cNvPr id="17" name="Availability">
            <a:extLst xmlns:a="http://schemas.openxmlformats.org/drawingml/2006/main">
              <a:ext uri="{FF2B5EF4-FFF2-40B4-BE49-F238E27FC236}">
                <a16:creationId xmlns:a16="http://schemas.microsoft.com/office/drawing/2014/main" id="{31DDCDB0-D33C-4792-B507-EC78B362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05225"/>
            <a:ext cx="3076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Availability</a:t>
            </a:r>
          </a:p>
        </p:txBody>
      </p:sp>
      <p:sp>
        <p:nvSpPr>
          <p:cNvPr id="18" name="20%">
            <a:extLst xmlns:a="http://schemas.openxmlformats.org/drawingml/2006/main">
              <a:ext uri="{FF2B5EF4-FFF2-40B4-BE49-F238E27FC236}">
                <a16:creationId xmlns:a16="http://schemas.microsoft.com/office/drawing/2014/main" id="{9D8900EA-49E0-4141-BEDE-9F4556A7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20%</a:t>
            </a:r>
          </a:p>
        </p:txBody>
      </p:sp>
      <p:sp>
        <p:nvSpPr>
          <p:cNvPr id="19" name="Experience">
            <a:extLst xmlns:a="http://schemas.openxmlformats.org/drawingml/2006/main">
              <a:ext uri="{FF2B5EF4-FFF2-40B4-BE49-F238E27FC236}">
                <a16:creationId xmlns:a16="http://schemas.microsoft.com/office/drawing/2014/main" id="{4ABC730F-6E2A-412A-8BD2-8FEC8916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57700"/>
            <a:ext cx="3076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Experience</a:t>
            </a:r>
          </a:p>
        </p:txBody>
      </p:sp>
      <p:sp>
        <p:nvSpPr>
          <p:cNvPr id="20" name="2 of 4 skills, a flexible schedule and&#10;a mentor on">
            <a:extLst xmlns:a="http://schemas.openxmlformats.org/drawingml/2006/main">
              <a:ext uri="{FF2B5EF4-FFF2-40B4-BE49-F238E27FC236}">
                <a16:creationId xmlns:a16="http://schemas.microsoft.com/office/drawing/2014/main" id="{6E7EB906-772D-4CF5-8DD7-0801228B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4810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2 of 4 skills, a flexible schedule and</a:t>
            </a:r>
          </a:p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a mentor one level ahead gives 72%.</a:t>
            </a:r>
          </a:p>
        </p:txBody>
      </p:sp>
      <p:sp>
        <p:nvSpPr>
          <p:cNvPr id="21" name="Milestones 70% weight">
            <a:extLst xmlns:a="http://schemas.openxmlformats.org/drawingml/2006/main">
              <a:ext uri="{FF2B5EF4-FFF2-40B4-BE49-F238E27FC236}">
                <a16:creationId xmlns:a16="http://schemas.microsoft.com/office/drawing/2014/main" id="{07F64B72-7855-43F6-9B10-4CBFBDDB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00350"/>
            <a:ext cx="2133600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Milestones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70% weight</a:t>
            </a:r>
          </a:p>
        </p:txBody>
      </p:sp>
      <p:sp>
        <p:nvSpPr>
          <p:cNvPr id="22" name="Sessions 30% weight">
            <a:extLst xmlns:a="http://schemas.openxmlformats.org/drawingml/2006/main">
              <a:ext uri="{FF2B5EF4-FFF2-40B4-BE49-F238E27FC236}">
                <a16:creationId xmlns:a16="http://schemas.microsoft.com/office/drawing/2014/main" id="{00443335-F5DB-480A-82D8-35156303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00350"/>
            <a:ext cx="2133600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Sessions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30% weight</a:t>
            </a:r>
          </a:p>
        </p:txBody>
      </p:sp>
      <p:sp>
        <p:nvSpPr>
          <p:cNvPr id="23" name="Weighted progress">
            <a:extLst xmlns:a="http://schemas.openxmlformats.org/drawingml/2006/main">
              <a:ext uri="{FF2B5EF4-FFF2-40B4-BE49-F238E27FC236}">
                <a16:creationId xmlns:a16="http://schemas.microsoft.com/office/drawing/2014/main" id="{075CB422-16B9-41A6-AC43-5FF08363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533900"/>
            <a:ext cx="27527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Weighted progress</a:t>
            </a:r>
          </a:p>
        </p:txBody>
      </p:sp>
      <p:sp>
        <p:nvSpPr>
          <p:cNvPr id="26" name="Example: 2 of 3 milestones and 1 of 2 sessions&#10;70 ">
            <a:extLst xmlns:a="http://schemas.openxmlformats.org/drawingml/2006/main">
              <a:ext uri="{FF2B5EF4-FFF2-40B4-BE49-F238E27FC236}">
                <a16:creationId xmlns:a16="http://schemas.microsoft.com/office/drawing/2014/main" id="{5F33B879-8E40-4A80-A6AC-80C0E4C0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438775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Example: 2 of 3 milestones and 1 of 2 sessions</a:t>
            </a:r>
          </a:p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70 × (2/3) + 30 × (1/2) = 61.7%</a:t>
            </a:r>
          </a:p>
        </p:txBody>
      </p:sp>
    </p:spTree>
    <p:extLst>
      <p:ext uri="{BB962C8B-B14F-4D97-AF65-F5344CB8AC3E}">
        <p14:creationId xmlns:p14="http://schemas.microsoft.com/office/powerpoint/2010/main" val="3347340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122AA2-6A6B-4818-82CB-6B044AEC77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3. Requirements ( Functional &amp; Non functional)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500787BD-5C6C-4AE6-B284-C5A6B91BDA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36833cd8049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B71AFAC3-B0BB-4ED7-840E-D2CEFB0FC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2FC923F4-0EAF-4EE6-85EF-09B816AB0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rPr sz="1600"/>
              <a:t>7</a:t>
            </a:fld>
            <a:endParaRPr sz="1600"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2213B9A-9C11-45C7-9314-5DE2984188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Credits, achievements and ranking">
            <a:extLst xmlns:a="http://schemas.openxmlformats.org/drawingml/2006/main">
              <a:ext uri="{FF2B5EF4-FFF2-40B4-BE49-F238E27FC236}">
                <a16:creationId xmlns:a16="http://schemas.microsoft.com/office/drawing/2014/main" id="{1D42BC59-5586-4BEC-BE9F-32C63163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Credits, achievements and ranking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0C3B3-D298-4725-A159-CE49D02A2F7A}"/>
              </a:ext>
            </a:extLst>
          </p:cNvPr>
          <p:cNvGraphicFramePr/>
          <p:nvPr/>
        </p:nvGraphicFramePr>
        <p:xfrm>
          <a:off xmlns:a="http://schemas.openxmlformats.org/drawingml/2006/main" x="838200" y="2238375"/>
          <a:ext xmlns:a="http://schemas.openxmlformats.org/drawingml/2006/main" cx="4886325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9400"/>
                <a:gridCol w="2066925"/>
              </a:tblGrid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Event</a:t>
                      </a:r>
                    </a:p>
                  </a:txBody>
                  <a:tcPr marL="91440" marR="91440" marT="45720" marB="45720" anchor="ctr">
                    <a:solidFill>
                      <a:srgbClr val="213B5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Credits</a:t>
                      </a:r>
                    </a:p>
                  </a:txBody>
                  <a:tcPr marL="91440" marR="91440" marT="45720" marB="45720" anchor="ctr">
                    <a:solidFill>
                      <a:srgbClr val="213B57"/>
                    </a:solidFill>
                  </a:tcPr>
                </a:tc>
              </a:tr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New account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+50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Standard request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−10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Priority request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−15 total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Completed session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+10 to mentor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Rejected / cancelled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Request fee refunded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Achievement rules">
            <a:extLst xmlns:a="http://schemas.openxmlformats.org/drawingml/2006/main">
              <a:ext uri="{FF2B5EF4-FFF2-40B4-BE49-F238E27FC236}">
                <a16:creationId xmlns:a16="http://schemas.microsoft.com/office/drawing/2014/main" id="{B2885A8E-90C4-4D0D-A7C1-4EB221AC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0980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Achievement rules</a:t>
            </a:r>
          </a:p>
        </p:txBody>
      </p:sp>
      <p:sp>
        <p:nvSpPr>
          <p:cNvPr id="14" name="First Steps">
            <a:extLst xmlns:a="http://schemas.openxmlformats.org/drawingml/2006/main">
              <a:ext uri="{FF2B5EF4-FFF2-40B4-BE49-F238E27FC236}">
                <a16:creationId xmlns:a16="http://schemas.microsoft.com/office/drawing/2014/main" id="{9F8FF7B0-E0AF-45F0-868F-D02792E3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09875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First Steps</a:t>
            </a:r>
          </a:p>
        </p:txBody>
      </p:sp>
      <p:sp>
        <p:nvSpPr>
          <p:cNvPr id="15" name="1 completed mentorship">
            <a:extLst xmlns:a="http://schemas.openxmlformats.org/drawingml/2006/main">
              <a:ext uri="{FF2B5EF4-FFF2-40B4-BE49-F238E27FC236}">
                <a16:creationId xmlns:a16="http://schemas.microsoft.com/office/drawing/2014/main" id="{70CECBCC-0C50-42B0-B5A4-80BEA784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9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1 completed mentorship</a:t>
            </a:r>
          </a:p>
        </p:txBody>
      </p:sp>
      <p:sp>
        <p:nvSpPr>
          <p:cNvPr id="16" name="Committed Mentor">
            <a:extLst xmlns:a="http://schemas.openxmlformats.org/drawingml/2006/main">
              <a:ext uri="{FF2B5EF4-FFF2-40B4-BE49-F238E27FC236}">
                <a16:creationId xmlns:a16="http://schemas.microsoft.com/office/drawing/2014/main" id="{B37D0C28-5AE9-49FA-A976-E9FF99AE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24225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Committed Mentor</a:t>
            </a:r>
          </a:p>
        </p:txBody>
      </p:sp>
      <p:sp>
        <p:nvSpPr>
          <p:cNvPr id="17" name="2 completed as mentor">
            <a:extLst xmlns:a="http://schemas.openxmlformats.org/drawingml/2006/main">
              <a:ext uri="{FF2B5EF4-FFF2-40B4-BE49-F238E27FC236}">
                <a16:creationId xmlns:a16="http://schemas.microsoft.com/office/drawing/2014/main" id="{2DFE82E7-8234-4F8C-96F1-2F6528DD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242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2 completed as mentor</a:t>
            </a:r>
          </a:p>
        </p:txBody>
      </p:sp>
      <p:sp>
        <p:nvSpPr>
          <p:cNvPr id="18" name="Rising Star">
            <a:extLst xmlns:a="http://schemas.openxmlformats.org/drawingml/2006/main">
              <a:ext uri="{FF2B5EF4-FFF2-40B4-BE49-F238E27FC236}">
                <a16:creationId xmlns:a16="http://schemas.microsoft.com/office/drawing/2014/main" id="{B80256E6-2711-4FC8-9A1B-43B40D23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38575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Rising Star</a:t>
            </a:r>
          </a:p>
        </p:txBody>
      </p:sp>
      <p:sp>
        <p:nvSpPr>
          <p:cNvPr id="19" name="Skill score at least 8.0">
            <a:extLst xmlns:a="http://schemas.openxmlformats.org/drawingml/2006/main">
              <a:ext uri="{FF2B5EF4-FFF2-40B4-BE49-F238E27FC236}">
                <a16:creationId xmlns:a16="http://schemas.microsoft.com/office/drawing/2014/main" id="{DE0D0836-9CC0-41C7-B9A7-1477B534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385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Skill score at least 8.0</a:t>
            </a:r>
          </a:p>
        </p:txBody>
      </p:sp>
      <p:sp>
        <p:nvSpPr>
          <p:cNvPr id="20" name="Top Rated">
            <a:extLst xmlns:a="http://schemas.openxmlformats.org/drawingml/2006/main">
              <a:ext uri="{FF2B5EF4-FFF2-40B4-BE49-F238E27FC236}">
                <a16:creationId xmlns:a16="http://schemas.microsoft.com/office/drawing/2014/main" id="{09863268-5929-4DC4-BEE0-CF5CC667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352925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Top Rated</a:t>
            </a:r>
          </a:p>
        </p:txBody>
      </p:sp>
      <p:sp>
        <p:nvSpPr>
          <p:cNvPr id="21" name="Average 4.5+, with 1+ review">
            <a:extLst xmlns:a="http://schemas.openxmlformats.org/drawingml/2006/main">
              <a:ext uri="{FF2B5EF4-FFF2-40B4-BE49-F238E27FC236}">
                <a16:creationId xmlns:a16="http://schemas.microsoft.com/office/drawing/2014/main" id="{824672C7-0E03-41FC-A3B5-6C731BBD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529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Average 4.5+, with 1+ review</a:t>
            </a:r>
          </a:p>
        </p:txBody>
      </p:sp>
      <p:sp>
        <p:nvSpPr>
          <p:cNvPr id="22" name="Helpful Hand">
            <a:extLst xmlns:a="http://schemas.openxmlformats.org/drawingml/2006/main">
              <a:ext uri="{FF2B5EF4-FFF2-40B4-BE49-F238E27FC236}">
                <a16:creationId xmlns:a16="http://schemas.microsoft.com/office/drawing/2014/main" id="{B1125C1A-9112-4E0B-8C9A-FC31BC58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867275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Helpful Hand</a:t>
            </a:r>
          </a:p>
        </p:txBody>
      </p:sp>
      <p:sp>
        <p:nvSpPr>
          <p:cNvPr id="23" name="2 shared resources">
            <a:extLst xmlns:a="http://schemas.openxmlformats.org/drawingml/2006/main">
              <a:ext uri="{FF2B5EF4-FFF2-40B4-BE49-F238E27FC236}">
                <a16:creationId xmlns:a16="http://schemas.microsoft.com/office/drawing/2014/main" id="{FE469260-80D5-4F10-9F24-620243CB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672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2 shared resources</a:t>
            </a:r>
          </a:p>
        </p:txBody>
      </p:sp>
      <p:sp>
        <p:nvSpPr>
          <p:cNvPr id="24" name="Leaderboard = 10 × skill score + 0.5 × credits + 1">
            <a:extLst xmlns:a="http://schemas.openxmlformats.org/drawingml/2006/main">
              <a:ext uri="{FF2B5EF4-FFF2-40B4-BE49-F238E27FC236}">
                <a16:creationId xmlns:a16="http://schemas.microsoft.com/office/drawing/2014/main" id="{021A8DD7-07DA-48A3-BFB8-8B642BE8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81675"/>
            <a:ext cx="1051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676AD"/>
                </a:solidFill>
                <a:latin typeface="Segoe UI"/>
                <a:ea typeface="Segoe UI"/>
                <a:cs typeface="Segoe UI"/>
              </a:rPr>
              <a:t>Leaderboard = 10 × skill score + 0.5 × credits + 15 × badges</a:t>
            </a:r>
          </a:p>
        </p:txBody>
      </p:sp>
    </p:spTree>
    <p:extLst>
      <p:ext uri="{BB962C8B-B14F-4D97-AF65-F5344CB8AC3E}">
        <p14:creationId xmlns:p14="http://schemas.microsoft.com/office/powerpoint/2010/main" val="33473403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122AA2-6A6B-4818-82CB-6B044AEC77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3. Requirements ( Functional &amp; Non functional)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500787BD-5C6C-4AE6-B284-C5A6B91BDA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58d32d75d4b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B71AFAC3-B0BB-4ED7-840E-D2CEFB0FC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2FC923F4-0EAF-4EE6-85EF-09B816AB0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rPr sz="1600"/>
              <a:t>8</a:t>
            </a:fld>
            <a:endParaRPr sz="1600"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2213B9A-9C11-45C7-9314-5DE2984188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Non-functional requirements and validation">
            <a:extLst xmlns:a="http://schemas.openxmlformats.org/drawingml/2006/main">
              <a:ext uri="{FF2B5EF4-FFF2-40B4-BE49-F238E27FC236}">
                <a16:creationId xmlns:a16="http://schemas.microsoft.com/office/drawing/2014/main" id="{F9728756-8A5B-457D-833C-6E029A31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Non-functional requirements and validation</a:t>
            </a:r>
          </a:p>
        </p:txBody>
      </p:sp>
      <p:sp>
        <p:nvSpPr>
          <p:cNvPr id="12" name="Local execution">
            <a:extLst xmlns:a="http://schemas.openxmlformats.org/drawingml/2006/main">
              <a:ext uri="{FF2B5EF4-FFF2-40B4-BE49-F238E27FC236}">
                <a16:creationId xmlns:a16="http://schemas.microsoft.com/office/drawing/2014/main" id="{423E38D4-A93A-4615-870F-BB7688CF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4791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Local execution</a:t>
            </a:r>
          </a:p>
        </p:txBody>
      </p:sp>
      <p:sp>
        <p:nvSpPr>
          <p:cNvPr id="13" name="SQLite database and local file storage">
            <a:extLst xmlns:a="http://schemas.openxmlformats.org/drawingml/2006/main">
              <a:ext uri="{FF2B5EF4-FFF2-40B4-BE49-F238E27FC236}">
                <a16:creationId xmlns:a16="http://schemas.microsoft.com/office/drawing/2014/main" id="{F9E943CE-E280-4100-A490-D3C07347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4791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SQLite database and local file storage</a:t>
            </a:r>
          </a:p>
        </p:txBody>
      </p:sp>
      <p:sp>
        <p:nvSpPr>
          <p:cNvPr id="14" name="Controlled access">
            <a:extLst xmlns:a="http://schemas.openxmlformats.org/drawingml/2006/main">
              <a:ext uri="{FF2B5EF4-FFF2-40B4-BE49-F238E27FC236}">
                <a16:creationId xmlns:a16="http://schemas.microsoft.com/office/drawing/2014/main" id="{3BB2CB34-5F90-4508-970A-357B5256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4791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Controlled access</a:t>
            </a:r>
          </a:p>
        </p:txBody>
      </p:sp>
      <p:sp>
        <p:nvSpPr>
          <p:cNvPr id="15" name="Django authentication and workspace participant ch">
            <a:extLst xmlns:a="http://schemas.openxmlformats.org/drawingml/2006/main">
              <a:ext uri="{FF2B5EF4-FFF2-40B4-BE49-F238E27FC236}">
                <a16:creationId xmlns:a16="http://schemas.microsoft.com/office/drawing/2014/main" id="{D97FBAA6-8AAF-4D42-9354-EB988EF8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4791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Django authentication and workspace participant checks</a:t>
            </a:r>
          </a:p>
        </p:txBody>
      </p:sp>
      <p:sp>
        <p:nvSpPr>
          <p:cNvPr id="16" name="Upload validation">
            <a:extLst xmlns:a="http://schemas.openxmlformats.org/drawingml/2006/main">
              <a:ext uri="{FF2B5EF4-FFF2-40B4-BE49-F238E27FC236}">
                <a16:creationId xmlns:a16="http://schemas.microsoft.com/office/drawing/2014/main" id="{30A86FFE-77F6-4F2D-B128-44B008E0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4791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Upload validation</a:t>
            </a:r>
          </a:p>
        </p:txBody>
      </p:sp>
      <p:sp>
        <p:nvSpPr>
          <p:cNvPr id="17" name="10 MB limit and an allowed file extension list">
            <a:extLst xmlns:a="http://schemas.openxmlformats.org/drawingml/2006/main">
              <a:ext uri="{FF2B5EF4-FFF2-40B4-BE49-F238E27FC236}">
                <a16:creationId xmlns:a16="http://schemas.microsoft.com/office/drawing/2014/main" id="{05EF56D9-8CB7-4F12-B4A5-F6D42993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4791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10 MB limit and an allowed file extension list</a:t>
            </a:r>
          </a:p>
        </p:txBody>
      </p:sp>
      <p:sp>
        <p:nvSpPr>
          <p:cNvPr id="18" name="Traceability">
            <a:extLst xmlns:a="http://schemas.openxmlformats.org/drawingml/2006/main">
              <a:ext uri="{FF2B5EF4-FFF2-40B4-BE49-F238E27FC236}">
                <a16:creationId xmlns:a16="http://schemas.microsoft.com/office/drawing/2014/main" id="{35E32DE5-E5F4-4487-8176-B2046228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76825"/>
            <a:ext cx="4791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Traceability</a:t>
            </a:r>
          </a:p>
        </p:txBody>
      </p:sp>
      <p:sp>
        <p:nvSpPr>
          <p:cNvPr id="19" name="Credit transactions and recorded feedback">
            <a:extLst xmlns:a="http://schemas.openxmlformats.org/drawingml/2006/main">
              <a:ext uri="{FF2B5EF4-FFF2-40B4-BE49-F238E27FC236}">
                <a16:creationId xmlns:a16="http://schemas.microsoft.com/office/drawing/2014/main" id="{7681826B-9926-4458-9314-8000863C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925"/>
            <a:ext cx="4791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Credit transactions and recorded feedback</a:t>
            </a:r>
          </a:p>
        </p:txBody>
      </p:sp>
      <p:sp>
        <p:nvSpPr>
          <p:cNvPr id="20" name="53">
            <a:extLst xmlns:a="http://schemas.openxmlformats.org/drawingml/2006/main">
              <a:ext uri="{FF2B5EF4-FFF2-40B4-BE49-F238E27FC236}">
                <a16:creationId xmlns:a16="http://schemas.microsoft.com/office/drawing/2014/main" id="{ED10DD6F-1555-4CA6-9B7F-36A01113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00275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53</a:t>
            </a:r>
          </a:p>
        </p:txBody>
      </p:sp>
      <p:sp>
        <p:nvSpPr>
          <p:cNvPr id="21" name="Automated tests passed">
            <a:extLst xmlns:a="http://schemas.openxmlformats.org/drawingml/2006/main">
              <a:ext uri="{FF2B5EF4-FFF2-40B4-BE49-F238E27FC236}">
                <a16:creationId xmlns:a16="http://schemas.microsoft.com/office/drawing/2014/main" id="{4664F7F5-F32B-4282-9584-CFB0210F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09900"/>
            <a:ext cx="4810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Automated tests passed</a:t>
            </a:r>
          </a:p>
        </p:txBody>
      </p:sp>
      <p:graphicFrame>
        <p:nvGraphicFrame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DE6F88-72F6-42E3-A497-50AB1AFEB48A}"/>
              </a:ext>
            </a:extLst>
          </p:cNvPr>
          <p:cNvGraphicFramePr/>
          <p:nvPr/>
        </p:nvGraphicFramePr>
        <p:xfrm>
          <a:off xmlns:a="http://schemas.openxmlformats.org/drawingml/2006/main" x="6543675" y="3876675"/>
          <a:ext xmlns:a="http://schemas.openxmlformats.org/drawingml/2006/main" cx="4810125" cy="2219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571625"/>
              </a:tblGrid>
              <a:tr h="369888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App</a:t>
                      </a:r>
                    </a:p>
                  </a:txBody>
                  <a:tcPr marL="91440" marR="91440" marT="45720" marB="45720" anchor="ctr">
                    <a:solidFill>
                      <a:srgbClr val="213B5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Tests</a:t>
                      </a:r>
                    </a:p>
                  </a:txBody>
                  <a:tcPr marL="91440" marR="91440" marT="45720" marB="45720" anchor="ctr">
                    <a:solidFill>
                      <a:srgbClr val="213B57"/>
                    </a:solidFill>
                  </a:tcPr>
                </a:tc>
              </a:tr>
              <a:tr h="369888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accounts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9888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matching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  <a:tr h="369888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mentorship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9888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gamification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  <a:tr h="369888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notifications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73403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1CA8EE-B48C-48CB-A3C4-671CC7D022A9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953375" y="3886200"/>
            <a:ext cx="1057275" cy="8620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138B5D"/>
            </a:solidFill>
            <a:head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D34DC1-0569-49B5-A87B-8BBCD3F26C37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7953375" y="2947988"/>
            <a:ext cx="1057275" cy="9382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2676AD"/>
            </a:solidFill>
            <a:head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01601-6FB8-4138-96E1-5226353580C3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3514725" y="3886200"/>
            <a:ext cx="1057275" cy="48101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head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764D0-77FB-4DD4-B885-B4C2D618AFA0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2176463" y="328612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headEnd type="triangle" w="sm" len="sm"/>
          </a:ln>
        </p:spPr>
      </p:cxn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AD96BF-E191-46CD-99EF-180F2BC1F9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4. System architecture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01BED39D-B4A5-46D9-9E92-581C35D2E9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091dcf35148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DA044682-82A3-40A3-A3FD-22FBB85BD5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66F806CC-A00D-4B1E-A042-0CAF75531A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rPr sz="1600"/>
              <a:t>9</a:t>
            </a:fld>
            <a:endParaRPr sz="1600"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25915BE-C2A8-4212-A5F3-C2ED42FFC02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Application layers and domain modules">
            <a:extLst xmlns:a="http://schemas.openxmlformats.org/drawingml/2006/main">
              <a:ext uri="{FF2B5EF4-FFF2-40B4-BE49-F238E27FC236}">
                <a16:creationId xmlns:a16="http://schemas.microsoft.com/office/drawing/2014/main" id="{18450C35-D572-4695-9F1C-0359798B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Application layers and domain modules</a:t>
            </a:r>
          </a:p>
        </p:txBody>
      </p:sp>
      <p:sp>
        <p:nvSpPr>
          <p:cNvPr id="12" name="Browser Server-rendered pages">
            <a:extLst xmlns:a="http://schemas.openxmlformats.org/drawingml/2006/main">
              <a:ext uri="{FF2B5EF4-FFF2-40B4-BE49-F238E27FC236}">
                <a16:creationId xmlns:a16="http://schemas.microsoft.com/office/drawing/2014/main" id="{3FE1AD7E-DDF5-47EA-9224-56FF609F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2676525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Browser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Server-rendered pages</a:t>
            </a:r>
          </a:p>
        </p:txBody>
      </p:sp>
      <p:sp>
        <p:nvSpPr>
          <p:cNvPr id="13" name="Django presentation Templates and Bootstrap">
            <a:extLst xmlns:a="http://schemas.openxmlformats.org/drawingml/2006/main">
              <a:ext uri="{FF2B5EF4-FFF2-40B4-BE49-F238E27FC236}">
                <a16:creationId xmlns:a16="http://schemas.microsoft.com/office/drawing/2014/main" id="{70124E88-AC35-49E1-A0F9-EE25C0B4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2676525" cy="1076325"/>
          </a:xfrm>
          <a:prstGeom xmlns:a="http://schemas.openxmlformats.org/drawingml/2006/main" prst="roundRect">
            <a:avLst>
              <a:gd name="adj" fmla="val 885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Django presentation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Templates and Bootstrap</a:t>
            </a:r>
          </a:p>
        </p:txBody>
      </p:sp>
      <p:sp>
        <p:nvSpPr>
          <p:cNvPr id="15" name="Domain apps accounts    matching mentorship    gamification notifications">
            <a:extLst xmlns:a="http://schemas.openxmlformats.org/drawingml/2006/main">
              <a:ext uri="{FF2B5EF4-FFF2-40B4-BE49-F238E27FC236}">
                <a16:creationId xmlns:a16="http://schemas.microsoft.com/office/drawing/2014/main" id="{D3FC4AAD-A24F-43A6-B4E6-EB2CDFA9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3381375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Domain apps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accounts    matching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mentorship    gamification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notifications</a:t>
            </a:r>
          </a:p>
        </p:txBody>
      </p:sp>
      <p:sp>
        <p:nvSpPr>
          <p:cNvPr id="17" name="Persistence SQLite and Django ORM">
            <a:extLst xmlns:a="http://schemas.openxmlformats.org/drawingml/2006/main">
              <a:ext uri="{FF2B5EF4-FFF2-40B4-BE49-F238E27FC236}">
                <a16:creationId xmlns:a16="http://schemas.microsoft.com/office/drawing/2014/main" id="{57482267-9A7A-4C54-9D42-73E1F607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81250"/>
            <a:ext cx="2343150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Persistence</a:t>
            </a:r>
          </a:p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SQLite and Django ORM</a:t>
            </a:r>
          </a:p>
        </p:txBody>
      </p:sp>
      <p:sp>
        <p:nvSpPr>
          <p:cNvPr id="18" name="Local media Uploaded learning resources">
            <a:extLst xmlns:a="http://schemas.openxmlformats.org/drawingml/2006/main">
              <a:ext uri="{FF2B5EF4-FFF2-40B4-BE49-F238E27FC236}">
                <a16:creationId xmlns:a16="http://schemas.microsoft.com/office/drawing/2014/main" id="{EC180778-8D70-49AB-86B7-B255ACA1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81475"/>
            <a:ext cx="2343150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Local media</a:t>
            </a:r>
          </a:p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Uploaded learning resources</a:t>
            </a:r>
          </a:p>
        </p:txBody>
      </p:sp>
      <p:sp>
        <p:nvSpPr>
          <p:cNvPr id="21" name="A single Django project keeps authentication, busi">
            <a:extLst xmlns:a="http://schemas.openxmlformats.org/drawingml/2006/main">
              <a:ext uri="{FF2B5EF4-FFF2-40B4-BE49-F238E27FC236}">
                <a16:creationId xmlns:a16="http://schemas.microsoft.com/office/drawing/2014/main" id="{8D96857E-0516-4D0C-ABAF-801B0086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51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A single Django project keeps authentication, business rules and data together.</a:t>
            </a:r>
          </a:p>
        </p:txBody>
      </p:sp>
    </p:spTree>
    <p:extLst>
      <p:ext uri="{BB962C8B-B14F-4D97-AF65-F5344CB8AC3E}">
        <p14:creationId xmlns:p14="http://schemas.microsoft.com/office/powerpoint/2010/main" val="14627022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5B3F67-0D34-404E-9D73-605B9101C69E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486650" y="5372100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head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89CA94-973F-44F6-BDFA-577E6064F0EF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619500" y="5372100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head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BCA41-62B0-4ACC-8851-30E01E39DA51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486650" y="2790825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head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B419F-9F61-433C-B288-D4ABFE33D9BF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619500" y="2790825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headEnd type="triangle" w="sm" len="sm"/>
          </a:ln>
        </p:spPr>
      </p:cxn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AD96BF-E191-46CD-99EF-180F2BC1F9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4. System architecture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01BED39D-B4A5-46D9-9E92-581C35D2E9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96b1457ec4e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DA044682-82A3-40A3-A3FD-22FBB85BD5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66F806CC-A00D-4B1E-A042-0CAF75531A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rPr sz="1600"/>
              <a:t>10</a:t>
            </a:fld>
            <a:endParaRPr sz="1600"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25915BE-C2A8-4212-A5F3-C2ED42FFC02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Core records and event flow">
            <a:extLst xmlns:a="http://schemas.openxmlformats.org/drawingml/2006/main">
              <a:ext uri="{FF2B5EF4-FFF2-40B4-BE49-F238E27FC236}">
                <a16:creationId xmlns:a16="http://schemas.microsoft.com/office/drawing/2014/main" id="{A843CD78-9717-43B3-AD87-726E94CB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Core records and event flow</a:t>
            </a:r>
          </a:p>
        </p:txBody>
      </p:sp>
      <p:sp>
        <p:nvSpPr>
          <p:cNvPr id="12" name="User Profile and role assignments">
            <a:extLst xmlns:a="http://schemas.openxmlformats.org/drawingml/2006/main">
              <a:ext uri="{FF2B5EF4-FFF2-40B4-BE49-F238E27FC236}">
                <a16:creationId xmlns:a16="http://schemas.microsoft.com/office/drawing/2014/main" id="{0E27629E-BA67-4C16-BA84-C156F75D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27813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User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Profile and role assignments</a:t>
            </a:r>
          </a:p>
        </p:txBody>
      </p:sp>
      <p:sp>
        <p:nvSpPr>
          <p:cNvPr id="13" name="Mentorship Mentor and learner">
            <a:extLst xmlns:a="http://schemas.openxmlformats.org/drawingml/2006/main">
              <a:ext uri="{FF2B5EF4-FFF2-40B4-BE49-F238E27FC236}">
                <a16:creationId xmlns:a16="http://schemas.microsoft.com/office/drawing/2014/main" id="{996BA288-D1DC-48FC-8C44-F90C4A4F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95525"/>
            <a:ext cx="27813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Mentorship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Mentor and learner</a:t>
            </a:r>
          </a:p>
        </p:txBody>
      </p:sp>
      <p:sp>
        <p:nvSpPr>
          <p:cNvPr id="14" name="Learning records Progress, sessions and milestones">
            <a:extLst xmlns:a="http://schemas.openxmlformats.org/drawingml/2006/main">
              <a:ext uri="{FF2B5EF4-FFF2-40B4-BE49-F238E27FC236}">
                <a16:creationId xmlns:a16="http://schemas.microsoft.com/office/drawing/2014/main" id="{F65477CA-C38F-4AA3-9173-4EF23355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295525"/>
            <a:ext cx="2790825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Learning records</a:t>
            </a:r>
          </a:p>
          <a:p xmlns:a="http://schemas.openxmlformats.org/drawingml/2006/main">
            <a:pPr algn="ctr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Progress, sessions and milestones</a:t>
            </a:r>
          </a:p>
        </p:txBody>
      </p:sp>
      <p:sp>
        <p:nvSpPr>
          <p:cNvPr id="17" name="User owns a credit wallet&#10;and earned badges">
            <a:extLst xmlns:a="http://schemas.openxmlformats.org/drawingml/2006/main">
              <a:ext uri="{FF2B5EF4-FFF2-40B4-BE49-F238E27FC236}">
                <a16:creationId xmlns:a16="http://schemas.microsoft.com/office/drawing/2014/main" id="{697587D3-EA64-4A4C-8D7A-3089C06A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9975"/>
            <a:ext cx="2781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User owns a credit wallet</a:t>
            </a:r>
          </a:p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and earned badges</a:t>
            </a:r>
          </a:p>
        </p:txBody>
      </p:sp>
      <p:sp>
        <p:nvSpPr>
          <p:cNvPr id="18" name="Resources and discussion&#10;posts belong to a mentors">
            <a:extLst xmlns:a="http://schemas.openxmlformats.org/drawingml/2006/main">
              <a:ext uri="{FF2B5EF4-FFF2-40B4-BE49-F238E27FC236}">
                <a16:creationId xmlns:a16="http://schemas.microsoft.com/office/drawing/2014/main" id="{0B12B51C-3870-461F-9F7D-4EE2435C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09975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Resources and discussion</a:t>
            </a:r>
          </a:p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posts belong to a mentorship</a:t>
            </a:r>
          </a:p>
        </p:txBody>
      </p:sp>
      <p:sp>
        <p:nvSpPr>
          <p:cNvPr id="19" name="Profile connects to skills&#10;through a many-to-many ">
            <a:extLst xmlns:a="http://schemas.openxmlformats.org/drawingml/2006/main">
              <a:ext uri="{FF2B5EF4-FFF2-40B4-BE49-F238E27FC236}">
                <a16:creationId xmlns:a16="http://schemas.microsoft.com/office/drawing/2014/main" id="{80C9754E-516C-4AF8-804F-CFE641EF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609975"/>
            <a:ext cx="27908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Profile connects to skills</a:t>
            </a:r>
          </a:p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through a many-to-many link</a:t>
            </a:r>
          </a:p>
        </p:txBody>
      </p:sp>
      <p:sp>
        <p:nvSpPr>
          <p:cNvPr id="20" name="Session completed">
            <a:extLst xmlns:a="http://schemas.openxmlformats.org/drawingml/2006/main">
              <a:ext uri="{FF2B5EF4-FFF2-40B4-BE49-F238E27FC236}">
                <a16:creationId xmlns:a16="http://schemas.microsoft.com/office/drawing/2014/main" id="{5AD899E2-93F8-43B8-A61E-B7570E6E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27813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Session completed</a:t>
            </a:r>
          </a:p>
        </p:txBody>
      </p:sp>
      <p:sp>
        <p:nvSpPr>
          <p:cNvPr id="21" name="Credits and badge checks">
            <a:extLst xmlns:a="http://schemas.openxmlformats.org/drawingml/2006/main">
              <a:ext uri="{FF2B5EF4-FFF2-40B4-BE49-F238E27FC236}">
                <a16:creationId xmlns:a16="http://schemas.microsoft.com/office/drawing/2014/main" id="{FBB60148-48BF-43DC-99B7-1FC1FE3D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38725"/>
            <a:ext cx="27813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Credits and badge checks</a:t>
            </a:r>
          </a:p>
        </p:txBody>
      </p:sp>
      <p:sp>
        <p:nvSpPr>
          <p:cNvPr id="22" name="Ranking and notifications">
            <a:extLst xmlns:a="http://schemas.openxmlformats.org/drawingml/2006/main">
              <a:ext uri="{FF2B5EF4-FFF2-40B4-BE49-F238E27FC236}">
                <a16:creationId xmlns:a16="http://schemas.microsoft.com/office/drawing/2014/main" id="{0975D8F0-E01D-4B33-A983-D995DCFA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038725"/>
            <a:ext cx="27908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Ranking and notifications</a:t>
            </a:r>
          </a:p>
        </p:txBody>
      </p:sp>
      <p:sp>
        <p:nvSpPr>
          <p:cNvPr id="25" name="Updates run synchronously in application handlers.">
            <a:extLst xmlns:a="http://schemas.openxmlformats.org/drawingml/2006/main">
              <a:ext uri="{FF2B5EF4-FFF2-40B4-BE49-F238E27FC236}">
                <a16:creationId xmlns:a16="http://schemas.microsoft.com/office/drawing/2014/main" id="{486FEBB7-F63F-4994-9940-4D4A758B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34075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Updates run synchronously in application handlers.</a:t>
            </a:r>
          </a:p>
        </p:txBody>
      </p:sp>
    </p:spTree>
    <p:extLst>
      <p:ext uri="{BB962C8B-B14F-4D97-AF65-F5344CB8AC3E}">
        <p14:creationId xmlns:p14="http://schemas.microsoft.com/office/powerpoint/2010/main" val="14627022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F3A85F-F9F8-4090-A5D2-10D3A09EDD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5. Demonstration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749636A1-FAC9-4F02-95F8-A8A13B8706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745f0e22e49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985B9D53-7753-4E7E-8DE4-04C244F97B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6D880C44-1836-43DB-8255-AE51B6C3B7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rPr sz="1600"/>
              <a:t>11</a:t>
            </a:fld>
            <a:endParaRPr sz="1600"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1770D02-8F7E-465B-BDE6-D87B1488F0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How to install and run locally">
            <a:extLst xmlns:a="http://schemas.openxmlformats.org/drawingml/2006/main">
              <a:ext uri="{FF2B5EF4-FFF2-40B4-BE49-F238E27FC236}">
                <a16:creationId xmlns:a16="http://schemas.microsoft.com/office/drawing/2014/main" id="{3F5E17D7-DF3F-40BA-BBFC-E27360F5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How to install and run locally</a:t>
            </a:r>
          </a:p>
        </p:txBody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324FA879-5D06-42E3-8AD1-B6D7D39F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581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3" name="Install dependencies">
            <a:extLst xmlns:a="http://schemas.openxmlformats.org/drawingml/2006/main">
              <a:ext uri="{FF2B5EF4-FFF2-40B4-BE49-F238E27FC236}">
                <a16:creationId xmlns:a16="http://schemas.microsoft.com/office/drawing/2014/main" id="{C7428622-A5D3-4C99-819B-C80EEB9F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38375"/>
            <a:ext cx="3838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Install dependencies</a:t>
            </a:r>
          </a:p>
        </p:txBody>
      </p:sp>
      <p:sp>
        <p:nvSpPr>
          <p:cNvPr id="14" name="python -m pip install -r requirements.txt">
            <a:extLst xmlns:a="http://schemas.openxmlformats.org/drawingml/2006/main">
              <a:ext uri="{FF2B5EF4-FFF2-40B4-BE49-F238E27FC236}">
                <a16:creationId xmlns:a16="http://schemas.microsoft.com/office/drawing/2014/main" id="{7042D652-3F69-418E-9DA2-1D02C7D6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219325"/>
            <a:ext cx="5476875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23825" tIns="123825" rIns="123825" bIns="123825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213B57"/>
                </a:solidFill>
                <a:latin typeface="Consolas"/>
                <a:ea typeface="Consolas"/>
                <a:cs typeface="Consolas"/>
              </a:rPr>
              <a:t>python -m pip install -r requirements.txt</a:t>
            </a:r>
          </a:p>
        </p:txBody>
      </p:sp>
      <p:sp>
        <p:nvSpPr>
          <p:cNvPr id="15" name="2">
            <a:extLst xmlns:a="http://schemas.openxmlformats.org/drawingml/2006/main">
              <a:ext uri="{FF2B5EF4-FFF2-40B4-BE49-F238E27FC236}">
                <a16:creationId xmlns:a16="http://schemas.microsoft.com/office/drawing/2014/main" id="{F0FEDCA7-BCB8-4267-A3A3-B0BFABD2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81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6" name="Apply the database schema">
            <a:extLst xmlns:a="http://schemas.openxmlformats.org/drawingml/2006/main">
              <a:ext uri="{FF2B5EF4-FFF2-40B4-BE49-F238E27FC236}">
                <a16:creationId xmlns:a16="http://schemas.microsoft.com/office/drawing/2014/main" id="{D847B3F6-A72A-4610-93E5-3359727F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33725"/>
            <a:ext cx="3838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Apply the database schema</a:t>
            </a:r>
          </a:p>
        </p:txBody>
      </p:sp>
      <p:sp>
        <p:nvSpPr>
          <p:cNvPr id="17" name="python manage.py migrate">
            <a:extLst xmlns:a="http://schemas.openxmlformats.org/drawingml/2006/main">
              <a:ext uri="{FF2B5EF4-FFF2-40B4-BE49-F238E27FC236}">
                <a16:creationId xmlns:a16="http://schemas.microsoft.com/office/drawing/2014/main" id="{7C134EFB-B597-4F24-9FF4-9C14A1AB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5476875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23825" tIns="123825" rIns="123825" bIns="123825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213B57"/>
                </a:solidFill>
                <a:latin typeface="Consolas"/>
                <a:ea typeface="Consolas"/>
                <a:cs typeface="Consolas"/>
              </a:rPr>
              <a:t>python manage.py migrate</a:t>
            </a:r>
          </a:p>
        </p:txBody>
      </p:sp>
      <p:sp>
        <p:nvSpPr>
          <p:cNvPr id="18" name="3">
            <a:extLst xmlns:a="http://schemas.openxmlformats.org/drawingml/2006/main">
              <a:ext uri="{FF2B5EF4-FFF2-40B4-BE49-F238E27FC236}">
                <a16:creationId xmlns:a16="http://schemas.microsoft.com/office/drawing/2014/main" id="{808BF9A2-A729-4942-BC7B-FE1E8233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581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9" name="Start the application">
            <a:extLst xmlns:a="http://schemas.openxmlformats.org/drawingml/2006/main">
              <a:ext uri="{FF2B5EF4-FFF2-40B4-BE49-F238E27FC236}">
                <a16:creationId xmlns:a16="http://schemas.microsoft.com/office/drawing/2014/main" id="{BF65F41A-48A3-485E-9E22-543B83A6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29075"/>
            <a:ext cx="3838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Start the application</a:t>
            </a:r>
          </a:p>
        </p:txBody>
      </p:sp>
      <p:sp>
        <p:nvSpPr>
          <p:cNvPr id="20" name="python manage.py runserver">
            <a:extLst xmlns:a="http://schemas.openxmlformats.org/drawingml/2006/main">
              <a:ext uri="{FF2B5EF4-FFF2-40B4-BE49-F238E27FC236}">
                <a16:creationId xmlns:a16="http://schemas.microsoft.com/office/drawing/2014/main" id="{9167EE46-B6B7-4FA0-9968-DD4601CE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10025"/>
            <a:ext cx="5476875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23825" tIns="123825" rIns="123825" bIns="123825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213B57"/>
                </a:solidFill>
                <a:latin typeface="Consolas"/>
                <a:ea typeface="Consolas"/>
                <a:cs typeface="Consolas"/>
              </a:rPr>
              <a:t>python manage.py runserver</a:t>
            </a:r>
          </a:p>
        </p:txBody>
      </p:sp>
      <p:sp>
        <p:nvSpPr>
          <p:cNvPr id="21" name="4">
            <a:extLst xmlns:a="http://schemas.openxmlformats.org/drawingml/2006/main">
              <a:ext uri="{FF2B5EF4-FFF2-40B4-BE49-F238E27FC236}">
                <a16:creationId xmlns:a16="http://schemas.microsoft.com/office/drawing/2014/main" id="{7F42A10B-EA2D-4F65-928A-14A20D52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581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2" name="Open in the browser">
            <a:extLst xmlns:a="http://schemas.openxmlformats.org/drawingml/2006/main">
              <a:ext uri="{FF2B5EF4-FFF2-40B4-BE49-F238E27FC236}">
                <a16:creationId xmlns:a16="http://schemas.microsoft.com/office/drawing/2014/main" id="{F79D9196-6ADB-4C2C-B844-6ED279AA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24425"/>
            <a:ext cx="3838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Open in the browser</a:t>
            </a:r>
          </a:p>
        </p:txBody>
      </p:sp>
      <p:sp>
        <p:nvSpPr>
          <p:cNvPr id="23" name="http://127.0.0.1:8000/">
            <a:extLst xmlns:a="http://schemas.openxmlformats.org/drawingml/2006/main">
              <a:ext uri="{FF2B5EF4-FFF2-40B4-BE49-F238E27FC236}">
                <a16:creationId xmlns:a16="http://schemas.microsoft.com/office/drawing/2014/main" id="{03FD9D30-E26F-4BF9-BC96-9205D7B5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905375"/>
            <a:ext cx="5476875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23825" tIns="123825" rIns="123825" bIns="123825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213B57"/>
                </a:solidFill>
                <a:latin typeface="Consolas"/>
                <a:ea typeface="Consolas"/>
                <a:cs typeface="Consolas"/>
              </a:rPr>
              <a:t>http://127.0.0.1:8000/</a:t>
            </a:r>
          </a:p>
        </p:txBody>
      </p:sp>
      <p:sp>
        <p:nvSpPr>
          <p:cNvPr id="24" name="Run commands from the project folder after install">
            <a:extLst xmlns:a="http://schemas.openxmlformats.org/drawingml/2006/main">
              <a:ext uri="{FF2B5EF4-FFF2-40B4-BE49-F238E27FC236}">
                <a16:creationId xmlns:a16="http://schemas.microsoft.com/office/drawing/2014/main" id="{418EA237-A379-465E-B198-E7997312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62650"/>
            <a:ext cx="9686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Run commands from the project folder after installing Python 3.10+.</a:t>
            </a:r>
          </a:p>
        </p:txBody>
      </p:sp>
    </p:spTree>
    <p:extLst>
      <p:ext uri="{BB962C8B-B14F-4D97-AF65-F5344CB8AC3E}">
        <p14:creationId xmlns:p14="http://schemas.microsoft.com/office/powerpoint/2010/main" val="6026786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F3A85F-F9F8-4090-A5D2-10D3A09EDD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5. Demonstration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749636A1-FAC9-4F02-95F8-A8A13B8706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4574cdf4f49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985B9D53-7753-4E7E-8DE4-04C244F97B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6D880C44-1836-43DB-8255-AE51B6C3B7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rPr sz="1600"/>
              <a:t>12</a:t>
            </a:fld>
            <a:endParaRPr sz="1600"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1770D02-8F7E-465B-BDE6-D87B1488F0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Live demonstration sequence and expected results">
            <a:extLst xmlns:a="http://schemas.openxmlformats.org/drawingml/2006/main">
              <a:ext uri="{FF2B5EF4-FFF2-40B4-BE49-F238E27FC236}">
                <a16:creationId xmlns:a16="http://schemas.microsoft.com/office/drawing/2014/main" id="{09A48155-0617-4EC9-8320-1BA174AE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Live demonstration sequence and expected results</a:t>
            </a:r>
          </a:p>
        </p:txBody>
      </p:sp>
      <p:sp>
        <p:nvSpPr>
          <p:cNvPr id="12" name="01">
            <a:extLst xmlns:a="http://schemas.openxmlformats.org/drawingml/2006/main">
              <a:ext uri="{FF2B5EF4-FFF2-40B4-BE49-F238E27FC236}">
                <a16:creationId xmlns:a16="http://schemas.microsoft.com/office/drawing/2014/main" id="{B4B06FCB-BBD4-4935-B704-09298D18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85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3" name="Prepare">
            <a:extLst xmlns:a="http://schemas.openxmlformats.org/drawingml/2006/main">
              <a:ext uri="{FF2B5EF4-FFF2-40B4-BE49-F238E27FC236}">
                <a16:creationId xmlns:a16="http://schemas.microsoft.com/office/drawing/2014/main" id="{DB0FFCC7-97F1-4C9E-B49E-286920E5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95525"/>
            <a:ext cx="2200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Prepare</a:t>
            </a:r>
          </a:p>
        </p:txBody>
      </p:sp>
      <p:sp>
        <p:nvSpPr>
          <p:cNvPr id="14" name="Create skills in Django Admin. Register a learner ">
            <a:extLst xmlns:a="http://schemas.openxmlformats.org/drawingml/2006/main">
              <a:ext uri="{FF2B5EF4-FFF2-40B4-BE49-F238E27FC236}">
                <a16:creationId xmlns:a16="http://schemas.microsoft.com/office/drawing/2014/main" id="{A237B008-BA53-473A-A7DF-F8C7C9C3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86000"/>
            <a:ext cx="699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Create skills in Django Admin. Register a learner and</a:t>
            </a:r>
          </a:p>
          <a:p xmlns:a="http://schemas.openxmlformats.org/drawingml/2006/main">
            <a: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a mentor, then complete their profiles and roles.</a:t>
            </a:r>
          </a:p>
        </p:txBody>
      </p:sp>
      <p:sp>
        <p:nvSpPr>
          <p:cNvPr id="15" name="02">
            <a:extLst xmlns:a="http://schemas.openxmlformats.org/drawingml/2006/main">
              <a:ext uri="{FF2B5EF4-FFF2-40B4-BE49-F238E27FC236}">
                <a16:creationId xmlns:a16="http://schemas.microsoft.com/office/drawing/2014/main" id="{C91EB9BD-F831-4310-B5E1-A518E3B4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685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6" name="Discover">
            <a:extLst xmlns:a="http://schemas.openxmlformats.org/drawingml/2006/main">
              <a:ext uri="{FF2B5EF4-FFF2-40B4-BE49-F238E27FC236}">
                <a16:creationId xmlns:a16="http://schemas.microsoft.com/office/drawing/2014/main" id="{5352180E-1F92-4177-8EA4-C5AFBB63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71825"/>
            <a:ext cx="2200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Discover</a:t>
            </a:r>
          </a:p>
        </p:txBody>
      </p:sp>
      <p:sp>
        <p:nvSpPr>
          <p:cNvPr id="17" name="Open /mentors/, filter by skill and inspect the&#10;co">
            <a:extLst xmlns:a="http://schemas.openxmlformats.org/drawingml/2006/main">
              <a:ext uri="{FF2B5EF4-FFF2-40B4-BE49-F238E27FC236}">
                <a16:creationId xmlns:a16="http://schemas.microsoft.com/office/drawing/2014/main" id="{73B93CBA-7716-4230-B31F-56D624CD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62300"/>
            <a:ext cx="699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Open /mentors/, filter by skill and inspect the</a:t>
            </a:r>
          </a:p>
          <a:p xmlns:a="http://schemas.openxmlformats.org/drawingml/2006/main">
            <a: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compatibility breakdown before sending a request.</a:t>
            </a:r>
          </a:p>
        </p:txBody>
      </p:sp>
      <p:sp>
        <p:nvSpPr>
          <p:cNvPr id="18" name="03">
            <a:extLst xmlns:a="http://schemas.openxmlformats.org/drawingml/2006/main">
              <a:ext uri="{FF2B5EF4-FFF2-40B4-BE49-F238E27FC236}">
                <a16:creationId xmlns:a16="http://schemas.microsoft.com/office/drawing/2014/main" id="{203C1E6D-D36E-4E39-99F0-E71AE995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685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9" name="Collaborate">
            <a:extLst xmlns:a="http://schemas.openxmlformats.org/drawingml/2006/main">
              <a:ext uri="{FF2B5EF4-FFF2-40B4-BE49-F238E27FC236}">
                <a16:creationId xmlns:a16="http://schemas.microsoft.com/office/drawing/2014/main" id="{56EE2A1F-DF33-49C9-8BD4-E03E68FE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48125"/>
            <a:ext cx="2200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Collaborate</a:t>
            </a:r>
          </a:p>
        </p:txBody>
      </p:sp>
      <p:sp>
        <p:nvSpPr>
          <p:cNvPr id="20" name="Accept the request. Add a session and milestone,&#10;t">
            <a:extLst xmlns:a="http://schemas.openxmlformats.org/drawingml/2006/main">
              <a:ext uri="{FF2B5EF4-FFF2-40B4-BE49-F238E27FC236}">
                <a16:creationId xmlns:a16="http://schemas.microsoft.com/office/drawing/2014/main" id="{D0894C94-4E58-4660-8A5C-8EC1D963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38600"/>
            <a:ext cx="699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Accept the request. Add a session and milestone,</a:t>
            </a:r>
          </a:p>
          <a:p xmlns:a="http://schemas.openxmlformats.org/drawingml/2006/main">
            <a: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then mark each complete and share a resource.</a:t>
            </a:r>
          </a:p>
        </p:txBody>
      </p:sp>
      <p:sp>
        <p:nvSpPr>
          <p:cNvPr id="21" name="04">
            <a:extLst xmlns:a="http://schemas.openxmlformats.org/drawingml/2006/main">
              <a:ext uri="{FF2B5EF4-FFF2-40B4-BE49-F238E27FC236}">
                <a16:creationId xmlns:a16="http://schemas.microsoft.com/office/drawing/2014/main" id="{1DCCB06D-6F09-44E1-AB20-0E6A9102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85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2" name="Verify">
            <a:extLst xmlns:a="http://schemas.openxmlformats.org/drawingml/2006/main">
              <a:ext uri="{FF2B5EF4-FFF2-40B4-BE49-F238E27FC236}">
                <a16:creationId xmlns:a16="http://schemas.microsoft.com/office/drawing/2014/main" id="{17A2C61F-0DC4-42E4-A859-323D24D7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924425"/>
            <a:ext cx="2200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Verify</a:t>
            </a:r>
          </a:p>
        </p:txBody>
      </p:sp>
      <p:sp>
        <p:nvSpPr>
          <p:cNvPr id="23" name="Check progress and the wallet ledger. Submit feedb">
            <a:extLst xmlns:a="http://schemas.openxmlformats.org/drawingml/2006/main">
              <a:ext uri="{FF2B5EF4-FFF2-40B4-BE49-F238E27FC236}">
                <a16:creationId xmlns:a16="http://schemas.microsoft.com/office/drawing/2014/main" id="{67A40D10-CE00-47FE-BCC3-232B7D53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14900"/>
            <a:ext cx="699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Check progress and the wallet ledger. Submit feedback,</a:t>
            </a:r>
          </a:p>
          <a:p xmlns:a="http://schemas.openxmlformats.org/drawingml/2006/main">
            <a: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complete the mentorship and print its certificate.</a:t>
            </a:r>
          </a:p>
        </p:txBody>
      </p:sp>
      <p:sp>
        <p:nvSpPr>
          <p:cNvPr id="24" name="Validation command">
            <a:extLst xmlns:a="http://schemas.openxmlformats.org/drawingml/2006/main">
              <a:ext uri="{FF2B5EF4-FFF2-40B4-BE49-F238E27FC236}">
                <a16:creationId xmlns:a16="http://schemas.microsoft.com/office/drawing/2014/main" id="{67E368B7-40A8-41B2-A9BA-B194DC3D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676AD"/>
                </a:solidFill>
                <a:latin typeface="Segoe UI"/>
                <a:ea typeface="Segoe UI"/>
                <a:cs typeface="Segoe UI"/>
              </a:rPr>
              <a:t>Validation command</a:t>
            </a:r>
          </a:p>
        </p:txBody>
      </p:sp>
      <p:sp>
        <p:nvSpPr>
          <p:cNvPr id="25" name="python manage.py test">
            <a:extLst xmlns:a="http://schemas.openxmlformats.org/drawingml/2006/main">
              <a:ext uri="{FF2B5EF4-FFF2-40B4-BE49-F238E27FC236}">
                <a16:creationId xmlns:a16="http://schemas.microsoft.com/office/drawing/2014/main" id="{45DBD2DE-404F-4D19-83B9-7B31A1FC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857875"/>
            <a:ext cx="699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13B57"/>
                </a:solidFill>
                <a:latin typeface="Consolas"/>
                <a:ea typeface="Consolas"/>
                <a:cs typeface="Consolas"/>
              </a:rPr>
              <a:t>python manage.py test</a:t>
            </a:r>
          </a:p>
        </p:txBody>
      </p:sp>
    </p:spTree>
    <p:extLst>
      <p:ext uri="{BB962C8B-B14F-4D97-AF65-F5344CB8AC3E}">
        <p14:creationId xmlns:p14="http://schemas.microsoft.com/office/powerpoint/2010/main" val="60267862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2026-10-11T20:15:59.6310000Z</dcterms:created>
  <dcterms:modified xsi:type="dcterms:W3CDTF">2026-10-11T20:15:59.6310000Z</dcterms:modified>
</coreProperties>
</file>