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0c869652a94f69" /><Relationship Type="http://schemas.openxmlformats.org/officeDocument/2006/relationships/extended-properties" Target="/docProps/app.xml" Id="R55bfa32eb6b24d52" /><Relationship Type="http://schemas.openxmlformats.org/officeDocument/2006/relationships/officeDocument" Target="/ppt/presentation.xml" Id="Rae36d4785c4a41c3" /></Relationships>
</file>

<file path=ppt/presentation.xml><?xml version="1.0" encoding="utf-8"?>
<p:presentation xmlns:p="http://schemas.openxmlformats.org/presentationml/2006/main">
  <p:sldMasterIdLst>
    <p:sldMasterId xmlns:r="http://schemas.openxmlformats.org/officeDocument/2006/relationships" id="2147483648" r:id="Re3866fd960764454"/>
  </p:sldMasterIdLst>
  <p:notesMasterIdLst>
    <p:notesMasterId xmlns:r="http://schemas.openxmlformats.org/officeDocument/2006/relationships" r:id="R0f94d53ee4f0435a"/>
  </p:notesMasterIdLst>
  <p:sldIdLst>
    <p:sldId xmlns:r="http://schemas.openxmlformats.org/officeDocument/2006/relationships" id="256" r:id="R8f1187efabcb461a"/>
    <p:sldId xmlns:r="http://schemas.openxmlformats.org/officeDocument/2006/relationships" id="257" r:id="R262588739f9b4ec8"/>
    <p:sldId xmlns:r="http://schemas.openxmlformats.org/officeDocument/2006/relationships" id="258" r:id="R26b1bc7d10ac46a3"/>
    <p:sldId xmlns:r="http://schemas.openxmlformats.org/officeDocument/2006/relationships" id="259" r:id="R3af679a404374978"/>
    <p:sldId xmlns:r="http://schemas.openxmlformats.org/officeDocument/2006/relationships" id="260" r:id="R5547bcbb89824ed3"/>
    <p:sldId xmlns:r="http://schemas.openxmlformats.org/officeDocument/2006/relationships" id="261" r:id="R034967573f524d00"/>
    <p:sldId xmlns:r="http://schemas.openxmlformats.org/officeDocument/2006/relationships" id="262" r:id="R5196df24c47448fa"/>
    <p:sldId xmlns:r="http://schemas.openxmlformats.org/officeDocument/2006/relationships" id="263" r:id="Rdb54d3bb077d41d1"/>
    <p:sldId xmlns:r="http://schemas.openxmlformats.org/officeDocument/2006/relationships" id="264" r:id="Radc191c0b03c4da3"/>
    <p:sldId xmlns:r="http://schemas.openxmlformats.org/officeDocument/2006/relationships" id="265" r:id="Rd17213e4f05d4dae"/>
    <p:sldId xmlns:r="http://schemas.openxmlformats.org/officeDocument/2006/relationships" id="266" r:id="Rfa215301194a4449"/>
    <p:sldId xmlns:r="http://schemas.openxmlformats.org/officeDocument/2006/relationships" id="267" r:id="R6e8db353afa74816"/>
    <p:sldId xmlns:r="http://schemas.openxmlformats.org/officeDocument/2006/relationships" id="268" r:id="Rcc1486979c8a4f40"/>
    <p:sldId xmlns:r="http://schemas.openxmlformats.org/officeDocument/2006/relationships" id="269" r:id="Rda2777987dd348c8"/>
    <p:sldId xmlns:r="http://schemas.openxmlformats.org/officeDocument/2006/relationships" id="270" r:id="R699cd5eeecd049b4"/>
    <p:sldId xmlns:r="http://schemas.openxmlformats.org/officeDocument/2006/relationships" id="271" r:id="Re447a1ca52f4438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b1e76334af462b" /><Relationship Type="http://schemas.openxmlformats.org/officeDocument/2006/relationships/slideMaster" Target="/ppt/slideMasters/slideMaster1.xml" Id="Re3866fd960764454" /><Relationship Type="http://schemas.openxmlformats.org/officeDocument/2006/relationships/notesMaster" Target="/ppt/notesMasters/notesMaster1.xml" Id="R0f94d53ee4f0435a" /><Relationship Type="http://schemas.openxmlformats.org/officeDocument/2006/relationships/presProps" Target="/ppt/presProps.xml" Id="R2a5892dcab184a49" /><Relationship Type="http://schemas.openxmlformats.org/officeDocument/2006/relationships/tableStyles" Target="/ppt/tableStyles.xml" Id="R56c709c8a3934fbc" /><Relationship Type="http://schemas.openxmlformats.org/officeDocument/2006/relationships/slide" Target="/ppt/slides/slide1.xml" Id="R8f1187efabcb461a" /><Relationship Type="http://schemas.openxmlformats.org/officeDocument/2006/relationships/slide" Target="/ppt/slides/slide2.xml" Id="R262588739f9b4ec8" /><Relationship Type="http://schemas.openxmlformats.org/officeDocument/2006/relationships/slide" Target="/ppt/slides/slide3.xml" Id="R26b1bc7d10ac46a3" /><Relationship Type="http://schemas.openxmlformats.org/officeDocument/2006/relationships/slide" Target="/ppt/slides/slide4.xml" Id="R3af679a404374978" /><Relationship Type="http://schemas.openxmlformats.org/officeDocument/2006/relationships/slide" Target="/ppt/slides/slide5.xml" Id="R5547bcbb89824ed3" /><Relationship Type="http://schemas.openxmlformats.org/officeDocument/2006/relationships/slide" Target="/ppt/slides/slide6.xml" Id="R034967573f524d00" /><Relationship Type="http://schemas.openxmlformats.org/officeDocument/2006/relationships/slide" Target="/ppt/slides/slide7.xml" Id="R5196df24c47448fa" /><Relationship Type="http://schemas.openxmlformats.org/officeDocument/2006/relationships/slide" Target="/ppt/slides/slide8.xml" Id="Rdb54d3bb077d41d1" /><Relationship Type="http://schemas.openxmlformats.org/officeDocument/2006/relationships/slide" Target="/ppt/slides/slide9.xml" Id="Radc191c0b03c4da3" /><Relationship Type="http://schemas.openxmlformats.org/officeDocument/2006/relationships/slide" Target="/ppt/slides/slide10.xml" Id="Rd17213e4f05d4dae" /><Relationship Type="http://schemas.openxmlformats.org/officeDocument/2006/relationships/slide" Target="/ppt/slides/slide11.xml" Id="Rfa215301194a4449" /><Relationship Type="http://schemas.openxmlformats.org/officeDocument/2006/relationships/slide" Target="/ppt/slides/slide12.xml" Id="R6e8db353afa74816" /><Relationship Type="http://schemas.openxmlformats.org/officeDocument/2006/relationships/slide" Target="/ppt/slides/slide13.xml" Id="Rcc1486979c8a4f40" /><Relationship Type="http://schemas.openxmlformats.org/officeDocument/2006/relationships/slide" Target="/ppt/slides/slide14.xml" Id="Rda2777987dd348c8" /><Relationship Type="http://schemas.openxmlformats.org/officeDocument/2006/relationships/slide" Target="/ppt/slides/slide15.xml" Id="R699cd5eeecd049b4" /><Relationship Type="http://schemas.openxmlformats.org/officeDocument/2006/relationships/slide" Target="/ppt/slides/slide16.xml" Id="Re447a1ca52f443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51cdca2b0e45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b77496e23544bb" /><Relationship Type="http://schemas.openxmlformats.org/officeDocument/2006/relationships/notesMaster" Target="/ppt/notesMasters/notesMaster1.xml" Id="Rcb43ea31903c46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1520fbbde84a2e" /><Relationship Type="http://schemas.openxmlformats.org/officeDocument/2006/relationships/notesMaster" Target="/ppt/notesMasters/notesMaster1.xml" Id="Ra9da922e1b4143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2e40bf4d604ea1" /><Relationship Type="http://schemas.openxmlformats.org/officeDocument/2006/relationships/notesMaster" Target="/ppt/notesMasters/notesMaster1.xml" Id="Ra7242cb1d33740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9c84c64f7345cf" /><Relationship Type="http://schemas.openxmlformats.org/officeDocument/2006/relationships/notesMaster" Target="/ppt/notesMasters/notesMaster1.xml" Id="Rb600f4b02d4740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fb9ed62f1e4f18" /><Relationship Type="http://schemas.openxmlformats.org/officeDocument/2006/relationships/notesMaster" Target="/ppt/notesMasters/notesMaster1.xml" Id="R33ad8f20db4d45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46576644bb40bd" /><Relationship Type="http://schemas.openxmlformats.org/officeDocument/2006/relationships/notesMaster" Target="/ppt/notesMasters/notesMaster1.xml" Id="R63fef53f213542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8083e31c7b94f00" /><Relationship Type="http://schemas.openxmlformats.org/officeDocument/2006/relationships/notesMaster" Target="/ppt/notesMasters/notesMaster1.xml" Id="Rbf7ca623861845d7" /></Relationships>
</file>

<file path=ppt/notesSlides/_rels/notesSlide8.xml.rels>&#65279;<?xml version="1.0" encoding="utf-8"?><Relationships xmlns="http://schemas.openxmlformats.org/package/2006/relationships"><Relationship Type="http://schemas.openxmlformats.org/officeDocument/2006/relationships/slide" Target="/ppt/slides/slide8.xml" Id="R331c2cad7f0f4593" /><Relationship Type="http://schemas.openxmlformats.org/officeDocument/2006/relationships/notesMaster" Target="/ppt/notesMasters/notesMaster1.xml" Id="Rda412367ec9641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f0d58c01457c48e4" /><Relationship Type="http://schemas.openxmlformats.org/officeDocument/2006/relationships/notesMaster" Target="/ppt/notesMasters/notesMaster1.xml" Id="R52fc7e6d4515494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e2fe1f999bd4590" /><Relationship Type="http://schemas.openxmlformats.org/officeDocument/2006/relationships/notesMaster" Target="/ppt/notesMasters/notesMaster1.xml" Id="Rf6c0bd5356da4d6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a126b7c37bc4811" /><Relationship Type="http://schemas.openxmlformats.org/officeDocument/2006/relationships/notesMaster" Target="/ppt/notesMasters/notesMaster1.xml" Id="Re2be07829db042e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85f19b6f3f446de" /><Relationship Type="http://schemas.openxmlformats.org/officeDocument/2006/relationships/notesMaster" Target="/ppt/notesMasters/notesMaster1.xml" Id="Rce4ab364b3124bc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a86b31765c2442e" /><Relationship Type="http://schemas.openxmlformats.org/officeDocument/2006/relationships/notesMaster" Target="/ppt/notesMasters/notesMaster1.xml" Id="R7be0c47afd9c4f8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1f9d07c874d45f2" /><Relationship Type="http://schemas.openxmlformats.org/officeDocument/2006/relationships/notesMaster" Target="/ppt/notesMasters/notesMaster1.xml" Id="R866cc07718aa494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6fe487e9ec3499b" /><Relationship Type="http://schemas.openxmlformats.org/officeDocument/2006/relationships/notesMaster" Target="/ppt/notesMasters/notesMaster1.xml" Id="R05c41d7abd704c3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6d0c9eddbf84d21" /><Relationship Type="http://schemas.openxmlformats.org/officeDocument/2006/relationships/notesMaster" Target="/ppt/notesMasters/notesMaster1.xml" Id="R17a43c53274344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MentorPulse is a local Django project that covers mentor discovery through completion. Team names and institution follow the supplied presentation. Cover illustration generated with the built-in ImageGen tool. Prompt: two translucent violet and cyan glass ribbons ascending at right on a midnight navy background, calm negative space at left, no text. Embedded asset: C:\Users\babur\OneDrive\Desktop\MentorPulse\MentorPulse\.presentation-build\cover.png</a:t>
            </a:r>
          </a:p>
          <a:p xmlns:a="http://schemas.openxmlformats.org/drawingml/2006/main">
            <a:r>
              <a:t/>
            </a:r>
          </a:p>
          <a:p xmlns:a="http://schemas.openxmlformats.org/drawingml/2006/main">
            <a:r>
              <a:t>Project sources (reviewed 12 October 2026):</a:t>
            </a:r>
          </a:p>
          <a:p xmlns:a="http://schemas.openxmlformats.org/drawingml/2006/main">
            <a:r>
              <a:t>C:\Users\babur\OneDrive\Desktop\MentorPulse\MentorPulse\README.md</a:t>
            </a:r>
          </a:p>
          <a:p xmlns:a="http://schemas.openxmlformats.org/drawingml/2006/main">
            <a:r>
              <a:t>C:\Users\babur\OneDrive\Desktop\MentorPulse\MentorPulse\MentorPulse_Project_Description.md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is a server-rendered local demonstration. Screenshot shows the seeded learner dashboard. Seeded accounts and scenarios are demonstration data, not real adoption metrics. The five apps are accounts, matching, mentorship, gamification and notifications.</a:t>
            </a:r>
          </a:p>
          <a:p xmlns:a="http://schemas.openxmlformats.org/drawingml/2006/main">
            <a:r>
              <a:t/>
            </a:r>
          </a:p>
          <a:p xmlns:a="http://schemas.openxmlformats.org/drawingml/2006/main">
            <a:r>
              <a:t>Project sources (reviewed 12 October 2026):</a:t>
            </a:r>
          </a:p>
          <a:p xmlns:a="http://schemas.openxmlformats.org/drawingml/2006/main">
            <a:r>
              <a:t>C:\Users\babur\OneDrive\Desktop\MentorPulse\MentorPulse\README.md</a:t>
            </a:r>
          </a:p>
          <a:p xmlns:a="http://schemas.openxmlformats.org/drawingml/2006/main">
            <a:r>
              <a:t>C:\Users\babur\OneDrive\Desktop\MentorPulse\MentorPulse\mentorpulse\settings.py</a:t>
            </a:r>
          </a:p>
          <a:p xmlns:a="http://schemas.openxmlformats.org/drawingml/2006/main">
            <a:r>
              <a:t>C:\Users\babur\OneDrive\Desktop\MentorPulse\MentorPulse\accounts\views.py</a:t>
            </a:r>
          </a:p>
          <a:p xmlns:a="http://schemas.openxmlformats.org/drawingml/2006/main">
            <a:r>
              <a:t>C:\Users\babur\OneDrive\Desktop\MentorPulse\MentorPulse\templates\accounts\dashboard.html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project motivations and design objectives from the supplied specification, not measured findings from a user study. No survey percentages or impact claims are inferred. The certificate exists in the current code even though the early specification listed it as a stretch goal.</a:t>
            </a:r>
          </a:p>
          <a:p xmlns:a="http://schemas.openxmlformats.org/drawingml/2006/main">
            <a:r>
              <a:t/>
            </a:r>
          </a:p>
          <a:p xmlns:a="http://schemas.openxmlformats.org/drawingml/2006/main">
            <a:r>
              <a:t>Project sources (reviewed 12 October 2026):</a:t>
            </a:r>
          </a:p>
          <a:p xmlns:a="http://schemas.openxmlformats.org/drawingml/2006/main">
            <a:r>
              <a:t>C:\Users\babur\OneDrive\Desktop\MentorPulse\MentorPulse\MentorPulse_Project_Description.md</a:t>
            </a:r>
          </a:p>
          <a:p xmlns:a="http://schemas.openxmlformats.org/drawingml/2006/main">
            <a:r>
              <a:t>C:\Users\babur\OneDrive\Desktop\MentorPulse\MentorPulse\mentorship\views.py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RoleAssignment stores role start and end times. Profile exposes active Mentor and Learner assignments independently. Staff access uses Django Admin. Upload validator accepts .pdf, .png, .jpg, .jpeg, .txt, .docx and .doc up to 10 MiB. The interface labels this as 10 MB. No cloud object storage, payment processor or push notification service exists.</a:t>
            </a:r>
          </a:p>
          <a:p xmlns:a="http://schemas.openxmlformats.org/drawingml/2006/main">
            <a:r>
              <a:t/>
            </a:r>
          </a:p>
          <a:p xmlns:a="http://schemas.openxmlformats.org/drawingml/2006/main">
            <a:r>
              <a:t>Project sources (reviewed 12 October 2026):</a:t>
            </a:r>
          </a:p>
          <a:p xmlns:a="http://schemas.openxmlformats.org/drawingml/2006/main">
            <a:r>
              <a:t>C:\Users\babur\OneDrive\Desktop\MentorPulse\MentorPulse\accounts\models.py</a:t>
            </a:r>
          </a:p>
          <a:p xmlns:a="http://schemas.openxmlformats.org/drawingml/2006/main">
            <a:r>
              <a:t>C:\Users\babur\OneDrive\Desktop\MentorPulse\MentorPulse\mentorship\forms.py</a:t>
            </a:r>
          </a:p>
          <a:p xmlns:a="http://schemas.openxmlformats.org/drawingml/2006/main">
            <a:r>
              <a:t>C:\Users\babur\OneDrive\Desktop\MentorPulse\MentorPulse\accounts\admin.py</a:t>
            </a:r>
          </a:p>
          <a:p xmlns:a="http://schemas.openxmlformats.org/drawingml/2006/main">
            <a:r>
              <a:t>C:\Users\babur\OneDrive\Desktop\MentorPulse\MentorPulse\mentorship\admin.py</a:t>
            </a:r>
          </a:p>
          <a:p xmlns:a="http://schemas.openxmlformats.org/drawingml/2006/main">
            <a:r>
              <a:t>C:\Users\babur\OneDrive\Desktop\MentorPulse\MentorPulse\mentorpulse\settings.py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States in code: PENDING, ACTIVE, COMPLETED, REJECTED and CANCELLED. Requests block self-matching, require an active mentor role, and reject duplicate pending or active pairs. Rejected or cancelled requests refund the learner. Either participant or staff can access the workspace. Current completion view permits any authorised participant to mark an active mentorship completed and then forces progress to 100%.</a:t>
            </a:r>
          </a:p>
          <a:p xmlns:a="http://schemas.openxmlformats.org/drawingml/2006/main">
            <a:r>
              <a:t/>
            </a:r>
          </a:p>
          <a:p xmlns:a="http://schemas.openxmlformats.org/drawingml/2006/main">
            <a:r>
              <a:t>Project sources (reviewed 12 October 2026):</a:t>
            </a:r>
          </a:p>
          <a:p xmlns:a="http://schemas.openxmlformats.org/drawingml/2006/main">
            <a:r>
              <a:t>C:\Users\babur\OneDrive\Desktop\MentorPulse\MentorPulse\mentorship\models.py</a:t>
            </a:r>
          </a:p>
          <a:p xmlns:a="http://schemas.openxmlformats.org/drawingml/2006/main">
            <a:r>
              <a:t>C:\Users\babur\OneDrive\Desktop\MentorPulse\MentorPulse\mentorship\views.py</a:t>
            </a:r>
          </a:p>
          <a:p xmlns:a="http://schemas.openxmlformats.org/drawingml/2006/main">
            <a:r>
              <a:t>C:\Users\babur\OneDrive\Desktop\MentorPulse\MentorPulse\gamification\services.py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Deterministic matching, not a trained AI model. Total = round(skill_ratio*50 + availability_ratio*30 + experience_ratio*20), clamped 0 to 100. Availability ratios: exact non-empty match 1.0, either flexible 0.9, missing 0.6, incompatible 0.2. Experience gaps +1/+2 score 1.0, +3 scores 0.9, equal levels 0.65, mentor lower 0.25. Skills default to 0.5 if none selected. Tie-breaking uses mentor profile skill_score. Illustrative example is calculated from these rules, not an observed match.</a:t>
            </a:r>
          </a:p>
          <a:p xmlns:a="http://schemas.openxmlformats.org/drawingml/2006/main">
            <a:r>
              <a:t/>
            </a:r>
          </a:p>
          <a:p xmlns:a="http://schemas.openxmlformats.org/drawingml/2006/main">
            <a:r>
              <a:t>Project sources (reviewed 12 October 2026):</a:t>
            </a:r>
          </a:p>
          <a:p xmlns:a="http://schemas.openxmlformats.org/drawingml/2006/main">
            <a:r>
              <a:t>C:\Users\babur\OneDrive\Desktop\MentorPulse\MentorPulse\matching\services.py</a:t>
            </a:r>
          </a:p>
          <a:p xmlns:a="http://schemas.openxmlformats.org/drawingml/2006/main">
            <a:r>
              <a:t>C:\Users\babur\OneDrive\Desktop\MentorPulse\MentorPulse\matching\views.py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active seeded mentorship between Alex Rivera and Sarah Connor. Session records store meeting URLs, not integrated video calls. DiscussionPost is an asynchronous thread, not websocket chat. Workspace permission checks rely on Mentorship.can_access. Resource upload validation lives in mentorship/forms.py.</a:t>
            </a:r>
          </a:p>
          <a:p xmlns:a="http://schemas.openxmlformats.org/drawingml/2006/main">
            <a:r>
              <a:t/>
            </a:r>
          </a:p>
          <a:p xmlns:a="http://schemas.openxmlformats.org/drawingml/2006/main">
            <a:r>
              <a:t>Project sources (reviewed 12 October 2026):</a:t>
            </a:r>
          </a:p>
          <a:p xmlns:a="http://schemas.openxmlformats.org/drawingml/2006/main">
            <a:r>
              <a:t>C:\Users\babur\OneDrive\Desktop\MentorPulse\MentorPulse\mentorship\models.py</a:t>
            </a:r>
          </a:p>
          <a:p xmlns:a="http://schemas.openxmlformats.org/drawingml/2006/main">
            <a:r>
              <a:t>C:\Users\babur\OneDrive\Desktop\MentorPulse\MentorPulse\mentorship\views.py</a:t>
            </a:r>
          </a:p>
          <a:p xmlns:a="http://schemas.openxmlformats.org/drawingml/2006/main">
            <a:r>
              <a:t>C:\Users\babur\OneDrive\Desktop\MentorPulse\MentorPulse\templates\mentorship\workspace.html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active demo database stores 61.7%, not the 67% claimed in README and the older slide deck. Formula when both record types exist: 70*(completed milestones/total milestones)+30*(completed sessions/total sessions). When only one type exists it receives 100% weight. No records means 0%. Marking COMPLETED forces 100%, regardless of remaining checklist items. This is a workflow completion signal, not a verified competency assessment.</a:t>
            </a:r>
          </a:p>
          <a:p xmlns:a="http://schemas.openxmlformats.org/drawingml/2006/main">
            <a:r>
              <a:t/>
            </a:r>
          </a:p>
          <a:p xmlns:a="http://schemas.openxmlformats.org/drawingml/2006/main">
            <a:r>
              <a:t>Project sources (reviewed 12 October 2026):</a:t>
            </a:r>
          </a:p>
          <a:p xmlns:a="http://schemas.openxmlformats.org/drawingml/2006/main">
            <a:r>
              <a:t>C:\Users\babur\OneDrive\Desktop\MentorPulse\MentorPulse\mentorship\models.py</a:t>
            </a:r>
          </a:p>
          <a:p xmlns:a="http://schemas.openxmlformats.org/drawingml/2006/main">
            <a:r>
              <a:t>C:\Users\babur\OneDrive\Desktop\MentorPulse\MentorPulse\accounts\management\commands\seed_demo_data.py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Priority costs 10 standard plus 5 extra. Priority request ordering is -is_priority then -id, with a visible flag. CreditService records starting bonus, request deduction, priority unlock, refunds and completed-session rewards. Refund and session reward services check a context string to prevent duplicates. This does not prove concurrency safety. Screenshot shows the demo learner wallet.</a:t>
            </a:r>
          </a:p>
          <a:p xmlns:a="http://schemas.openxmlformats.org/drawingml/2006/main">
            <a:r>
              <a:t/>
            </a:r>
          </a:p>
          <a:p xmlns:a="http://schemas.openxmlformats.org/drawingml/2006/main">
            <a:r>
              <a:t>Project sources (reviewed 12 October 2026):</a:t>
            </a:r>
          </a:p>
          <a:p xmlns:a="http://schemas.openxmlformats.org/drawingml/2006/main">
            <a:r>
              <a:t>C:\Users\babur\OneDrive\Desktop\MentorPulse\MentorPulse\gamification\models.py</a:t>
            </a:r>
          </a:p>
          <a:p xmlns:a="http://schemas.openxmlformats.org/drawingml/2006/main">
            <a:r>
              <a:t>C:\Users\babur\OneDrive\Desktop\MentorPulse\MentorPulse\gamification\services.py</a:t>
            </a:r>
          </a:p>
          <a:p xmlns:a="http://schemas.openxmlformats.org/drawingml/2006/main">
            <a:r>
              <a:t>C:\Users\babur\OneDrive\Desktop\MentorPulse\MentorPulse\gamification\signals.py</a:t>
            </a:r>
          </a:p>
          <a:p xmlns:a="http://schemas.openxmlformats.org/drawingml/2006/main">
            <a:r>
              <a:t>C:\Users\babur\OneDrive\Desktop\MentorPulse\MentorPulse\mentorship\views.py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implemented rules in BadgeService, which supersede the original specification thresholds of 5 completed mentorships, skill score &gt;80, 5 ratings and 5 resources. First Steps checks completed mentorships despite a badge description mentioning a milestone. Skill score is a stored profile value rather than an automatic mastery score. LeaderboardService iterates all active users, calculates the score and assigns consecutive ranks after sorting. No background job or push leaderboard exists.</a:t>
            </a:r>
          </a:p>
          <a:p xmlns:a="http://schemas.openxmlformats.org/drawingml/2006/main">
            <a:r>
              <a:t/>
            </a:r>
          </a:p>
          <a:p xmlns:a="http://schemas.openxmlformats.org/drawingml/2006/main">
            <a:r>
              <a:t>Project sources (reviewed 12 October 2026):</a:t>
            </a:r>
          </a:p>
          <a:p xmlns:a="http://schemas.openxmlformats.org/drawingml/2006/main">
            <a:r>
              <a:t>C:\Users\babur\OneDrive\Desktop\MentorPulse\MentorPulse\gamification\services.py</a:t>
            </a:r>
          </a:p>
          <a:p xmlns:a="http://schemas.openxmlformats.org/drawingml/2006/main">
            <a:r>
              <a:t>C:\Users\babur\OneDrive\Desktop\MentorPulse\MentorPulse\accounts\models.py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Single Django project organised into five apps, not microservices. requirements.txt constrains Django &gt;=5.0,&lt;6.0. The local runtime test reports Django 5.2.17. Bootstrap version 5.3.3 appears in templates/base.html. Django auth User provides authentication, extended by Profile and RoleAssignment. Credit is a wallet model and is not an authentication model. Server-rendered HTTP requests execute synchronous business logic. No Celery, Redis, REST frontend or cloud dependency exists.</a:t>
            </a:r>
          </a:p>
          <a:p xmlns:a="http://schemas.openxmlformats.org/drawingml/2006/main">
            <a:r>
              <a:t/>
            </a:r>
          </a:p>
          <a:p xmlns:a="http://schemas.openxmlformats.org/drawingml/2006/main">
            <a:r>
              <a:t>Project sources (reviewed 12 October 2026):</a:t>
            </a:r>
          </a:p>
          <a:p xmlns:a="http://schemas.openxmlformats.org/drawingml/2006/main">
            <a:r>
              <a:t>C:\Users\babur\OneDrive\Desktop\MentorPulse\MentorPulse\requirements.txt</a:t>
            </a:r>
          </a:p>
          <a:p xmlns:a="http://schemas.openxmlformats.org/drawingml/2006/main">
            <a:r>
              <a:t>C:\Users\babur\OneDrive\Desktop\MentorPulse\MentorPulse\mentorpulse\settings.py</a:t>
            </a:r>
          </a:p>
          <a:p xmlns:a="http://schemas.openxmlformats.org/drawingml/2006/main">
            <a:r>
              <a:t>C:\Users\babur\OneDrive\Desktop\MentorPulse\MentorPulse\mentorpulse\urls.py</a:t>
            </a:r>
          </a:p>
          <a:p xmlns:a="http://schemas.openxmlformats.org/drawingml/2006/main">
            <a:r>
              <a:t>C:\Users\babur\OneDrive\Desktop\MentorPulse\MentorPulse\templates\base.html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relationship summary from current Django models. Mentorship has two user foreign keys (mentor and learner). Progress has a OneToOne relationship to Mentorship. Resource records uploaded_by. Feedback has unique_together on mentorship and given_by. UserBadge has unique_together on user and badge. LeaderboardEntry has one user record in the current implementation rather than the separate Leaderboard entity proposed in the initial specification.</a:t>
            </a:r>
          </a:p>
          <a:p xmlns:a="http://schemas.openxmlformats.org/drawingml/2006/main">
            <a:r>
              <a:t/>
            </a:r>
          </a:p>
          <a:p xmlns:a="http://schemas.openxmlformats.org/drawingml/2006/main">
            <a:r>
              <a:t>Project sources (reviewed 12 October 2026):</a:t>
            </a:r>
          </a:p>
          <a:p xmlns:a="http://schemas.openxmlformats.org/drawingml/2006/main">
            <a:r>
              <a:t>C:\Users\babur\OneDrive\Desktop\MentorPulse\MentorPulse\accounts\models.py</a:t>
            </a:r>
          </a:p>
          <a:p xmlns:a="http://schemas.openxmlformats.org/drawingml/2006/main">
            <a:r>
              <a:t>C:\Users\babur\OneDrive\Desktop\MentorPulse\MentorPulse\mentorship\models.py</a:t>
            </a:r>
          </a:p>
          <a:p xmlns:a="http://schemas.openxmlformats.org/drawingml/2006/main">
            <a:r>
              <a:t>C:\Users\babur\OneDrive\Desktop\MentorPulse\MentorPulse\gamification\models.py</a:t>
            </a:r>
          </a:p>
          <a:p xmlns:a="http://schemas.openxmlformats.org/drawingml/2006/main">
            <a:r>
              <a:t>C:\Users\babur\OneDrive\Desktop\MentorPulse\MentorPulse\notifications\models.py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Executed python manage.py test --noinput against this workspace. Result: Ran 53 tests in 46.340s, OK, system check identified no issues (0 silenced). Per-app counts obtained from test methods in the current source: accounts 12, matching 10, mentorship 7, gamification 18, notifications 6. These tests verify selected functionality. The project has development settings and no load, security or deployment certification.</a:t>
            </a:r>
          </a:p>
          <a:p xmlns:a="http://schemas.openxmlformats.org/drawingml/2006/main">
            <a:r>
              <a:t/>
            </a:r>
          </a:p>
          <a:p xmlns:a="http://schemas.openxmlformats.org/drawingml/2006/main">
            <a:r>
              <a:t>Project sources (reviewed 12 October 2026):</a:t>
            </a:r>
          </a:p>
          <a:p xmlns:a="http://schemas.openxmlformats.org/drawingml/2006/main">
            <a:r>
              <a:t>C:\Users\babur\OneDrive\Desktop\MentorPulse\MentorPulse\accounts\tests.py</a:t>
            </a:r>
          </a:p>
          <a:p xmlns:a="http://schemas.openxmlformats.org/drawingml/2006/main">
            <a:r>
              <a:t>C:\Users\babur\OneDrive\Desktop\MentorPulse\MentorPulse\matching\tests.py</a:t>
            </a:r>
          </a:p>
          <a:p xmlns:a="http://schemas.openxmlformats.org/drawingml/2006/main">
            <a:r>
              <a:t>C:\Users\babur\OneDrive\Desktop\MentorPulse\MentorPulse\mentorship\tests.py</a:t>
            </a:r>
          </a:p>
          <a:p xmlns:a="http://schemas.openxmlformats.org/drawingml/2006/main">
            <a:r>
              <a:t>C:\Users\babur\OneDrive\Desktop\MentorPulse\MentorPulse\gamification\tests.py</a:t>
            </a:r>
          </a:p>
          <a:p xmlns:a="http://schemas.openxmlformats.org/drawingml/2006/main">
            <a:r>
              <a:t>C:\Users\babur\OneDrive\Desktop\MentorPulse\MentorPulse\notifications\tests.py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named people are seeded demo accounts. Active scenario: sarah_backend / alex_learner. Priority pending scenario: jordan_learner / sarah_backend. Completed scenario: marcus_frontend / priya_learner. Screenshot captures the certificate for the completed pair. Start with dependencies installed, then python manage.py migrate, python manage.py seed_demo_data and python manage.py runserver. Windows scripts debug.bat and run_demo.bat automate local setup. The seeder deletes and rebuilds demonstration scenarios, so use it with demo data. Demo switching is gated by settings.DEBUG.</a:t>
            </a:r>
          </a:p>
          <a:p xmlns:a="http://schemas.openxmlformats.org/drawingml/2006/main">
            <a:r>
              <a:t/>
            </a:r>
          </a:p>
          <a:p xmlns:a="http://schemas.openxmlformats.org/drawingml/2006/main">
            <a:r>
              <a:t>Project sources (reviewed 12 October 2026):</a:t>
            </a:r>
          </a:p>
          <a:p xmlns:a="http://schemas.openxmlformats.org/drawingml/2006/main">
            <a:r>
              <a:t>C:\Users\babur\OneDrive\Desktop\MentorPulse\MentorPulse\accounts\management\commands\seed_demo_data.py</a:t>
            </a:r>
          </a:p>
          <a:p xmlns:a="http://schemas.openxmlformats.org/drawingml/2006/main">
            <a:r>
              <a:t>C:\Users\babur\OneDrive\Desktop\MentorPulse\MentorPulse\accounts\views.py</a:t>
            </a:r>
          </a:p>
          <a:p xmlns:a="http://schemas.openxmlformats.org/drawingml/2006/main">
            <a:r>
              <a:t>C:\Users\babur\OneDrive\Desktop\MentorPulse\MentorPulse\run_demo.bat</a:t>
            </a:r>
          </a:p>
          <a:p xmlns:a="http://schemas.openxmlformats.org/drawingml/2006/main">
            <a:r>
              <a:t>C:\Users\babur\OneDrive\Desktop\MentorPulse\MentorPulse\mentorship\views.py</a:t>
            </a:r>
          </a:p>
          <a:p xmlns:a="http://schemas.openxmlformats.org/drawingml/2006/main">
            <a:r>
              <a:t>C:\Users\babur\OneDrive\Desktop\MentorPulse\MentorPulse\templates\mentorship\certificate.html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steps are recommendations, not implemented features or existing project commitments. Current DEBUG=True settings, a development secret and empty ALLOWED_HOSTS suit local demonstration only. Browser bootstrap assets come from public CDNs. Notifications use database records and request-time rendering, with no websocket or background reminder scheduler. Credit operations have duplicate checks but no transaction.atomic wrapper in current services. Certificate completion can be set by a participant before checklist completion. Real payments, native video integration, automated calendar sync and cloud hosting are outside the agreed local project scope.</a:t>
            </a:r>
          </a:p>
          <a:p xmlns:a="http://schemas.openxmlformats.org/drawingml/2006/main">
            <a:r>
              <a:t/>
            </a:r>
          </a:p>
          <a:p xmlns:a="http://schemas.openxmlformats.org/drawingml/2006/main">
            <a:r>
              <a:t>Project sources (reviewed 12 October 2026):</a:t>
            </a:r>
          </a:p>
          <a:p xmlns:a="http://schemas.openxmlformats.org/drawingml/2006/main">
            <a:r>
              <a:t>C:\Users\babur\OneDrive\Desktop\MentorPulse\MentorPulse\mentorpulse\settings.py</a:t>
            </a:r>
          </a:p>
          <a:p xmlns:a="http://schemas.openxmlformats.org/drawingml/2006/main">
            <a:r>
              <a:t>C:\Users\babur\OneDrive\Desktop\MentorPulse\MentorPulse\accounts\views.py</a:t>
            </a:r>
          </a:p>
          <a:p xmlns:a="http://schemas.openxmlformats.org/drawingml/2006/main">
            <a:r>
              <a:t>C:\Users\babur\OneDrive\Desktop\MentorPulse\MentorPulse\gamification\services.py</a:t>
            </a:r>
          </a:p>
          <a:p xmlns:a="http://schemas.openxmlformats.org/drawingml/2006/main">
            <a:r>
              <a:t>C:\Users\babur\OneDrive\Desktop\MentorPulse\MentorPulse\notifications\services.py</a:t>
            </a:r>
          </a:p>
          <a:p xmlns:a="http://schemas.openxmlformats.org/drawingml/2006/main">
            <a:r>
              <a:t>C:\Users\babur\OneDrive\Desktop\MentorPulse\MentorPulse\notifications\context_processors.py</a:t>
            </a:r>
          </a:p>
          <a:p xmlns:a="http://schemas.openxmlformats.org/drawingml/2006/main">
            <a:r>
              <a:t>C:\Users\babur\OneDrive\Desktop\MentorPulse\MentorPulse\mentorship\views.py</a:t>
            </a:r>
          </a:p>
          <a:p xmlns:a="http://schemas.openxmlformats.org/drawingml/2006/main">
            <a:r>
              <a:t>C:\Users\babur\OneDrive\Desktop\MentorPulse\MentorPulse\MentorPulse_Project_Description.md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demonstrated outcome is a complete local workflow from matching to completion, with 53 passing functional tests. No learning impact, adoption or scalability outcome has been measured.</a:t>
            </a:r>
          </a:p>
          <a:p xmlns:a="http://schemas.openxmlformats.org/drawingml/2006/main">
            <a:r>
              <a:t/>
            </a:r>
          </a:p>
          <a:p xmlns:a="http://schemas.openxmlformats.org/drawingml/2006/main">
            <a:r>
              <a:t>Project sources (reviewed 12 October 2026):</a:t>
            </a:r>
          </a:p>
          <a:p xmlns:a="http://schemas.openxmlformats.org/drawingml/2006/main">
            <a:r>
              <a:t>C:\Users\babur\OneDrive\Desktop\MentorPulse\MentorPulse\README.md</a:t>
            </a:r>
          </a:p>
          <a:p xmlns:a="http://schemas.openxmlformats.org/drawingml/2006/main">
            <a:r>
              <a:t>C:\Users\babur\OneDrive\Desktop\MentorPulse\MentorPulse\mentorship\models.py</a:t>
            </a:r>
          </a:p>
          <a:p xmlns:a="http://schemas.openxmlformats.org/drawingml/2006/main">
            <a:r>
              <a:t>C:\Users\babur\OneDrive\Desktop\MentorPulse\MentorPulse\matching\services.py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430fa6e227475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771ad82e1584ec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63b41e997a6434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601cf4be00a47f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2f044e446754ea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40749c3fd3746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11E5916-B782-46B6-8559-FCFB63670C7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7272293-3685-4ABD-A9EE-B04C44EF779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C71C0FD-BE68-4898-8E5E-9CFBCD0BB30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4430FF-8E92-4CA6-BAAA-ACCAC90E80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7C568AF-A424-4946-AB04-F72B7F119D8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E61DFA8-3D92-454D-8FF0-AD719EE0FE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BC8AB1E-9D2C-42F3-9965-FBD07A6ACB0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31DD4B2-A5CB-4D0C-87A3-A6F6BCE13E6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5A63AE-69F9-4C29-8C7B-F008DBC45D0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C66DB50-FEE1-4CDF-BF5F-E4A2703E032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b9d94df02041c2" /><Relationship Type="http://schemas.openxmlformats.org/officeDocument/2006/relationships/slideLayout" Target="/ppt/slideLayouts/slideLayout1.xml" Id="R0d268424ff41430b" /><Relationship Type="http://schemas.openxmlformats.org/officeDocument/2006/relationships/slideLayout" Target="/ppt/slideLayouts/slideLayout2.xml" Id="Rb3891af3c72c460d" /><Relationship Type="http://schemas.openxmlformats.org/officeDocument/2006/relationships/slideLayout" Target="/ppt/slideLayouts/slideLayout3.xml" Id="R026b947a223145a3" /><Relationship Type="http://schemas.openxmlformats.org/officeDocument/2006/relationships/slideLayout" Target="/ppt/slideLayouts/slideLayout4.xml" Id="Rb8b5b419cb3240fd" /><Relationship Type="http://schemas.openxmlformats.org/officeDocument/2006/relationships/slideLayout" Target="/ppt/slideLayouts/slideLayout5.xml" Id="R92e2b4c8edf2406d" /><Relationship Type="http://schemas.openxmlformats.org/officeDocument/2006/relationships/slideLayout" Target="/ppt/slideLayouts/slideLayout6.xml" Id="R5dea4aa0da0549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268424ff41430b"/>
    <p:sldLayoutId xmlns:r="http://schemas.openxmlformats.org/officeDocument/2006/relationships" id="2147483650" r:id="Rb3891af3c72c460d"/>
    <p:sldLayoutId xmlns:r="http://schemas.openxmlformats.org/officeDocument/2006/relationships" id="2147483651" r:id="R026b947a223145a3"/>
    <p:sldLayoutId xmlns:r="http://schemas.openxmlformats.org/officeDocument/2006/relationships" id="2147483652" r:id="Rb8b5b419cb3240fd"/>
    <p:sldLayoutId xmlns:r="http://schemas.openxmlformats.org/officeDocument/2006/relationships" id="2147483653" r:id="R92e2b4c8edf2406d"/>
    <p:sldLayoutId xmlns:r="http://schemas.openxmlformats.org/officeDocument/2006/relationships" id="2147483654" r:id="R5dea4aa0da0549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7edd8b272fd4191" /><Relationship Type="http://schemas.openxmlformats.org/officeDocument/2006/relationships/image" Target="/ppt/media/image.png" Id="R9cfd33f0956b4822" /><Relationship Type="http://schemas.openxmlformats.org/officeDocument/2006/relationships/notesSlide" Target="/ppt/notesSlides/notesSlide1.xml" Id="Rcb75521ff62548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e401c7eddd94915" /><Relationship Type="http://schemas.openxmlformats.org/officeDocument/2006/relationships/image" Target="/ppt/media/image2.png" Id="R1105c2b1d731476f" /><Relationship Type="http://schemas.openxmlformats.org/officeDocument/2006/relationships/notesSlide" Target="/ppt/notesSlides/notesSlide2.xml" Id="R035517f7239844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90bc8bac4d2405f" /><Relationship Type="http://schemas.openxmlformats.org/officeDocument/2006/relationships/notesSlide" Target="/ppt/notesSlides/notesSlide3.xml" Id="R50a40eacf13e43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e7d73a0f05146bb" /><Relationship Type="http://schemas.openxmlformats.org/officeDocument/2006/relationships/notesSlide" Target="/ppt/notesSlides/notesSlide4.xml" Id="Reb5776aa02644d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26d6c0411c54978" /><Relationship Type="http://schemas.openxmlformats.org/officeDocument/2006/relationships/notesSlide" Target="/ppt/notesSlides/notesSlide5.xml" Id="R8ae9a2dd7426419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0412fad24f649f1" /><Relationship Type="http://schemas.openxmlformats.org/officeDocument/2006/relationships/notesSlide" Target="/ppt/notesSlides/notesSlide6.xml" Id="R44f41f91e4bf4f5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68b93b6ce7a419a" /><Relationship Type="http://schemas.openxmlformats.org/officeDocument/2006/relationships/image" Target="/ppt/media/image3.png" Id="R8789b98004284888" /><Relationship Type="http://schemas.openxmlformats.org/officeDocument/2006/relationships/notesSlide" Target="/ppt/notesSlides/notesSlide7.xml" Id="R054c09da4544446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3b89f3f78b9491c" /><Relationship Type="http://schemas.openxmlformats.org/officeDocument/2006/relationships/notesSlide" Target="/ppt/notesSlides/notesSlide8.xml" Id="Rfbb642134f38446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55383a6aad14560" /><Relationship Type="http://schemas.openxmlformats.org/officeDocument/2006/relationships/image" Target="/ppt/media/image4.png" Id="Ree581b44cd144b16" /><Relationship Type="http://schemas.openxmlformats.org/officeDocument/2006/relationships/notesSlide" Target="/ppt/notesSlides/notesSlide9.xml" Id="R79de2f19602241c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3fc3572ddc34857" /><Relationship Type="http://schemas.openxmlformats.org/officeDocument/2006/relationships/notesSlide" Target="/ppt/notesSlides/notesSlide10.xml" Id="R956d880d1dba41d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5a5a77ef295496b" /><Relationship Type="http://schemas.openxmlformats.org/officeDocument/2006/relationships/notesSlide" Target="/ppt/notesSlides/notesSlide11.xml" Id="R5b2114235003414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522b5b6dcec46f5" /><Relationship Type="http://schemas.openxmlformats.org/officeDocument/2006/relationships/notesSlide" Target="/ppt/notesSlides/notesSlide12.xml" Id="R431b142de52d4bb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446c352cc504160" /><Relationship Type="http://schemas.openxmlformats.org/officeDocument/2006/relationships/notesSlide" Target="/ppt/notesSlides/notesSlide13.xml" Id="Ra8a1ef6a7cb8482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d2f58302a3545df" /><Relationship Type="http://schemas.openxmlformats.org/officeDocument/2006/relationships/image" Target="/ppt/media/image5.png" Id="R28c2d12b843f42af" /><Relationship Type="http://schemas.openxmlformats.org/officeDocument/2006/relationships/notesSlide" Target="/ppt/notesSlides/notesSlide14.xml" Id="R7f6d302e791b4dd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0b73e395c284f62" /><Relationship Type="http://schemas.openxmlformats.org/officeDocument/2006/relationships/notesSlide" Target="/ppt/notesSlides/notesSlide15.xml" Id="R41670f8c75424d4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b254d38c4114d3d" /><Relationship Type="http://schemas.openxmlformats.org/officeDocument/2006/relationships/image" Target="/ppt/media/image6.png" Id="R9071682754bc46c4" /><Relationship Type="http://schemas.openxmlformats.org/officeDocument/2006/relationships/notesSlide" Target="/ppt/notesSlides/notesSlide16.xml" Id="Rddcdf3265c2241b5" /></Relationships>
</file>

<file path=ppt/slides/slide1.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9" name="IIIT Kottayam">
            <a:extLst xmlns:a="http://schemas.openxmlformats.org/drawingml/2006/main">
              <a:ext uri="{FF2B5EF4-FFF2-40B4-BE49-F238E27FC236}">
                <a16:creationId xmlns:a16="http://schemas.microsoft.com/office/drawing/2014/main" id="{1B5B79AE-6278-4B5E-BE53-95867B3A32B9}"/>
              </a:ext>
            </a:extLst>
          </p:cNvPr>
          <p:cNvSpPr>
            <a:spLocks xmlns:a="http://schemas.openxmlformats.org/drawingml/2006/main" noGrp="1"/>
          </p:cNvSpPr>
          <p:nvPr/>
        </p:nvSpPr>
        <p:spPr>
          <a:xfrm xmlns:a="http://schemas.openxmlformats.org/drawingml/2006/main">
            <a:off x="609600" y="6429375"/>
            <a:ext cx="381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BC3D7"/>
                </a:solidFill>
                <a:latin typeface="Arial"/>
                <a:ea typeface="Arial"/>
                <a:cs typeface="Arial"/>
              </a:defRPr>
            </a:defPPr>
          </a:lstStyle>
          <a:p xmlns:a="http://schemas.openxmlformats.org/drawingml/2006/main">
            <a:pPr>
              <a:defRPr sz="1125" b="0">
                <a:solidFill>
                  <a:srgbClr val="BBC3D7"/>
                </a:solidFill>
                <a:latin typeface="Arial"/>
                <a:ea typeface="Arial"/>
                <a:cs typeface="Arial"/>
              </a:defRPr>
            </a:pPr>
            <a:r>
              <a:rPr sz="1125" b="0">
                <a:solidFill>
                  <a:srgbClr val="BBC3D7"/>
                </a:solidFill>
                <a:latin typeface="Arial"/>
                <a:ea typeface="Arial"/>
                <a:cs typeface="Arial"/>
              </a:rPr>
              <a:t>IIIT Kottayam</a:t>
            </a:r>
          </a:p>
        </p:txBody>
      </p:sp>
      <p:sp>
        <p:nvSpPr>
          <p:cNvPr id="2" name="01">
            <a:extLst xmlns:a="http://schemas.openxmlformats.org/drawingml/2006/main">
              <a:ext uri="{FF2B5EF4-FFF2-40B4-BE49-F238E27FC236}">
                <a16:creationId xmlns:a16="http://schemas.microsoft.com/office/drawing/2014/main" id="{EEF44301-82A5-452E-8A45-5CCA42762990}"/>
              </a:ext>
            </a:extLst>
          </p:cNvPr>
          <p:cNvSpPr>
            <a:spLocks xmlns:a="http://schemas.openxmlformats.org/drawingml/2006/main" noGrp="1"/>
          </p:cNvSpPr>
          <p:nvPr/>
        </p:nvSpPr>
        <p:spPr>
          <a:xfrm xmlns:a="http://schemas.openxmlformats.org/drawingml/2006/main">
            <a:off x="11087100" y="64293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BC3D7"/>
                </a:solidFill>
                <a:latin typeface="Arial"/>
                <a:ea typeface="Arial"/>
                <a:cs typeface="Arial"/>
              </a:defRPr>
            </a:defPPr>
          </a:lstStyle>
          <a:p xmlns:a="http://schemas.openxmlformats.org/drawingml/2006/main">
            <a:pPr>
              <a:defRPr sz="1125" b="0">
                <a:solidFill>
                  <a:srgbClr val="BBC3D7"/>
                </a:solidFill>
                <a:latin typeface="Arial"/>
                <a:ea typeface="Arial"/>
                <a:cs typeface="Arial"/>
              </a:defRPr>
            </a:pPr>
            <a:r>
              <a:rPr sz="1125" b="0">
                <a:solidFill>
                  <a:srgbClr val="BBC3D7"/>
                </a:solidFill>
                <a:latin typeface="Arial"/>
                <a:ea typeface="Arial"/>
                <a:cs typeface="Arial"/>
              </a:rPr>
              <a:t>01</a:t>
            </a:r>
          </a:p>
        </p:txBody>
      </p:sp>
      <p:pic>
        <p:nvPicPr>
          <p:cNvPr id="3" name="">
            <a:extLst xmlns:a="http://schemas.openxmlformats.org/drawingml/2006/main">
              <a:ext uri="{FF2B5EF4-FFF2-40B4-BE49-F238E27FC236}">
                <a16:creationId xmlns:a16="http://schemas.microsoft.com/office/drawing/2014/main" id="{FBD4D447-90CA-46F7-B09D-07024060FE67}"/>
              </a:ext>
            </a:extLst>
          </p:cNvPr>
          <p:cNvPicPr>
            <a:picLocks xmlns:a="http://schemas.openxmlformats.org/drawingml/2006/main" noChangeAspect="1"/>
          </p:cNvPicPr>
          <p:nvPr/>
        </p:nvPicPr>
        <p:blipFill>
          <a:blip xmlns:r="http://schemas.openxmlformats.org/officeDocument/2006/relationships" xmlns:a="http://schemas.openxmlformats.org/drawingml/2006/main" r:embed="R9cfd33f0956b482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MentorPulse">
            <a:extLst xmlns:a="http://schemas.openxmlformats.org/drawingml/2006/main">
              <a:ext uri="{FF2B5EF4-FFF2-40B4-BE49-F238E27FC236}">
                <a16:creationId xmlns:a16="http://schemas.microsoft.com/office/drawing/2014/main" id="{053F2DD3-3E34-4363-8C36-F303B506E536}"/>
              </a:ext>
            </a:extLst>
          </p:cNvPr>
          <p:cNvSpPr>
            <a:spLocks xmlns:a="http://schemas.openxmlformats.org/drawingml/2006/main" noGrp="1"/>
          </p:cNvSpPr>
          <p:nvPr/>
        </p:nvSpPr>
        <p:spPr>
          <a:xfrm xmlns:a="http://schemas.openxmlformats.org/drawingml/2006/main">
            <a:off x="609600" y="1695450"/>
            <a:ext cx="809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850" b="1">
                <a:solidFill>
                  <a:srgbClr val="FFFFFF"/>
                </a:solidFill>
                <a:latin typeface="Arial"/>
                <a:ea typeface="Arial"/>
                <a:cs typeface="Arial"/>
              </a:defRPr>
            </a:defPPr>
          </a:lstStyle>
          <a:p xmlns:a="http://schemas.openxmlformats.org/drawingml/2006/main">
            <a:pPr>
              <a:defRPr sz="5850" b="1">
                <a:solidFill>
                  <a:srgbClr val="FFFFFF"/>
                </a:solidFill>
                <a:latin typeface="Arial"/>
                <a:ea typeface="Arial"/>
                <a:cs typeface="Arial"/>
              </a:defRPr>
            </a:pPr>
            <a:r>
              <a:rPr sz="5850" b="1">
                <a:solidFill>
                  <a:srgbClr val="FFFFFF"/>
                </a:solidFill>
                <a:latin typeface="Arial"/>
                <a:ea typeface="Arial"/>
                <a:cs typeface="Arial"/>
              </a:rPr>
              <a:t>MentorPulse</a:t>
            </a:r>
          </a:p>
        </p:txBody>
      </p:sp>
      <p:sp>
        <p:nvSpPr>
          <p:cNvPr id="5" name="Skill-based mentor matching&#10;and progress tracking">
            <a:extLst xmlns:a="http://schemas.openxmlformats.org/drawingml/2006/main">
              <a:ext uri="{FF2B5EF4-FFF2-40B4-BE49-F238E27FC236}">
                <a16:creationId xmlns:a16="http://schemas.microsoft.com/office/drawing/2014/main" id="{3E76C807-2F6F-465E-A04F-5EFF753F12B8}"/>
              </a:ext>
            </a:extLst>
          </p:cNvPr>
          <p:cNvSpPr>
            <a:spLocks xmlns:a="http://schemas.openxmlformats.org/drawingml/2006/main" noGrp="1"/>
          </p:cNvSpPr>
          <p:nvPr/>
        </p:nvSpPr>
        <p:spPr>
          <a:xfrm xmlns:a="http://schemas.openxmlformats.org/drawingml/2006/main">
            <a:off x="647700" y="2724150"/>
            <a:ext cx="714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DAE0F0"/>
                </a:solidFill>
                <a:latin typeface="Arial"/>
                <a:ea typeface="Arial"/>
                <a:cs typeface="Arial"/>
              </a:defRPr>
            </a:defPPr>
          </a:lstStyle>
          <a:p xmlns:a="http://schemas.openxmlformats.org/drawingml/2006/main">
            <a:pPr>
              <a:defRPr sz="2550" b="0">
                <a:solidFill>
                  <a:srgbClr val="DAE0F0"/>
                </a:solidFill>
                <a:latin typeface="Arial"/>
                <a:ea typeface="Arial"/>
                <a:cs typeface="Arial"/>
              </a:defRPr>
            </a:pPr>
            <a:r>
              <a:rPr sz="2550" b="0">
                <a:solidFill>
                  <a:srgbClr val="DAE0F0"/>
                </a:solidFill>
                <a:latin typeface="Arial"/>
                <a:ea typeface="Arial"/>
                <a:cs typeface="Arial"/>
              </a:rPr>
              <a:t>Skill-based mentor matching</a:t>
            </a:r>
          </a:p>
          <a:p xmlns:a="http://schemas.openxmlformats.org/drawingml/2006/main">
            <a:pPr>
              <a:defRPr sz="2550" b="0">
                <a:solidFill>
                  <a:srgbClr val="DAE0F0"/>
                </a:solidFill>
                <a:latin typeface="Arial"/>
                <a:ea typeface="Arial"/>
                <a:cs typeface="Arial"/>
              </a:defRPr>
            </a:pPr>
            <a:r>
              <a:rPr sz="2550" b="0">
                <a:solidFill>
                  <a:srgbClr val="DAE0F0"/>
                </a:solidFill>
                <a:latin typeface="Arial"/>
                <a:ea typeface="Arial"/>
                <a:cs typeface="Arial"/>
              </a:rPr>
              <a:t>and progress tracking</a:t>
            </a:r>
          </a:p>
        </p:txBody>
      </p:sp>
      <p:sp>
        <p:nvSpPr>
          <p:cNvPr id="6" name="GROUP 11">
            <a:extLst xmlns:a="http://schemas.openxmlformats.org/drawingml/2006/main">
              <a:ext uri="{FF2B5EF4-FFF2-40B4-BE49-F238E27FC236}">
                <a16:creationId xmlns:a16="http://schemas.microsoft.com/office/drawing/2014/main" id="{778B7294-BC08-4FB9-864D-DB75C083A5AC}"/>
              </a:ext>
            </a:extLst>
          </p:cNvPr>
          <p:cNvSpPr>
            <a:spLocks xmlns:a="http://schemas.openxmlformats.org/drawingml/2006/main" noGrp="1"/>
          </p:cNvSpPr>
          <p:nvPr/>
        </p:nvSpPr>
        <p:spPr>
          <a:xfrm xmlns:a="http://schemas.openxmlformats.org/drawingml/2006/main">
            <a:off x="647700" y="70485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91D7EB"/>
                </a:solidFill>
                <a:latin typeface="Arial"/>
                <a:ea typeface="Arial"/>
                <a:cs typeface="Arial"/>
              </a:defRPr>
            </a:defPPr>
          </a:lstStyle>
          <a:p xmlns:a="http://schemas.openxmlformats.org/drawingml/2006/main">
            <a:pPr>
              <a:defRPr sz="1425" b="1">
                <a:solidFill>
                  <a:srgbClr val="91D7EB"/>
                </a:solidFill>
                <a:latin typeface="Arial"/>
                <a:ea typeface="Arial"/>
                <a:cs typeface="Arial"/>
              </a:defRPr>
            </a:pPr>
            <a:r>
              <a:rPr sz="1425" b="1">
                <a:solidFill>
                  <a:srgbClr val="91D7EB"/>
                </a:solidFill>
                <a:latin typeface="Arial"/>
                <a:ea typeface="Arial"/>
                <a:cs typeface="Arial"/>
              </a:rPr>
              <a:t>GROUP 11</a:t>
            </a:r>
          </a:p>
        </p:txBody>
      </p:sp>
      <p:sp>
        <p:nvSpPr>
          <p:cNvPr id="7" name="Navaneeth Krishna   /   Shivamshi Ullas&#10;Chandhana ">
            <a:extLst xmlns:a="http://schemas.openxmlformats.org/drawingml/2006/main">
              <a:ext uri="{FF2B5EF4-FFF2-40B4-BE49-F238E27FC236}">
                <a16:creationId xmlns:a16="http://schemas.microsoft.com/office/drawing/2014/main" id="{5972AA82-2671-4864-8389-B97766483CFA}"/>
              </a:ext>
            </a:extLst>
          </p:cNvPr>
          <p:cNvSpPr>
            <a:spLocks xmlns:a="http://schemas.openxmlformats.org/drawingml/2006/main" noGrp="1"/>
          </p:cNvSpPr>
          <p:nvPr/>
        </p:nvSpPr>
        <p:spPr>
          <a:xfrm xmlns:a="http://schemas.openxmlformats.org/drawingml/2006/main">
            <a:off x="647700" y="4791075"/>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FFFFFF"/>
                </a:solidFill>
                <a:latin typeface="Arial"/>
                <a:ea typeface="Arial"/>
                <a:cs typeface="Arial"/>
              </a:defRPr>
            </a:defPPr>
          </a:lstStyle>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Navaneeth Krishna   /   Shivamshi Ullas</a:t>
            </a:r>
          </a:p>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Chandhana   /   Prakshitha Pradeep</a:t>
            </a:r>
          </a:p>
        </p:txBody>
      </p:sp>
      <p:sp>
        <p:nvSpPr>
          <p:cNvPr id="8" name="Indian Institute of Information Technology Kottaya">
            <a:extLst xmlns:a="http://schemas.openxmlformats.org/drawingml/2006/main">
              <a:ext uri="{FF2B5EF4-FFF2-40B4-BE49-F238E27FC236}">
                <a16:creationId xmlns:a16="http://schemas.microsoft.com/office/drawing/2014/main" id="{2C0A2B3B-EEE5-498F-A7B1-37294E1B68F1}"/>
              </a:ext>
            </a:extLst>
          </p:cNvPr>
          <p:cNvSpPr>
            <a:spLocks xmlns:a="http://schemas.openxmlformats.org/drawingml/2006/main" noGrp="1"/>
          </p:cNvSpPr>
          <p:nvPr/>
        </p:nvSpPr>
        <p:spPr>
          <a:xfrm xmlns:a="http://schemas.openxmlformats.org/drawingml/2006/main">
            <a:off x="647700" y="5915025"/>
            <a:ext cx="923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BBC3D7"/>
                </a:solidFill>
                <a:latin typeface="Arial"/>
                <a:ea typeface="Arial"/>
                <a:cs typeface="Arial"/>
              </a:defRPr>
            </a:defPPr>
          </a:lstStyle>
          <a:p xmlns:a="http://schemas.openxmlformats.org/drawingml/2006/main">
            <a:pPr>
              <a:defRPr sz="1500" b="0">
                <a:solidFill>
                  <a:srgbClr val="BBC3D7"/>
                </a:solidFill>
                <a:latin typeface="Arial"/>
                <a:ea typeface="Arial"/>
                <a:cs typeface="Arial"/>
              </a:defRPr>
            </a:pPr>
            <a:r>
              <a:rPr sz="1500" b="0">
                <a:solidFill>
                  <a:srgbClr val="BBC3D7"/>
                </a:solidFill>
                <a:latin typeface="Arial"/>
                <a:ea typeface="Arial"/>
                <a:cs typeface="Arial"/>
              </a:rPr>
              <a:t>Indian Institute of Information Technology Kottayam</a:t>
            </a:r>
          </a:p>
        </p:txBody>
      </p:sp>
    </p:spTree>
    <p:extLst>
      <p:ext uri="{BB962C8B-B14F-4D97-AF65-F5344CB8AC3E}">
        <p14:creationId xmlns:p14="http://schemas.microsoft.com/office/powerpoint/2010/main" val="1183679832"/>
      </p:ext>
    </p:extLst>
  </p:cSld>
</p:sld>
</file>

<file path=ppt/slides/slide2.xml><?xml version="1.0" encoding="utf-8"?>
<p:sld xmlns:p="http://schemas.openxmlformats.org/presentationml/2006/main">
  <p:cSld>
    <p:bg>
      <p:bgPr>
        <a:solidFill xmlns:a="http://schemas.openxmlformats.org/drawingml/2006/main">
          <a:srgbClr val="F5F5F9"/>
        </a:solidFill>
      </p:bgPr>
    </p:bg>
    <p:spTree>
      <p:nvGrpSpPr>
        <p:cNvPr id="1" name=""/>
        <p:cNvGrpSpPr/>
        <p:nvPr/>
      </p:nvGrpSpPr>
      <p:grpSpPr>
        <a:xfrm xmlns:a="http://schemas.openxmlformats.org/drawingml/2006/main"/>
      </p:grpSpPr>
      <p:sp>
        <p:nvSpPr>
          <p:cNvPr id="8" name="A shared workspace for mentorship">
            <a:extLst xmlns:a="http://schemas.openxmlformats.org/drawingml/2006/main">
              <a:ext uri="{FF2B5EF4-FFF2-40B4-BE49-F238E27FC236}">
                <a16:creationId xmlns:a16="http://schemas.microsoft.com/office/drawing/2014/main" id="{9CD19D82-E663-42FB-9D02-47870A7945B6}"/>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039"/>
                </a:solidFill>
                <a:latin typeface="Arial"/>
                <a:ea typeface="Arial"/>
                <a:cs typeface="Arial"/>
              </a:defRPr>
            </a:defPPr>
          </a:lstStyle>
          <a:p xmlns:a="http://schemas.openxmlformats.org/drawingml/2006/main">
            <a:pPr>
              <a:defRPr sz="3300" b="1">
                <a:solidFill>
                  <a:srgbClr val="172039"/>
                </a:solidFill>
                <a:latin typeface="Arial"/>
                <a:ea typeface="Arial"/>
                <a:cs typeface="Arial"/>
              </a:defRPr>
            </a:pPr>
            <a:r>
              <a:rPr sz="3300" b="1">
                <a:solidFill>
                  <a:srgbClr val="172039"/>
                </a:solidFill>
                <a:latin typeface="Arial"/>
                <a:ea typeface="Arial"/>
                <a:cs typeface="Arial"/>
              </a:rPr>
              <a:t>A shared workspace for mentorship</a:t>
            </a:r>
          </a:p>
        </p:txBody>
      </p:sp>
      <p:sp>
        <p:nvSpPr>
          <p:cNvPr id="2" name="IIIT Kottayam">
            <a:extLst xmlns:a="http://schemas.openxmlformats.org/drawingml/2006/main">
              <a:ext uri="{FF2B5EF4-FFF2-40B4-BE49-F238E27FC236}">
                <a16:creationId xmlns:a16="http://schemas.microsoft.com/office/drawing/2014/main" id="{96137DFA-7D00-474A-864D-13430475DBF6}"/>
              </a:ext>
            </a:extLst>
          </p:cNvPr>
          <p:cNvSpPr>
            <a:spLocks xmlns:a="http://schemas.openxmlformats.org/drawingml/2006/main" noGrp="1"/>
          </p:cNvSpPr>
          <p:nvPr/>
        </p:nvSpPr>
        <p:spPr>
          <a:xfrm xmlns:a="http://schemas.openxmlformats.org/drawingml/2006/main">
            <a:off x="609600" y="6429375"/>
            <a:ext cx="381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B667C"/>
                </a:solidFill>
                <a:latin typeface="Arial"/>
                <a:ea typeface="Arial"/>
                <a:cs typeface="Arial"/>
              </a:defRPr>
            </a:defPPr>
          </a:lstStyle>
          <a:p xmlns:a="http://schemas.openxmlformats.org/drawingml/2006/main">
            <a:pPr>
              <a:defRPr sz="1125" b="0">
                <a:solidFill>
                  <a:srgbClr val="5B667C"/>
                </a:solidFill>
                <a:latin typeface="Arial"/>
                <a:ea typeface="Arial"/>
                <a:cs typeface="Arial"/>
              </a:defRPr>
            </a:pPr>
            <a:r>
              <a:rPr sz="1125" b="0">
                <a:solidFill>
                  <a:srgbClr val="5B667C"/>
                </a:solidFill>
                <a:latin typeface="Arial"/>
                <a:ea typeface="Arial"/>
                <a:cs typeface="Arial"/>
              </a:rPr>
              <a:t>IIIT Kottayam</a:t>
            </a:r>
          </a:p>
        </p:txBody>
      </p:sp>
      <p:sp>
        <p:nvSpPr>
          <p:cNvPr id="3" name="02">
            <a:extLst xmlns:a="http://schemas.openxmlformats.org/drawingml/2006/main">
              <a:ext uri="{FF2B5EF4-FFF2-40B4-BE49-F238E27FC236}">
                <a16:creationId xmlns:a16="http://schemas.microsoft.com/office/drawing/2014/main" id="{0BB8664C-81B4-458F-8728-351624AF1236}"/>
              </a:ext>
            </a:extLst>
          </p:cNvPr>
          <p:cNvSpPr>
            <a:spLocks xmlns:a="http://schemas.openxmlformats.org/drawingml/2006/main" noGrp="1"/>
          </p:cNvSpPr>
          <p:nvPr/>
        </p:nvSpPr>
        <p:spPr>
          <a:xfrm xmlns:a="http://schemas.openxmlformats.org/drawingml/2006/main">
            <a:off x="11087100" y="64293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B667C"/>
                </a:solidFill>
                <a:latin typeface="Arial"/>
                <a:ea typeface="Arial"/>
                <a:cs typeface="Arial"/>
              </a:defRPr>
            </a:defPPr>
          </a:lstStyle>
          <a:p xmlns:a="http://schemas.openxmlformats.org/drawingml/2006/main">
            <a:pPr>
              <a:defRPr sz="1125" b="0">
                <a:solidFill>
                  <a:srgbClr val="5B667C"/>
                </a:solidFill>
                <a:latin typeface="Arial"/>
                <a:ea typeface="Arial"/>
                <a:cs typeface="Arial"/>
              </a:defRPr>
            </a:pPr>
            <a:r>
              <a:rPr sz="1125" b="0">
                <a:solidFill>
                  <a:srgbClr val="5B667C"/>
                </a:solidFill>
                <a:latin typeface="Arial"/>
                <a:ea typeface="Arial"/>
                <a:cs typeface="Arial"/>
              </a:rPr>
              <a:t>02</a:t>
            </a:r>
          </a:p>
        </p:txBody>
      </p:sp>
      <p:sp>
        <p:nvSpPr>
          <p:cNvPr id="4" name="Learners find mentors by skill,&#10;availability and e">
            <a:extLst xmlns:a="http://schemas.openxmlformats.org/drawingml/2006/main">
              <a:ext uri="{FF2B5EF4-FFF2-40B4-BE49-F238E27FC236}">
                <a16:creationId xmlns:a16="http://schemas.microsoft.com/office/drawing/2014/main" id="{8EA0E6DA-BE8B-4812-BE70-12501046DC21}"/>
              </a:ext>
            </a:extLst>
          </p:cNvPr>
          <p:cNvSpPr>
            <a:spLocks xmlns:a="http://schemas.openxmlformats.org/drawingml/2006/main" noGrp="1"/>
          </p:cNvSpPr>
          <p:nvPr/>
        </p:nvSpPr>
        <p:spPr>
          <a:xfrm xmlns:a="http://schemas.openxmlformats.org/drawingml/2006/main">
            <a:off x="609600" y="1562100"/>
            <a:ext cx="4667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72039"/>
                </a:solidFill>
                <a:latin typeface="Arial"/>
                <a:ea typeface="Arial"/>
                <a:cs typeface="Arial"/>
              </a:defRPr>
            </a:defPPr>
          </a:lstStyle>
          <a:p xmlns:a="http://schemas.openxmlformats.org/drawingml/2006/main">
            <a:pPr>
              <a:defRPr sz="2475" b="1">
                <a:solidFill>
                  <a:srgbClr val="172039"/>
                </a:solidFill>
                <a:latin typeface="Arial"/>
                <a:ea typeface="Arial"/>
                <a:cs typeface="Arial"/>
              </a:defRPr>
            </a:pPr>
            <a:r>
              <a:rPr sz="2475" b="1">
                <a:solidFill>
                  <a:srgbClr val="172039"/>
                </a:solidFill>
                <a:latin typeface="Arial"/>
                <a:ea typeface="Arial"/>
                <a:cs typeface="Arial"/>
              </a:rPr>
              <a:t>Learners find mentors by skill,</a:t>
            </a:r>
          </a:p>
          <a:p xmlns:a="http://schemas.openxmlformats.org/drawingml/2006/main">
            <a:pPr>
              <a:defRPr sz="2475" b="1">
                <a:solidFill>
                  <a:srgbClr val="172039"/>
                </a:solidFill>
                <a:latin typeface="Arial"/>
                <a:ea typeface="Arial"/>
                <a:cs typeface="Arial"/>
              </a:defRPr>
            </a:pPr>
            <a:r>
              <a:rPr sz="2475" b="1">
                <a:solidFill>
                  <a:srgbClr val="172039"/>
                </a:solidFill>
                <a:latin typeface="Arial"/>
                <a:ea typeface="Arial"/>
                <a:cs typeface="Arial"/>
              </a:rPr>
              <a:t>availability and experience.</a:t>
            </a:r>
          </a:p>
        </p:txBody>
      </p:sp>
      <p:sp>
        <p:nvSpPr>
          <p:cNvPr id="5" name="Each pair can schedule sessions,&#10;track milestones ">
            <a:extLst xmlns:a="http://schemas.openxmlformats.org/drawingml/2006/main">
              <a:ext uri="{FF2B5EF4-FFF2-40B4-BE49-F238E27FC236}">
                <a16:creationId xmlns:a16="http://schemas.microsoft.com/office/drawing/2014/main" id="{99907A3F-CAF0-4C41-B086-D829CE0C590F}"/>
              </a:ext>
            </a:extLst>
          </p:cNvPr>
          <p:cNvSpPr>
            <a:spLocks xmlns:a="http://schemas.openxmlformats.org/drawingml/2006/main" noGrp="1"/>
          </p:cNvSpPr>
          <p:nvPr/>
        </p:nvSpPr>
        <p:spPr>
          <a:xfrm xmlns:a="http://schemas.openxmlformats.org/drawingml/2006/main">
            <a:off x="609600" y="3028950"/>
            <a:ext cx="46672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B667C"/>
                </a:solidFill>
                <a:latin typeface="Arial"/>
                <a:ea typeface="Arial"/>
                <a:cs typeface="Arial"/>
              </a:defRPr>
            </a:defPPr>
          </a:lstStyle>
          <a:p xmlns:a="http://schemas.openxmlformats.org/drawingml/2006/main">
            <a:pPr>
              <a:defRPr sz="2025" b="0">
                <a:solidFill>
                  <a:srgbClr val="5B667C"/>
                </a:solidFill>
                <a:latin typeface="Arial"/>
                <a:ea typeface="Arial"/>
                <a:cs typeface="Arial"/>
              </a:defRPr>
            </a:pPr>
            <a:r>
              <a:rPr sz="2025" b="0">
                <a:solidFill>
                  <a:srgbClr val="5B667C"/>
                </a:solidFill>
                <a:latin typeface="Arial"/>
                <a:ea typeface="Arial"/>
                <a:cs typeface="Arial"/>
              </a:rPr>
              <a:t>Each pair can schedule sessions,</a:t>
            </a:r>
          </a:p>
          <a:p xmlns:a="http://schemas.openxmlformats.org/drawingml/2006/main">
            <a:pPr>
              <a:defRPr sz="2025" b="0">
                <a:solidFill>
                  <a:srgbClr val="5B667C"/>
                </a:solidFill>
                <a:latin typeface="Arial"/>
                <a:ea typeface="Arial"/>
                <a:cs typeface="Arial"/>
              </a:defRPr>
            </a:pPr>
            <a:r>
              <a:rPr sz="2025" b="0">
                <a:solidFill>
                  <a:srgbClr val="5B667C"/>
                </a:solidFill>
                <a:latin typeface="Arial"/>
                <a:ea typeface="Arial"/>
                <a:cs typeface="Arial"/>
              </a:rPr>
              <a:t>track milestones and share resources</a:t>
            </a:r>
          </a:p>
          <a:p xmlns:a="http://schemas.openxmlformats.org/drawingml/2006/main">
            <a:pPr>
              <a:defRPr sz="2025" b="0">
                <a:solidFill>
                  <a:srgbClr val="5B667C"/>
                </a:solidFill>
                <a:latin typeface="Arial"/>
                <a:ea typeface="Arial"/>
                <a:cs typeface="Arial"/>
              </a:defRPr>
            </a:pPr>
            <a:r>
              <a:rPr sz="2025" b="0">
                <a:solidFill>
                  <a:srgbClr val="5B667C"/>
                </a:solidFill>
                <a:latin typeface="Arial"/>
                <a:ea typeface="Arial"/>
                <a:cs typeface="Arial"/>
              </a:rPr>
              <a:t>through a single mentorship record.</a:t>
            </a:r>
          </a:p>
        </p:txBody>
      </p:sp>
      <p:sp>
        <p:nvSpPr>
          <p:cNvPr id="6" name="Local demonstration project&#10;Five Django domain app">
            <a:extLst xmlns:a="http://schemas.openxmlformats.org/drawingml/2006/main">
              <a:ext uri="{FF2B5EF4-FFF2-40B4-BE49-F238E27FC236}">
                <a16:creationId xmlns:a16="http://schemas.microsoft.com/office/drawing/2014/main" id="{255B0078-15DD-4726-9D36-DD5FADD382B8}"/>
              </a:ext>
            </a:extLst>
          </p:cNvPr>
          <p:cNvSpPr>
            <a:spLocks xmlns:a="http://schemas.openxmlformats.org/drawingml/2006/main" noGrp="1"/>
          </p:cNvSpPr>
          <p:nvPr/>
        </p:nvSpPr>
        <p:spPr>
          <a:xfrm xmlns:a="http://schemas.openxmlformats.org/drawingml/2006/main">
            <a:off x="609600" y="5095875"/>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6D47D9"/>
                </a:solidFill>
                <a:latin typeface="Arial"/>
                <a:ea typeface="Arial"/>
                <a:cs typeface="Arial"/>
              </a:defRPr>
            </a:defPPr>
          </a:lstStyle>
          <a:p xmlns:a="http://schemas.openxmlformats.org/drawingml/2006/main">
            <a:pPr>
              <a:defRPr sz="1725" b="1">
                <a:solidFill>
                  <a:srgbClr val="6D47D9"/>
                </a:solidFill>
                <a:latin typeface="Arial"/>
                <a:ea typeface="Arial"/>
                <a:cs typeface="Arial"/>
              </a:defRPr>
            </a:pPr>
            <a:r>
              <a:rPr sz="1725" b="1">
                <a:solidFill>
                  <a:srgbClr val="6D47D9"/>
                </a:solidFill>
                <a:latin typeface="Arial"/>
                <a:ea typeface="Arial"/>
                <a:cs typeface="Arial"/>
              </a:rPr>
              <a:t>Local demonstration project</a:t>
            </a:r>
          </a:p>
          <a:p xmlns:a="http://schemas.openxmlformats.org/drawingml/2006/main">
            <a:pPr>
              <a:defRPr sz="1725" b="1">
                <a:solidFill>
                  <a:srgbClr val="6D47D9"/>
                </a:solidFill>
                <a:latin typeface="Arial"/>
                <a:ea typeface="Arial"/>
                <a:cs typeface="Arial"/>
              </a:defRPr>
            </a:pPr>
            <a:r>
              <a:rPr sz="1725" b="1">
                <a:solidFill>
                  <a:srgbClr val="6D47D9"/>
                </a:solidFill>
                <a:latin typeface="Arial"/>
                <a:ea typeface="Arial"/>
                <a:cs typeface="Arial"/>
              </a:rPr>
              <a:t>Five Django domain apps</a:t>
            </a:r>
          </a:p>
        </p:txBody>
      </p:sp>
      <p:pic>
        <p:nvPicPr>
          <p:cNvPr id="7" name="">
            <a:extLst xmlns:a="http://schemas.openxmlformats.org/drawingml/2006/main">
              <a:ext uri="{FF2B5EF4-FFF2-40B4-BE49-F238E27FC236}">
                <a16:creationId xmlns:a16="http://schemas.microsoft.com/office/drawing/2014/main" id="{6981E2F5-44EC-48BB-8590-9C1B77BF4557}"/>
              </a:ext>
            </a:extLst>
          </p:cNvPr>
          <p:cNvPicPr>
            <a:picLocks xmlns:a="http://schemas.openxmlformats.org/drawingml/2006/main" noChangeAspect="1"/>
          </p:cNvPicPr>
          <p:nvPr/>
        </p:nvPicPr>
        <p:blipFill>
          <a:blip xmlns:r="http://schemas.openxmlformats.org/officeDocument/2006/relationships" xmlns:a="http://schemas.openxmlformats.org/drawingml/2006/main" r:embed="R1105c2b1d731476f"/>
          <a:stretch xmlns:a="http://schemas.openxmlformats.org/drawingml/2006/main"/>
        </p:blipFill>
        <p:spPr>
          <a:xfrm xmlns:a="http://schemas.openxmlformats.org/drawingml/2006/main">
            <a:off x="5581650" y="2122752"/>
            <a:ext cx="6000750" cy="3241146"/>
          </a:xfrm>
          <a:prstGeom xmlns:a="http://schemas.openxmlformats.org/drawingml/2006/main" prst="rect">
            <a:avLst/>
          </a:prstGeom>
        </p:spPr>
      </p:pic>
    </p:spTree>
    <p:extLst>
      <p:ext uri="{BB962C8B-B14F-4D97-AF65-F5344CB8AC3E}">
        <p14:creationId xmlns:p14="http://schemas.microsoft.com/office/powerpoint/2010/main" val="314783612"/>
      </p:ext>
    </p:extLst>
  </p:cSld>
</p:sld>
</file>

<file path=ppt/slides/slide3.xml><?xml version="1.0" encoding="utf-8"?>
<p:sld xmlns:p="http://schemas.openxmlformats.org/presentationml/2006/main">
  <p:cSld>
    <p:bg>
      <p:bgPr>
        <a:solidFill xmlns:a="http://schemas.openxmlformats.org/drawingml/2006/main">
          <a:srgbClr val="F5F5F9"/>
        </a:solidFill>
      </p:bgPr>
    </p:bg>
    <p:spTree>
      <p:nvGrpSpPr>
        <p:cNvPr id="1" name=""/>
        <p:cNvGrpSpPr/>
        <p:nvPr/>
      </p:nvGrpSpPr>
      <p:grpSpPr>
        <a:xfrm xmlns:a="http://schemas.openxmlformats.org/drawingml/2006/main"/>
      </p:grpSpPr>
      <p:sp>
        <p:nvSpPr>
          <p:cNvPr id="14" name="Problem statement and objectives">
            <a:extLst xmlns:a="http://schemas.openxmlformats.org/drawingml/2006/main">
              <a:ext uri="{FF2B5EF4-FFF2-40B4-BE49-F238E27FC236}">
                <a16:creationId xmlns:a16="http://schemas.microsoft.com/office/drawing/2014/main" id="{F9BD31CE-D7D7-4D64-8003-67541FD458A3}"/>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039"/>
                </a:solidFill>
                <a:latin typeface="Arial"/>
                <a:ea typeface="Arial"/>
                <a:cs typeface="Arial"/>
              </a:defRPr>
            </a:defPPr>
          </a:lstStyle>
          <a:p xmlns:a="http://schemas.openxmlformats.org/drawingml/2006/main">
            <a:pPr>
              <a:defRPr sz="3300" b="1">
                <a:solidFill>
                  <a:srgbClr val="172039"/>
                </a:solidFill>
                <a:latin typeface="Arial"/>
                <a:ea typeface="Arial"/>
                <a:cs typeface="Arial"/>
              </a:defRPr>
            </a:pPr>
            <a:r>
              <a:rPr sz="3300" b="1">
                <a:solidFill>
                  <a:srgbClr val="172039"/>
                </a:solidFill>
                <a:latin typeface="Arial"/>
                <a:ea typeface="Arial"/>
                <a:cs typeface="Arial"/>
              </a:rPr>
              <a:t>Problem statement and objectives</a:t>
            </a:r>
          </a:p>
        </p:txBody>
      </p:sp>
      <p:sp>
        <p:nvSpPr>
          <p:cNvPr id="2" name="IIIT Kottayam">
            <a:extLst xmlns:a="http://schemas.openxmlformats.org/drawingml/2006/main">
              <a:ext uri="{FF2B5EF4-FFF2-40B4-BE49-F238E27FC236}">
                <a16:creationId xmlns:a16="http://schemas.microsoft.com/office/drawing/2014/main" id="{A443CB1E-288E-4A62-87AA-E8525737882E}"/>
              </a:ext>
            </a:extLst>
          </p:cNvPr>
          <p:cNvSpPr>
            <a:spLocks xmlns:a="http://schemas.openxmlformats.org/drawingml/2006/main" noGrp="1"/>
          </p:cNvSpPr>
          <p:nvPr/>
        </p:nvSpPr>
        <p:spPr>
          <a:xfrm xmlns:a="http://schemas.openxmlformats.org/drawingml/2006/main">
            <a:off x="609600" y="6429375"/>
            <a:ext cx="381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B667C"/>
                </a:solidFill>
                <a:latin typeface="Arial"/>
                <a:ea typeface="Arial"/>
                <a:cs typeface="Arial"/>
              </a:defRPr>
            </a:defPPr>
          </a:lstStyle>
          <a:p xmlns:a="http://schemas.openxmlformats.org/drawingml/2006/main">
            <a:pPr>
              <a:defRPr sz="1125" b="0">
                <a:solidFill>
                  <a:srgbClr val="5B667C"/>
                </a:solidFill>
                <a:latin typeface="Arial"/>
                <a:ea typeface="Arial"/>
                <a:cs typeface="Arial"/>
              </a:defRPr>
            </a:pPr>
            <a:r>
              <a:rPr sz="1125" b="0">
                <a:solidFill>
                  <a:srgbClr val="5B667C"/>
                </a:solidFill>
                <a:latin typeface="Arial"/>
                <a:ea typeface="Arial"/>
                <a:cs typeface="Arial"/>
              </a:rPr>
              <a:t>IIIT Kottayam</a:t>
            </a:r>
          </a:p>
        </p:txBody>
      </p:sp>
      <p:sp>
        <p:nvSpPr>
          <p:cNvPr id="3" name="03">
            <a:extLst xmlns:a="http://schemas.openxmlformats.org/drawingml/2006/main">
              <a:ext uri="{FF2B5EF4-FFF2-40B4-BE49-F238E27FC236}">
                <a16:creationId xmlns:a16="http://schemas.microsoft.com/office/drawing/2014/main" id="{1A6C9B63-32CE-455E-A49E-21047F355352}"/>
              </a:ext>
            </a:extLst>
          </p:cNvPr>
          <p:cNvSpPr>
            <a:spLocks xmlns:a="http://schemas.openxmlformats.org/drawingml/2006/main" noGrp="1"/>
          </p:cNvSpPr>
          <p:nvPr/>
        </p:nvSpPr>
        <p:spPr>
          <a:xfrm xmlns:a="http://schemas.openxmlformats.org/drawingml/2006/main">
            <a:off x="11087100" y="64293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B667C"/>
                </a:solidFill>
                <a:latin typeface="Arial"/>
                <a:ea typeface="Arial"/>
                <a:cs typeface="Arial"/>
              </a:defRPr>
            </a:defPPr>
          </a:lstStyle>
          <a:p xmlns:a="http://schemas.openxmlformats.org/drawingml/2006/main">
            <a:pPr>
              <a:defRPr sz="1125" b="0">
                <a:solidFill>
                  <a:srgbClr val="5B667C"/>
                </a:solidFill>
                <a:latin typeface="Arial"/>
                <a:ea typeface="Arial"/>
                <a:cs typeface="Arial"/>
              </a:defRPr>
            </a:pPr>
            <a:r>
              <a:rPr sz="1125" b="0">
                <a:solidFill>
                  <a:srgbClr val="5B667C"/>
                </a:solidFill>
                <a:latin typeface="Arial"/>
                <a:ea typeface="Arial"/>
                <a:cs typeface="Arial"/>
              </a:rPr>
              <a:t>03</a:t>
            </a:r>
          </a:p>
        </p:txBody>
      </p:sp>
      <p:sp>
        <p:nvSpPr>
          <p:cNvPr id="4" name="Mentorship challenges">
            <a:extLst xmlns:a="http://schemas.openxmlformats.org/drawingml/2006/main">
              <a:ext uri="{FF2B5EF4-FFF2-40B4-BE49-F238E27FC236}">
                <a16:creationId xmlns:a16="http://schemas.microsoft.com/office/drawing/2014/main" id="{A2F36644-BA03-4C50-9994-C192640723A9}"/>
              </a:ext>
            </a:extLst>
          </p:cNvPr>
          <p:cNvSpPr>
            <a:spLocks xmlns:a="http://schemas.openxmlformats.org/drawingml/2006/main" noGrp="1"/>
          </p:cNvSpPr>
          <p:nvPr/>
        </p:nvSpPr>
        <p:spPr>
          <a:xfrm xmlns:a="http://schemas.openxmlformats.org/drawingml/2006/main">
            <a:off x="609600" y="15144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5B667C"/>
                </a:solidFill>
                <a:latin typeface="Arial"/>
                <a:ea typeface="Arial"/>
                <a:cs typeface="Arial"/>
              </a:defRPr>
            </a:defPPr>
          </a:lstStyle>
          <a:p xmlns:a="http://schemas.openxmlformats.org/drawingml/2006/main">
            <a:pPr>
              <a:defRPr sz="2100" b="1">
                <a:solidFill>
                  <a:srgbClr val="5B667C"/>
                </a:solidFill>
                <a:latin typeface="Arial"/>
                <a:ea typeface="Arial"/>
                <a:cs typeface="Arial"/>
              </a:defRPr>
            </a:pPr>
            <a:r>
              <a:rPr sz="2100" b="1">
                <a:solidFill>
                  <a:srgbClr val="5B667C"/>
                </a:solidFill>
                <a:latin typeface="Arial"/>
                <a:ea typeface="Arial"/>
                <a:cs typeface="Arial"/>
              </a:rPr>
              <a:t>Mentorship challenges</a:t>
            </a:r>
          </a:p>
        </p:txBody>
      </p:sp>
      <p:sp>
        <p:nvSpPr>
          <p:cNvPr id="5" name="Project objectives">
            <a:extLst xmlns:a="http://schemas.openxmlformats.org/drawingml/2006/main">
              <a:ext uri="{FF2B5EF4-FFF2-40B4-BE49-F238E27FC236}">
                <a16:creationId xmlns:a16="http://schemas.microsoft.com/office/drawing/2014/main" id="{DEEC247E-C03C-471D-8746-3E1AF099657D}"/>
              </a:ext>
            </a:extLst>
          </p:cNvPr>
          <p:cNvSpPr>
            <a:spLocks xmlns:a="http://schemas.openxmlformats.org/drawingml/2006/main" noGrp="1"/>
          </p:cNvSpPr>
          <p:nvPr/>
        </p:nvSpPr>
        <p:spPr>
          <a:xfrm xmlns:a="http://schemas.openxmlformats.org/drawingml/2006/main">
            <a:off x="6400800" y="15144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6D47D9"/>
                </a:solidFill>
                <a:latin typeface="Arial"/>
                <a:ea typeface="Arial"/>
                <a:cs typeface="Arial"/>
              </a:defRPr>
            </a:defPPr>
          </a:lstStyle>
          <a:p xmlns:a="http://schemas.openxmlformats.org/drawingml/2006/main">
            <a:pPr>
              <a:defRPr sz="2100" b="1">
                <a:solidFill>
                  <a:srgbClr val="6D47D9"/>
                </a:solidFill>
                <a:latin typeface="Arial"/>
                <a:ea typeface="Arial"/>
                <a:cs typeface="Arial"/>
              </a:defRPr>
            </a:pPr>
            <a:r>
              <a:rPr sz="2100" b="1">
                <a:solidFill>
                  <a:srgbClr val="6D47D9"/>
                </a:solidFill>
                <a:latin typeface="Arial"/>
                <a:ea typeface="Arial"/>
                <a:cs typeface="Arial"/>
              </a:rPr>
              <a:t>Project objectives</a:t>
            </a:r>
          </a:p>
        </p:txBody>
      </p:sp>
      <p:sp>
        <p:nvSpPr>
          <p:cNvPr id="6" name="Finding a suitable mentor">
            <a:extLst xmlns:a="http://schemas.openxmlformats.org/drawingml/2006/main">
              <a:ext uri="{FF2B5EF4-FFF2-40B4-BE49-F238E27FC236}">
                <a16:creationId xmlns:a16="http://schemas.microsoft.com/office/drawing/2014/main" id="{698633EB-04CB-45BB-A59B-B15BC75CADEE}"/>
              </a:ext>
            </a:extLst>
          </p:cNvPr>
          <p:cNvSpPr>
            <a:spLocks xmlns:a="http://schemas.openxmlformats.org/drawingml/2006/main" noGrp="1"/>
          </p:cNvSpPr>
          <p:nvPr/>
        </p:nvSpPr>
        <p:spPr>
          <a:xfrm xmlns:a="http://schemas.openxmlformats.org/drawingml/2006/main">
            <a:off x="609600" y="2276475"/>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39"/>
                </a:solidFill>
                <a:latin typeface="Arial"/>
                <a:ea typeface="Arial"/>
                <a:cs typeface="Arial"/>
              </a:defRPr>
            </a:defPPr>
          </a:lstStyle>
          <a:p xmlns:a="http://schemas.openxmlformats.org/drawingml/2006/main">
            <a:pPr>
              <a:defRPr sz="2100" b="0">
                <a:solidFill>
                  <a:srgbClr val="172039"/>
                </a:solidFill>
                <a:latin typeface="Arial"/>
                <a:ea typeface="Arial"/>
                <a:cs typeface="Arial"/>
              </a:defRPr>
            </a:pPr>
            <a:r>
              <a:rPr sz="2100" b="0">
                <a:solidFill>
                  <a:srgbClr val="172039"/>
                </a:solidFill>
                <a:latin typeface="Arial"/>
                <a:ea typeface="Arial"/>
                <a:cs typeface="Arial"/>
              </a:rPr>
              <a:t>Finding a suitable mentor</a:t>
            </a:r>
          </a:p>
        </p:txBody>
      </p:sp>
      <p:sp>
        <p:nvSpPr>
          <p:cNvPr id="7" name="Rank mentors using an explainable score">
            <a:extLst xmlns:a="http://schemas.openxmlformats.org/drawingml/2006/main">
              <a:ext uri="{FF2B5EF4-FFF2-40B4-BE49-F238E27FC236}">
                <a16:creationId xmlns:a16="http://schemas.microsoft.com/office/drawing/2014/main" id="{587DFB74-A655-439A-9D52-E50329411095}"/>
              </a:ext>
            </a:extLst>
          </p:cNvPr>
          <p:cNvSpPr>
            <a:spLocks xmlns:a="http://schemas.openxmlformats.org/drawingml/2006/main" noGrp="1"/>
          </p:cNvSpPr>
          <p:nvPr/>
        </p:nvSpPr>
        <p:spPr>
          <a:xfrm xmlns:a="http://schemas.openxmlformats.org/drawingml/2006/main">
            <a:off x="6400800" y="2276475"/>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39"/>
                </a:solidFill>
                <a:latin typeface="Arial"/>
                <a:ea typeface="Arial"/>
                <a:cs typeface="Arial"/>
              </a:defRPr>
            </a:defPPr>
          </a:lstStyle>
          <a:p xmlns:a="http://schemas.openxmlformats.org/drawingml/2006/main">
            <a:pPr>
              <a:defRPr sz="2100" b="0">
                <a:solidFill>
                  <a:srgbClr val="172039"/>
                </a:solidFill>
                <a:latin typeface="Arial"/>
                <a:ea typeface="Arial"/>
                <a:cs typeface="Arial"/>
              </a:defRPr>
            </a:pPr>
            <a:r>
              <a:rPr sz="2100" b="0">
                <a:solidFill>
                  <a:srgbClr val="172039"/>
                </a:solidFill>
                <a:latin typeface="Arial"/>
                <a:ea typeface="Arial"/>
                <a:cs typeface="Arial"/>
              </a:rPr>
              <a:t>Rank mentors using an explainable score</a:t>
            </a:r>
          </a:p>
        </p:txBody>
      </p:sp>
      <p:sp>
        <p:nvSpPr>
          <p:cNvPr id="8" name="Keeping learning organised">
            <a:extLst xmlns:a="http://schemas.openxmlformats.org/drawingml/2006/main">
              <a:ext uri="{FF2B5EF4-FFF2-40B4-BE49-F238E27FC236}">
                <a16:creationId xmlns:a16="http://schemas.microsoft.com/office/drawing/2014/main" id="{456E760B-F37A-45A5-A073-C5D89B08B4F0}"/>
              </a:ext>
            </a:extLst>
          </p:cNvPr>
          <p:cNvSpPr>
            <a:spLocks xmlns:a="http://schemas.openxmlformats.org/drawingml/2006/main" noGrp="1"/>
          </p:cNvSpPr>
          <p:nvPr/>
        </p:nvSpPr>
        <p:spPr>
          <a:xfrm xmlns:a="http://schemas.openxmlformats.org/drawingml/2006/main">
            <a:off x="609600" y="31813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39"/>
                </a:solidFill>
                <a:latin typeface="Arial"/>
                <a:ea typeface="Arial"/>
                <a:cs typeface="Arial"/>
              </a:defRPr>
            </a:defPPr>
          </a:lstStyle>
          <a:p xmlns:a="http://schemas.openxmlformats.org/drawingml/2006/main">
            <a:pPr>
              <a:defRPr sz="2100" b="0">
                <a:solidFill>
                  <a:srgbClr val="172039"/>
                </a:solidFill>
                <a:latin typeface="Arial"/>
                <a:ea typeface="Arial"/>
                <a:cs typeface="Arial"/>
              </a:defRPr>
            </a:pPr>
            <a:r>
              <a:rPr sz="2100" b="0">
                <a:solidFill>
                  <a:srgbClr val="172039"/>
                </a:solidFill>
                <a:latin typeface="Arial"/>
                <a:ea typeface="Arial"/>
                <a:cs typeface="Arial"/>
              </a:rPr>
              <a:t>Keeping learning organised</a:t>
            </a:r>
          </a:p>
        </p:txBody>
      </p:sp>
      <p:sp>
        <p:nvSpPr>
          <p:cNvPr id="9" name="Give each pair a workspace and milestones">
            <a:extLst xmlns:a="http://schemas.openxmlformats.org/drawingml/2006/main">
              <a:ext uri="{FF2B5EF4-FFF2-40B4-BE49-F238E27FC236}">
                <a16:creationId xmlns:a16="http://schemas.microsoft.com/office/drawing/2014/main" id="{228159E9-132D-43D1-8872-769D2C11F4B9}"/>
              </a:ext>
            </a:extLst>
          </p:cNvPr>
          <p:cNvSpPr>
            <a:spLocks xmlns:a="http://schemas.openxmlformats.org/drawingml/2006/main" noGrp="1"/>
          </p:cNvSpPr>
          <p:nvPr/>
        </p:nvSpPr>
        <p:spPr>
          <a:xfrm xmlns:a="http://schemas.openxmlformats.org/drawingml/2006/main">
            <a:off x="6400800" y="3181350"/>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39"/>
                </a:solidFill>
                <a:latin typeface="Arial"/>
                <a:ea typeface="Arial"/>
                <a:cs typeface="Arial"/>
              </a:defRPr>
            </a:defPPr>
          </a:lstStyle>
          <a:p xmlns:a="http://schemas.openxmlformats.org/drawingml/2006/main">
            <a:pPr>
              <a:defRPr sz="2100" b="0">
                <a:solidFill>
                  <a:srgbClr val="172039"/>
                </a:solidFill>
                <a:latin typeface="Arial"/>
                <a:ea typeface="Arial"/>
                <a:cs typeface="Arial"/>
              </a:defRPr>
            </a:pPr>
            <a:r>
              <a:rPr sz="2100" b="0">
                <a:solidFill>
                  <a:srgbClr val="172039"/>
                </a:solidFill>
                <a:latin typeface="Arial"/>
                <a:ea typeface="Arial"/>
                <a:cs typeface="Arial"/>
              </a:rPr>
              <a:t>Give each pair a workspace and milestones</a:t>
            </a:r>
          </a:p>
        </p:txBody>
      </p:sp>
      <p:sp>
        <p:nvSpPr>
          <p:cNvPr id="10" name="Recognising contribution">
            <a:extLst xmlns:a="http://schemas.openxmlformats.org/drawingml/2006/main">
              <a:ext uri="{FF2B5EF4-FFF2-40B4-BE49-F238E27FC236}">
                <a16:creationId xmlns:a16="http://schemas.microsoft.com/office/drawing/2014/main" id="{A39E1546-3FE9-49ED-B07A-F5402BFC42F0}"/>
              </a:ext>
            </a:extLst>
          </p:cNvPr>
          <p:cNvSpPr>
            <a:spLocks xmlns:a="http://schemas.openxmlformats.org/drawingml/2006/main" noGrp="1"/>
          </p:cNvSpPr>
          <p:nvPr/>
        </p:nvSpPr>
        <p:spPr>
          <a:xfrm xmlns:a="http://schemas.openxmlformats.org/drawingml/2006/main">
            <a:off x="609600" y="4086225"/>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39"/>
                </a:solidFill>
                <a:latin typeface="Arial"/>
                <a:ea typeface="Arial"/>
                <a:cs typeface="Arial"/>
              </a:defRPr>
            </a:defPPr>
          </a:lstStyle>
          <a:p xmlns:a="http://schemas.openxmlformats.org/drawingml/2006/main">
            <a:pPr>
              <a:defRPr sz="2100" b="0">
                <a:solidFill>
                  <a:srgbClr val="172039"/>
                </a:solidFill>
                <a:latin typeface="Arial"/>
                <a:ea typeface="Arial"/>
                <a:cs typeface="Arial"/>
              </a:defRPr>
            </a:pPr>
            <a:r>
              <a:rPr sz="2100" b="0">
                <a:solidFill>
                  <a:srgbClr val="172039"/>
                </a:solidFill>
                <a:latin typeface="Arial"/>
                <a:ea typeface="Arial"/>
                <a:cs typeface="Arial"/>
              </a:rPr>
              <a:t>Recognising contribution</a:t>
            </a:r>
          </a:p>
        </p:txBody>
      </p:sp>
      <p:sp>
        <p:nvSpPr>
          <p:cNvPr id="11" name="Record credits, feedback and achievements">
            <a:extLst xmlns:a="http://schemas.openxmlformats.org/drawingml/2006/main">
              <a:ext uri="{FF2B5EF4-FFF2-40B4-BE49-F238E27FC236}">
                <a16:creationId xmlns:a16="http://schemas.microsoft.com/office/drawing/2014/main" id="{8DE07EF6-9F07-4175-A2AD-DF51A7270CA9}"/>
              </a:ext>
            </a:extLst>
          </p:cNvPr>
          <p:cNvSpPr>
            <a:spLocks xmlns:a="http://schemas.openxmlformats.org/drawingml/2006/main" noGrp="1"/>
          </p:cNvSpPr>
          <p:nvPr/>
        </p:nvSpPr>
        <p:spPr>
          <a:xfrm xmlns:a="http://schemas.openxmlformats.org/drawingml/2006/main">
            <a:off x="6400800" y="4086225"/>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39"/>
                </a:solidFill>
                <a:latin typeface="Arial"/>
                <a:ea typeface="Arial"/>
                <a:cs typeface="Arial"/>
              </a:defRPr>
            </a:defPPr>
          </a:lstStyle>
          <a:p xmlns:a="http://schemas.openxmlformats.org/drawingml/2006/main">
            <a:pPr>
              <a:defRPr sz="2100" b="0">
                <a:solidFill>
                  <a:srgbClr val="172039"/>
                </a:solidFill>
                <a:latin typeface="Arial"/>
                <a:ea typeface="Arial"/>
                <a:cs typeface="Arial"/>
              </a:defRPr>
            </a:pPr>
            <a:r>
              <a:rPr sz="2100" b="0">
                <a:solidFill>
                  <a:srgbClr val="172039"/>
                </a:solidFill>
                <a:latin typeface="Arial"/>
                <a:ea typeface="Arial"/>
                <a:cs typeface="Arial"/>
              </a:rPr>
              <a:t>Record credits, feedback and achievements</a:t>
            </a:r>
          </a:p>
        </p:txBody>
      </p:sp>
      <p:sp>
        <p:nvSpPr>
          <p:cNvPr id="12" name="Showing completion">
            <a:extLst xmlns:a="http://schemas.openxmlformats.org/drawingml/2006/main">
              <a:ext uri="{FF2B5EF4-FFF2-40B4-BE49-F238E27FC236}">
                <a16:creationId xmlns:a16="http://schemas.microsoft.com/office/drawing/2014/main" id="{3E1B7EE8-52CB-4C2D-9C58-E41DCEB19594}"/>
              </a:ext>
            </a:extLst>
          </p:cNvPr>
          <p:cNvSpPr>
            <a:spLocks xmlns:a="http://schemas.openxmlformats.org/drawingml/2006/main" noGrp="1"/>
          </p:cNvSpPr>
          <p:nvPr/>
        </p:nvSpPr>
        <p:spPr>
          <a:xfrm xmlns:a="http://schemas.openxmlformats.org/drawingml/2006/main">
            <a:off x="609600" y="49911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39"/>
                </a:solidFill>
                <a:latin typeface="Arial"/>
                <a:ea typeface="Arial"/>
                <a:cs typeface="Arial"/>
              </a:defRPr>
            </a:defPPr>
          </a:lstStyle>
          <a:p xmlns:a="http://schemas.openxmlformats.org/drawingml/2006/main">
            <a:pPr>
              <a:defRPr sz="2100" b="0">
                <a:solidFill>
                  <a:srgbClr val="172039"/>
                </a:solidFill>
                <a:latin typeface="Arial"/>
                <a:ea typeface="Arial"/>
                <a:cs typeface="Arial"/>
              </a:defRPr>
            </a:pPr>
            <a:r>
              <a:rPr sz="2100" b="0">
                <a:solidFill>
                  <a:srgbClr val="172039"/>
                </a:solidFill>
                <a:latin typeface="Arial"/>
                <a:ea typeface="Arial"/>
                <a:cs typeface="Arial"/>
              </a:rPr>
              <a:t>Showing completion</a:t>
            </a:r>
          </a:p>
        </p:txBody>
      </p:sp>
      <p:sp>
        <p:nvSpPr>
          <p:cNvPr id="13" name="Provide a printable completion certificate">
            <a:extLst xmlns:a="http://schemas.openxmlformats.org/drawingml/2006/main">
              <a:ext uri="{FF2B5EF4-FFF2-40B4-BE49-F238E27FC236}">
                <a16:creationId xmlns:a16="http://schemas.microsoft.com/office/drawing/2014/main" id="{F84435B0-5F51-4F4F-88DE-5041FDAFC649}"/>
              </a:ext>
            </a:extLst>
          </p:cNvPr>
          <p:cNvSpPr>
            <a:spLocks xmlns:a="http://schemas.openxmlformats.org/drawingml/2006/main" noGrp="1"/>
          </p:cNvSpPr>
          <p:nvPr/>
        </p:nvSpPr>
        <p:spPr>
          <a:xfrm xmlns:a="http://schemas.openxmlformats.org/drawingml/2006/main">
            <a:off x="6400800" y="4991100"/>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39"/>
                </a:solidFill>
                <a:latin typeface="Arial"/>
                <a:ea typeface="Arial"/>
                <a:cs typeface="Arial"/>
              </a:defRPr>
            </a:defPPr>
          </a:lstStyle>
          <a:p xmlns:a="http://schemas.openxmlformats.org/drawingml/2006/main">
            <a:pPr>
              <a:defRPr sz="2100" b="0">
                <a:solidFill>
                  <a:srgbClr val="172039"/>
                </a:solidFill>
                <a:latin typeface="Arial"/>
                <a:ea typeface="Arial"/>
                <a:cs typeface="Arial"/>
              </a:defRPr>
            </a:pPr>
            <a:r>
              <a:rPr sz="2100" b="0">
                <a:solidFill>
                  <a:srgbClr val="172039"/>
                </a:solidFill>
                <a:latin typeface="Arial"/>
                <a:ea typeface="Arial"/>
                <a:cs typeface="Arial"/>
              </a:rPr>
              <a:t>Provide a printable completion certificate</a:t>
            </a:r>
          </a:p>
        </p:txBody>
      </p:sp>
    </p:spTree>
    <p:extLst>
      <p:ext uri="{BB962C8B-B14F-4D97-AF65-F5344CB8AC3E}">
        <p14:creationId xmlns:p14="http://schemas.microsoft.com/office/powerpoint/2010/main" val="1816531311"/>
      </p:ext>
    </p:extLst>
  </p:cSld>
</p:sld>
</file>

<file path=ppt/slides/slide4.xml><?xml version="1.0" encoding="utf-8"?>
<p:sld xmlns:p="http://schemas.openxmlformats.org/presentationml/2006/main">
  <p:cSld>
    <p:bg>
      <p:bgPr>
        <a:solidFill xmlns:a="http://schemas.openxmlformats.org/drawingml/2006/main">
          <a:srgbClr val="F5F5F9"/>
        </a:solidFill>
      </p:bgPr>
    </p:bg>
    <p:spTree>
      <p:nvGrpSpPr>
        <p:cNvPr id="1" name=""/>
        <p:cNvGrpSpPr/>
        <p:nvPr/>
      </p:nvGrpSpPr>
      <p:grpSpPr>
        <a:xfrm xmlns:a="http://schemas.openxmlformats.org/drawingml/2006/main"/>
      </p:grpSpPr>
      <p:sp>
        <p:nvSpPr>
          <p:cNvPr id="7" name="Functional requirements and user roles">
            <a:extLst xmlns:a="http://schemas.openxmlformats.org/drawingml/2006/main">
              <a:ext uri="{FF2B5EF4-FFF2-40B4-BE49-F238E27FC236}">
                <a16:creationId xmlns:a16="http://schemas.microsoft.com/office/drawing/2014/main" id="{E8A824CC-70DD-4CB5-8F0F-A2A5F0D23ECE}"/>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039"/>
                </a:solidFill>
                <a:latin typeface="Arial"/>
                <a:ea typeface="Arial"/>
                <a:cs typeface="Arial"/>
              </a:defRPr>
            </a:defPPr>
          </a:lstStyle>
          <a:p xmlns:a="http://schemas.openxmlformats.org/drawingml/2006/main">
            <a:pPr>
              <a:defRPr sz="3300" b="1">
                <a:solidFill>
                  <a:srgbClr val="172039"/>
                </a:solidFill>
                <a:latin typeface="Arial"/>
                <a:ea typeface="Arial"/>
                <a:cs typeface="Arial"/>
              </a:defRPr>
            </a:pPr>
            <a:r>
              <a:rPr sz="3300" b="1">
                <a:solidFill>
                  <a:srgbClr val="172039"/>
                </a:solidFill>
                <a:latin typeface="Arial"/>
                <a:ea typeface="Arial"/>
                <a:cs typeface="Arial"/>
              </a:rPr>
              <a:t>Functional requirements and user roles</a:t>
            </a:r>
          </a:p>
        </p:txBody>
      </p:sp>
      <p:sp>
        <p:nvSpPr>
          <p:cNvPr id="2" name="IIIT Kottayam">
            <a:extLst xmlns:a="http://schemas.openxmlformats.org/drawingml/2006/main">
              <a:ext uri="{FF2B5EF4-FFF2-40B4-BE49-F238E27FC236}">
                <a16:creationId xmlns:a16="http://schemas.microsoft.com/office/drawing/2014/main" id="{4D75D917-1C25-4146-B48F-5B01604E2729}"/>
              </a:ext>
            </a:extLst>
          </p:cNvPr>
          <p:cNvSpPr>
            <a:spLocks xmlns:a="http://schemas.openxmlformats.org/drawingml/2006/main" noGrp="1"/>
          </p:cNvSpPr>
          <p:nvPr/>
        </p:nvSpPr>
        <p:spPr>
          <a:xfrm xmlns:a="http://schemas.openxmlformats.org/drawingml/2006/main">
            <a:off x="609600" y="6429375"/>
            <a:ext cx="381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B667C"/>
                </a:solidFill>
                <a:latin typeface="Arial"/>
                <a:ea typeface="Arial"/>
                <a:cs typeface="Arial"/>
              </a:defRPr>
            </a:defPPr>
          </a:lstStyle>
          <a:p xmlns:a="http://schemas.openxmlformats.org/drawingml/2006/main">
            <a:pPr>
              <a:defRPr sz="1125" b="0">
                <a:solidFill>
                  <a:srgbClr val="5B667C"/>
                </a:solidFill>
                <a:latin typeface="Arial"/>
                <a:ea typeface="Arial"/>
                <a:cs typeface="Arial"/>
              </a:defRPr>
            </a:pPr>
            <a:r>
              <a:rPr sz="1125" b="0">
                <a:solidFill>
                  <a:srgbClr val="5B667C"/>
                </a:solidFill>
                <a:latin typeface="Arial"/>
                <a:ea typeface="Arial"/>
                <a:cs typeface="Arial"/>
              </a:rPr>
              <a:t>IIIT Kottayam</a:t>
            </a:r>
          </a:p>
        </p:txBody>
      </p:sp>
      <p:sp>
        <p:nvSpPr>
          <p:cNvPr id="3" name="04">
            <a:extLst xmlns:a="http://schemas.openxmlformats.org/drawingml/2006/main">
              <a:ext uri="{FF2B5EF4-FFF2-40B4-BE49-F238E27FC236}">
                <a16:creationId xmlns:a16="http://schemas.microsoft.com/office/drawing/2014/main" id="{4BC4F13E-A5C4-43CD-9686-46CF67D05E8B}"/>
              </a:ext>
            </a:extLst>
          </p:cNvPr>
          <p:cNvSpPr>
            <a:spLocks xmlns:a="http://schemas.openxmlformats.org/drawingml/2006/main" noGrp="1"/>
          </p:cNvSpPr>
          <p:nvPr/>
        </p:nvSpPr>
        <p:spPr>
          <a:xfrm xmlns:a="http://schemas.openxmlformats.org/drawingml/2006/main">
            <a:off x="11087100" y="64293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B667C"/>
                </a:solidFill>
                <a:latin typeface="Arial"/>
                <a:ea typeface="Arial"/>
                <a:cs typeface="Arial"/>
              </a:defRPr>
            </a:defPPr>
          </a:lstStyle>
          <a:p xmlns:a="http://schemas.openxmlformats.org/drawingml/2006/main">
            <a:pPr>
              <a:defRPr sz="1125" b="0">
                <a:solidFill>
                  <a:srgbClr val="5B667C"/>
                </a:solidFill>
                <a:latin typeface="Arial"/>
                <a:ea typeface="Arial"/>
                <a:cs typeface="Arial"/>
              </a:defRPr>
            </a:pPr>
            <a:r>
              <a:rPr sz="1125" b="0">
                <a:solidFill>
                  <a:srgbClr val="5B667C"/>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9EC58A49-46FC-4A18-A28B-23B9F8A0A7C8}"/>
              </a:ext>
            </a:extLst>
          </p:cNvPr>
          <p:cNvGraphicFramePr/>
          <p:nvPr/>
        </p:nvGraphicFramePr>
        <p:xfrm>
          <a:off xmlns:a="http://schemas.openxmlformats.org/drawingml/2006/main" x="609600" y="1562100"/>
          <a:ext xmlns:a="http://schemas.openxmlformats.org/drawingml/2006/main" cx="10972800" cy="3505200"/>
        </p:xfrm>
        <a:graphic xmlns:a="http://schemas.openxmlformats.org/drawingml/2006/main">
          <a:graphicData uri="http://schemas.openxmlformats.org/drawingml/2006/table">
            <a:tbl>
              <a:tblPr/>
              <a:tblGrid>
                <a:gridCol w="2286000"/>
                <a:gridCol w="8686800"/>
              </a:tblGrid>
              <a:tr h="701040">
                <a:tc>
                  <a:txBody>
                    <a:bodyPr lIns="133350" tIns="133350" rIns="133350" bIns="133350"/>
                    <a:lstStyle/>
                    <a:p>
                      <a:r>
                        <a:rPr sz="1725" b="1">
                          <a:solidFill>
                            <a:srgbClr val="FFFFFF"/>
                          </a:solidFill>
                          <a:latin typeface="Arial"/>
                          <a:ea typeface="Arial"/>
                          <a:cs typeface="Arial"/>
                        </a:rPr>
                        <a:t>Role</a:t>
                      </a:r>
                    </a:p>
                  </a:txBody>
                  <a:tcPr marL="91440" marR="91440" marT="45720" marB="45720" anchor="ctr">
                    <a:solidFill>
                      <a:srgbClr val="0B1020"/>
                    </a:solidFill>
                  </a:tcPr>
                </a:tc>
                <a:tc>
                  <a:txBody>
                    <a:bodyPr lIns="133350" tIns="133350" rIns="133350" bIns="133350"/>
                    <a:lstStyle/>
                    <a:p>
                      <a:r>
                        <a:rPr sz="1725" b="1">
                          <a:solidFill>
                            <a:srgbClr val="FFFFFF"/>
                          </a:solidFill>
                          <a:latin typeface="Arial"/>
                          <a:ea typeface="Arial"/>
                          <a:cs typeface="Arial"/>
                        </a:rPr>
                        <a:t>Implemented capabilities</a:t>
                      </a:r>
                    </a:p>
                  </a:txBody>
                  <a:tcPr marL="91440" marR="91440" marT="45720" marB="45720" anchor="ctr">
                    <a:solidFill>
                      <a:srgbClr val="0B1020"/>
                    </a:solidFill>
                  </a:tcPr>
                </a:tc>
              </a:tr>
              <a:tr h="701040">
                <a:tc>
                  <a:txBody>
                    <a:bodyPr lIns="133350" tIns="133350" rIns="133350" bIns="133350"/>
                    <a:lstStyle/>
                    <a:p>
                      <a:r>
                        <a:rPr sz="1725" b="0">
                          <a:solidFill>
                            <a:srgbClr val="172039"/>
                          </a:solidFill>
                          <a:latin typeface="Arial"/>
                          <a:ea typeface="Arial"/>
                          <a:cs typeface="Arial"/>
                        </a:rPr>
                        <a:t>Learner</a:t>
                      </a:r>
                    </a:p>
                  </a:txBody>
                  <a:tcPr marL="91440" marR="91440" marT="45720" marB="45720" anchor="ctr">
                    <a:solidFill>
                      <a:srgbClr val="FFFFFF"/>
                    </a:solidFill>
                  </a:tcPr>
                </a:tc>
                <a:tc>
                  <a:txBody>
                    <a:bodyPr lIns="133350" tIns="133350" rIns="133350" bIns="133350"/>
                    <a:lstStyle/>
                    <a:p>
                      <a:r>
                        <a:rPr sz="1725" b="0">
                          <a:solidFill>
                            <a:srgbClr val="172039"/>
                          </a:solidFill>
                          <a:latin typeface="Arial"/>
                          <a:ea typeface="Arial"/>
                          <a:cs typeface="Arial"/>
                        </a:rPr>
                        <a:t>Browse mentors, request guidance, track learning and give feedback</a:t>
                      </a:r>
                    </a:p>
                  </a:txBody>
                  <a:tcPr marL="91440" marR="91440" marT="45720" marB="45720" anchor="ctr">
                    <a:solidFill>
                      <a:srgbClr val="FFFFFF"/>
                    </a:solidFill>
                  </a:tcPr>
                </a:tc>
              </a:tr>
              <a:tr h="701040">
                <a:tc>
                  <a:txBody>
                    <a:bodyPr lIns="133350" tIns="133350" rIns="133350" bIns="133350"/>
                    <a:lstStyle/>
                    <a:p>
                      <a:r>
                        <a:rPr sz="1725" b="0">
                          <a:solidFill>
                            <a:srgbClr val="172039"/>
                          </a:solidFill>
                          <a:latin typeface="Arial"/>
                          <a:ea typeface="Arial"/>
                          <a:cs typeface="Arial"/>
                        </a:rPr>
                        <a:t>Mentor</a:t>
                      </a:r>
                    </a:p>
                  </a:txBody>
                  <a:tcPr marL="91440" marR="91440" marT="45720" marB="45720" anchor="ctr">
                    <a:solidFill>
                      <a:srgbClr val="F0EDF8"/>
                    </a:solidFill>
                  </a:tcPr>
                </a:tc>
                <a:tc>
                  <a:txBody>
                    <a:bodyPr lIns="133350" tIns="133350" rIns="133350" bIns="133350"/>
                    <a:lstStyle/>
                    <a:p>
                      <a:r>
                        <a:rPr sz="1725" b="0">
                          <a:solidFill>
                            <a:srgbClr val="172039"/>
                          </a:solidFill>
                          <a:latin typeface="Arial"/>
                          <a:ea typeface="Arial"/>
                          <a:cs typeface="Arial"/>
                        </a:rPr>
                        <a:t>Review requests, log sessions and support shared milestones</a:t>
                      </a:r>
                    </a:p>
                  </a:txBody>
                  <a:tcPr marL="91440" marR="91440" marT="45720" marB="45720" anchor="ctr">
                    <a:solidFill>
                      <a:srgbClr val="F0EDF8"/>
                    </a:solidFill>
                  </a:tcPr>
                </a:tc>
              </a:tr>
              <a:tr h="701040">
                <a:tc>
                  <a:txBody>
                    <a:bodyPr lIns="133350" tIns="133350" rIns="133350" bIns="133350"/>
                    <a:lstStyle/>
                    <a:p>
                      <a:r>
                        <a:rPr sz="1725" b="0">
                          <a:solidFill>
                            <a:srgbClr val="172039"/>
                          </a:solidFill>
                          <a:latin typeface="Arial"/>
                          <a:ea typeface="Arial"/>
                          <a:cs typeface="Arial"/>
                        </a:rPr>
                        <a:t>Dual role</a:t>
                      </a:r>
                    </a:p>
                  </a:txBody>
                  <a:tcPr marL="91440" marR="91440" marT="45720" marB="45720" anchor="ctr">
                    <a:solidFill>
                      <a:srgbClr val="FFFFFF"/>
                    </a:solidFill>
                  </a:tcPr>
                </a:tc>
                <a:tc>
                  <a:txBody>
                    <a:bodyPr lIns="133350" tIns="133350" rIns="133350" bIns="133350"/>
                    <a:lstStyle/>
                    <a:p>
                      <a:r>
                        <a:rPr sz="1725" b="0">
                          <a:solidFill>
                            <a:srgbClr val="172039"/>
                          </a:solidFill>
                          <a:latin typeface="Arial"/>
                          <a:ea typeface="Arial"/>
                          <a:cs typeface="Arial"/>
                        </a:rPr>
                        <a:t>Hold active Mentor and Learner assignments at the same time</a:t>
                      </a:r>
                    </a:p>
                  </a:txBody>
                  <a:tcPr marL="91440" marR="91440" marT="45720" marB="45720" anchor="ctr">
                    <a:solidFill>
                      <a:srgbClr val="FFFFFF"/>
                    </a:solidFill>
                  </a:tcPr>
                </a:tc>
              </a:tr>
              <a:tr h="701040">
                <a:tc>
                  <a:txBody>
                    <a:bodyPr lIns="133350" tIns="133350" rIns="133350" bIns="133350"/>
                    <a:lstStyle/>
                    <a:p>
                      <a:r>
                        <a:rPr sz="1725" b="0">
                          <a:solidFill>
                            <a:srgbClr val="172039"/>
                          </a:solidFill>
                          <a:latin typeface="Arial"/>
                          <a:ea typeface="Arial"/>
                          <a:cs typeface="Arial"/>
                        </a:rPr>
                        <a:t>Administrator</a:t>
                      </a:r>
                    </a:p>
                  </a:txBody>
                  <a:tcPr marL="91440" marR="91440" marT="45720" marB="45720" anchor="ctr">
                    <a:solidFill>
                      <a:srgbClr val="F0EDF8"/>
                    </a:solidFill>
                  </a:tcPr>
                </a:tc>
                <a:tc>
                  <a:txBody>
                    <a:bodyPr lIns="133350" tIns="133350" rIns="133350" bIns="133350"/>
                    <a:lstStyle/>
                    <a:p>
                      <a:r>
                        <a:rPr sz="1725" b="0">
                          <a:solidFill>
                            <a:srgbClr val="172039"/>
                          </a:solidFill>
                          <a:latin typeface="Arial"/>
                          <a:ea typeface="Arial"/>
                          <a:cs typeface="Arial"/>
                        </a:rPr>
                        <a:t>Manage users, mentorship records and content through Django Admin</a:t>
                      </a:r>
                    </a:p>
                  </a:txBody>
                  <a:tcPr marL="91440" marR="91440" marT="45720" marB="45720" anchor="ctr">
                    <a:solidFill>
                      <a:srgbClr val="F0EDF8"/>
                    </a:solidFill>
                  </a:tcPr>
                </a:tc>
              </a:tr>
            </a:tbl>
          </a:graphicData>
        </a:graphic>
      </p:graphicFrame>
      <p:sp>
        <p:nvSpPr>
          <p:cNvPr id="5" name="Operating constraints">
            <a:extLst xmlns:a="http://schemas.openxmlformats.org/drawingml/2006/main">
              <a:ext uri="{FF2B5EF4-FFF2-40B4-BE49-F238E27FC236}">
                <a16:creationId xmlns:a16="http://schemas.microsoft.com/office/drawing/2014/main" id="{8CF4329C-A33F-4C56-AE38-CD68878539EF}"/>
              </a:ext>
            </a:extLst>
          </p:cNvPr>
          <p:cNvSpPr>
            <a:spLocks xmlns:a="http://schemas.openxmlformats.org/drawingml/2006/main" noGrp="1"/>
          </p:cNvSpPr>
          <p:nvPr/>
        </p:nvSpPr>
        <p:spPr>
          <a:xfrm xmlns:a="http://schemas.openxmlformats.org/drawingml/2006/main">
            <a:off x="609600" y="54292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6D47D9"/>
                </a:solidFill>
                <a:latin typeface="Arial"/>
                <a:ea typeface="Arial"/>
                <a:cs typeface="Arial"/>
              </a:defRPr>
            </a:defPPr>
          </a:lstStyle>
          <a:p xmlns:a="http://schemas.openxmlformats.org/drawingml/2006/main">
            <a:pPr>
              <a:defRPr sz="1950" b="1">
                <a:solidFill>
                  <a:srgbClr val="6D47D9"/>
                </a:solidFill>
                <a:latin typeface="Arial"/>
                <a:ea typeface="Arial"/>
                <a:cs typeface="Arial"/>
              </a:defRPr>
            </a:pPr>
            <a:r>
              <a:rPr sz="1950" b="1">
                <a:solidFill>
                  <a:srgbClr val="6D47D9"/>
                </a:solidFill>
                <a:latin typeface="Arial"/>
                <a:ea typeface="Arial"/>
                <a:cs typeface="Arial"/>
              </a:rPr>
              <a:t>Operating constraints</a:t>
            </a:r>
          </a:p>
        </p:txBody>
      </p:sp>
      <p:sp>
        <p:nvSpPr>
          <p:cNvPr id="6" name="Local SQLite database, local file storage, in-app ">
            <a:extLst xmlns:a="http://schemas.openxmlformats.org/drawingml/2006/main">
              <a:ext uri="{FF2B5EF4-FFF2-40B4-BE49-F238E27FC236}">
                <a16:creationId xmlns:a16="http://schemas.microsoft.com/office/drawing/2014/main" id="{544C1769-A600-4BA4-AE4C-3A18EE1F1EA5}"/>
              </a:ext>
            </a:extLst>
          </p:cNvPr>
          <p:cNvSpPr>
            <a:spLocks xmlns:a="http://schemas.openxmlformats.org/drawingml/2006/main" noGrp="1"/>
          </p:cNvSpPr>
          <p:nvPr/>
        </p:nvSpPr>
        <p:spPr>
          <a:xfrm xmlns:a="http://schemas.openxmlformats.org/drawingml/2006/main">
            <a:off x="3981450" y="5410200"/>
            <a:ext cx="74866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B667C"/>
                </a:solidFill>
                <a:latin typeface="Arial"/>
                <a:ea typeface="Arial"/>
                <a:cs typeface="Arial"/>
              </a:defRPr>
            </a:defPPr>
          </a:lstStyle>
          <a:p xmlns:a="http://schemas.openxmlformats.org/drawingml/2006/main">
            <a:pPr>
              <a:defRPr sz="1800" b="0">
                <a:solidFill>
                  <a:srgbClr val="5B667C"/>
                </a:solidFill>
                <a:latin typeface="Arial"/>
                <a:ea typeface="Arial"/>
                <a:cs typeface="Arial"/>
              </a:defRPr>
            </a:pPr>
            <a:r>
              <a:rPr sz="1800" b="0">
                <a:solidFill>
                  <a:srgbClr val="5B667C"/>
                </a:solidFill>
                <a:latin typeface="Arial"/>
                <a:ea typeface="Arial"/>
                <a:cs typeface="Arial"/>
              </a:rPr>
              <a:t>Local SQLite database, local file storage, in-app notifications</a:t>
            </a:r>
          </a:p>
          <a:p xmlns:a="http://schemas.openxmlformats.org/drawingml/2006/main">
            <a:pPr>
              <a:defRPr sz="1800" b="0">
                <a:solidFill>
                  <a:srgbClr val="5B667C"/>
                </a:solidFill>
                <a:latin typeface="Arial"/>
                <a:ea typeface="Arial"/>
                <a:cs typeface="Arial"/>
              </a:defRPr>
            </a:pPr>
            <a:r>
              <a:rPr sz="1800" b="0">
                <a:solidFill>
                  <a:srgbClr val="5B667C"/>
                </a:solidFill>
                <a:latin typeface="Arial"/>
                <a:ea typeface="Arial"/>
                <a:cs typeface="Arial"/>
              </a:rPr>
              <a:t>Document uploads up to 10 MB with an extension allowlist</a:t>
            </a:r>
          </a:p>
        </p:txBody>
      </p:sp>
    </p:spTree>
    <p:extLst>
      <p:ext uri="{BB962C8B-B14F-4D97-AF65-F5344CB8AC3E}">
        <p14:creationId xmlns:p14="http://schemas.microsoft.com/office/powerpoint/2010/main" val="1784030760"/>
      </p:ext>
    </p:extLst>
  </p:cSld>
</p:sld>
</file>

<file path=ppt/slides/slide5.xml><?xml version="1.0" encoding="utf-8"?>
<p:sld xmlns:p="http://schemas.openxmlformats.org/presentationml/2006/main">
  <p:cSld>
    <p:bg>
      <p:bgPr>
        <a:solidFill xmlns:a="http://schemas.openxmlformats.org/drawingml/2006/main">
          <a:srgbClr val="F5F5F9"/>
        </a:solidFill>
      </p:bgPr>
    </p:bg>
    <p:spTree>
      <p:nvGrpSpPr>
        <p:cNvPr id="1" name=""/>
        <p:cNvGrpSpPr/>
        <p:nvPr/>
      </p:nvGrpSpPr>
      <p:grpSpPr>
        <a:xfrm xmlns:a="http://schemas.openxmlformats.org/drawingml/2006/main"/>
      </p:grpSpPr>
      <p:sp>
        <p:nvSpPr>
          <p:cNvPr id="19" name="The mentorship lifecycle">
            <a:extLst xmlns:a="http://schemas.openxmlformats.org/drawingml/2006/main">
              <a:ext uri="{FF2B5EF4-FFF2-40B4-BE49-F238E27FC236}">
                <a16:creationId xmlns:a16="http://schemas.microsoft.com/office/drawing/2014/main" id="{65E32768-E635-4D08-A772-8C690BA2C742}"/>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039"/>
                </a:solidFill>
                <a:latin typeface="Arial"/>
                <a:ea typeface="Arial"/>
                <a:cs typeface="Arial"/>
              </a:defRPr>
            </a:defPPr>
          </a:lstStyle>
          <a:p xmlns:a="http://schemas.openxmlformats.org/drawingml/2006/main">
            <a:pPr>
              <a:defRPr sz="3300" b="1">
                <a:solidFill>
                  <a:srgbClr val="172039"/>
                </a:solidFill>
                <a:latin typeface="Arial"/>
                <a:ea typeface="Arial"/>
                <a:cs typeface="Arial"/>
              </a:defRPr>
            </a:pPr>
            <a:r>
              <a:rPr sz="3300" b="1">
                <a:solidFill>
                  <a:srgbClr val="172039"/>
                </a:solidFill>
                <a:latin typeface="Arial"/>
                <a:ea typeface="Arial"/>
                <a:cs typeface="Arial"/>
              </a:rPr>
              <a:t>The mentorship lifecycle</a:t>
            </a:r>
          </a:p>
        </p:txBody>
      </p:sp>
      <p:sp>
        <p:nvSpPr>
          <p:cNvPr id="2" name="IIIT Kottayam">
            <a:extLst xmlns:a="http://schemas.openxmlformats.org/drawingml/2006/main">
              <a:ext uri="{FF2B5EF4-FFF2-40B4-BE49-F238E27FC236}">
                <a16:creationId xmlns:a16="http://schemas.microsoft.com/office/drawing/2014/main" id="{B4E0751A-AB3E-4CA3-B76D-494FD07A45FC}"/>
              </a:ext>
            </a:extLst>
          </p:cNvPr>
          <p:cNvSpPr>
            <a:spLocks xmlns:a="http://schemas.openxmlformats.org/drawingml/2006/main" noGrp="1"/>
          </p:cNvSpPr>
          <p:nvPr/>
        </p:nvSpPr>
        <p:spPr>
          <a:xfrm xmlns:a="http://schemas.openxmlformats.org/drawingml/2006/main">
            <a:off x="609600" y="6429375"/>
            <a:ext cx="381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B667C"/>
                </a:solidFill>
                <a:latin typeface="Arial"/>
                <a:ea typeface="Arial"/>
                <a:cs typeface="Arial"/>
              </a:defRPr>
            </a:defPPr>
          </a:lstStyle>
          <a:p xmlns:a="http://schemas.openxmlformats.org/drawingml/2006/main">
            <a:pPr>
              <a:defRPr sz="1125" b="0">
                <a:solidFill>
                  <a:srgbClr val="5B667C"/>
                </a:solidFill>
                <a:latin typeface="Arial"/>
                <a:ea typeface="Arial"/>
                <a:cs typeface="Arial"/>
              </a:defRPr>
            </a:pPr>
            <a:r>
              <a:rPr sz="1125" b="0">
                <a:solidFill>
                  <a:srgbClr val="5B667C"/>
                </a:solidFill>
                <a:latin typeface="Arial"/>
                <a:ea typeface="Arial"/>
                <a:cs typeface="Arial"/>
              </a:rPr>
              <a:t>IIIT Kottayam</a:t>
            </a:r>
          </a:p>
        </p:txBody>
      </p:sp>
      <p:sp>
        <p:nvSpPr>
          <p:cNvPr id="3" name="05">
            <a:extLst xmlns:a="http://schemas.openxmlformats.org/drawingml/2006/main">
              <a:ext uri="{FF2B5EF4-FFF2-40B4-BE49-F238E27FC236}">
                <a16:creationId xmlns:a16="http://schemas.microsoft.com/office/drawing/2014/main" id="{EB0F8351-614B-47C6-AEF0-8115A95FD7F9}"/>
              </a:ext>
            </a:extLst>
          </p:cNvPr>
          <p:cNvSpPr>
            <a:spLocks xmlns:a="http://schemas.openxmlformats.org/drawingml/2006/main" noGrp="1"/>
          </p:cNvSpPr>
          <p:nvPr/>
        </p:nvSpPr>
        <p:spPr>
          <a:xfrm xmlns:a="http://schemas.openxmlformats.org/drawingml/2006/main">
            <a:off x="11087100" y="64293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B667C"/>
                </a:solidFill>
                <a:latin typeface="Arial"/>
                <a:ea typeface="Arial"/>
                <a:cs typeface="Arial"/>
              </a:defRPr>
            </a:defPPr>
          </a:lstStyle>
          <a:p xmlns:a="http://schemas.openxmlformats.org/drawingml/2006/main">
            <a:pPr>
              <a:defRPr sz="1125" b="0">
                <a:solidFill>
                  <a:srgbClr val="5B667C"/>
                </a:solidFill>
                <a:latin typeface="Arial"/>
                <a:ea typeface="Arial"/>
                <a:cs typeface="Arial"/>
              </a:defRPr>
            </a:pPr>
            <a:r>
              <a:rPr sz="1125" b="0">
                <a:solidFill>
                  <a:srgbClr val="5B667C"/>
                </a:solidFill>
                <a:latin typeface="Arial"/>
                <a:ea typeface="Arial"/>
                <a:cs typeface="Arial"/>
              </a:rPr>
              <a:t>05</a:t>
            </a:r>
          </a:p>
        </p:txBody>
      </p:sp>
      <p:sp>
        <p:nvSpPr>
          <p:cNvPr id="4" name="01">
            <a:extLst xmlns:a="http://schemas.openxmlformats.org/drawingml/2006/main">
              <a:ext uri="{FF2B5EF4-FFF2-40B4-BE49-F238E27FC236}">
                <a16:creationId xmlns:a16="http://schemas.microsoft.com/office/drawing/2014/main" id="{B5052A30-7C8D-415A-B736-35F57B52D27C}"/>
              </a:ext>
            </a:extLst>
          </p:cNvPr>
          <p:cNvSpPr>
            <a:spLocks xmlns:a="http://schemas.openxmlformats.org/drawingml/2006/main" noGrp="1"/>
          </p:cNvSpPr>
          <p:nvPr/>
        </p:nvSpPr>
        <p:spPr>
          <a:xfrm xmlns:a="http://schemas.openxmlformats.org/drawingml/2006/main">
            <a:off x="609600" y="1562100"/>
            <a:ext cx="685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6D47D9"/>
                </a:solidFill>
                <a:latin typeface="Arial"/>
                <a:ea typeface="Arial"/>
                <a:cs typeface="Arial"/>
              </a:defRPr>
            </a:defPPr>
          </a:lstStyle>
          <a:p xmlns:a="http://schemas.openxmlformats.org/drawingml/2006/main">
            <a:pPr>
              <a:defRPr sz="2850" b="1">
                <a:solidFill>
                  <a:srgbClr val="6D47D9"/>
                </a:solidFill>
                <a:latin typeface="Arial"/>
                <a:ea typeface="Arial"/>
                <a:cs typeface="Arial"/>
              </a:defRPr>
            </a:pPr>
            <a:r>
              <a:rPr sz="2850" b="1">
                <a:solidFill>
                  <a:srgbClr val="6D47D9"/>
                </a:solidFill>
                <a:latin typeface="Arial"/>
                <a:ea typeface="Arial"/>
                <a:cs typeface="Arial"/>
              </a:rPr>
              <a:t>01</a:t>
            </a:r>
          </a:p>
        </p:txBody>
      </p:sp>
      <p:sp>
        <p:nvSpPr>
          <p:cNvPr id="5" name="Discover">
            <a:extLst xmlns:a="http://schemas.openxmlformats.org/drawingml/2006/main">
              <a:ext uri="{FF2B5EF4-FFF2-40B4-BE49-F238E27FC236}">
                <a16:creationId xmlns:a16="http://schemas.microsoft.com/office/drawing/2014/main" id="{C15B2D07-B547-488E-AD1C-3DC5E85A76B8}"/>
              </a:ext>
            </a:extLst>
          </p:cNvPr>
          <p:cNvSpPr>
            <a:spLocks xmlns:a="http://schemas.openxmlformats.org/drawingml/2006/main" noGrp="1"/>
          </p:cNvSpPr>
          <p:nvPr/>
        </p:nvSpPr>
        <p:spPr>
          <a:xfrm xmlns:a="http://schemas.openxmlformats.org/drawingml/2006/main">
            <a:off x="1657350" y="156210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039"/>
                </a:solidFill>
                <a:latin typeface="Arial"/>
                <a:ea typeface="Arial"/>
                <a:cs typeface="Arial"/>
              </a:defRPr>
            </a:defPPr>
          </a:lstStyle>
          <a:p xmlns:a="http://schemas.openxmlformats.org/drawingml/2006/main">
            <a:pPr>
              <a:defRPr sz="2250" b="1">
                <a:solidFill>
                  <a:srgbClr val="172039"/>
                </a:solidFill>
                <a:latin typeface="Arial"/>
                <a:ea typeface="Arial"/>
                <a:cs typeface="Arial"/>
              </a:defRPr>
            </a:pPr>
            <a:r>
              <a:rPr sz="2250" b="1">
                <a:solidFill>
                  <a:srgbClr val="172039"/>
                </a:solidFill>
                <a:latin typeface="Arial"/>
                <a:ea typeface="Arial"/>
                <a:cs typeface="Arial"/>
              </a:rPr>
              <a:t>Discover</a:t>
            </a:r>
          </a:p>
        </p:txBody>
      </p:sp>
      <p:sp>
        <p:nvSpPr>
          <p:cNvPr id="6" name="Set skills and goals, then review ranked mentors">
            <a:extLst xmlns:a="http://schemas.openxmlformats.org/drawingml/2006/main">
              <a:ext uri="{FF2B5EF4-FFF2-40B4-BE49-F238E27FC236}">
                <a16:creationId xmlns:a16="http://schemas.microsoft.com/office/drawing/2014/main" id="{F3DB01E7-75A8-442C-A270-B49F01EDB10C}"/>
              </a:ext>
            </a:extLst>
          </p:cNvPr>
          <p:cNvSpPr>
            <a:spLocks xmlns:a="http://schemas.openxmlformats.org/drawingml/2006/main" noGrp="1"/>
          </p:cNvSpPr>
          <p:nvPr/>
        </p:nvSpPr>
        <p:spPr>
          <a:xfrm xmlns:a="http://schemas.openxmlformats.org/drawingml/2006/main">
            <a:off x="4257675" y="1600200"/>
            <a:ext cx="7324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B667C"/>
                </a:solidFill>
                <a:latin typeface="Arial"/>
                <a:ea typeface="Arial"/>
                <a:cs typeface="Arial"/>
              </a:defRPr>
            </a:defPPr>
          </a:lstStyle>
          <a:p xmlns:a="http://schemas.openxmlformats.org/drawingml/2006/main">
            <a:pPr>
              <a:defRPr sz="1875" b="0">
                <a:solidFill>
                  <a:srgbClr val="5B667C"/>
                </a:solidFill>
                <a:latin typeface="Arial"/>
                <a:ea typeface="Arial"/>
                <a:cs typeface="Arial"/>
              </a:defRPr>
            </a:pPr>
            <a:r>
              <a:rPr sz="1875" b="0">
                <a:solidFill>
                  <a:srgbClr val="5B667C"/>
                </a:solidFill>
                <a:latin typeface="Arial"/>
                <a:ea typeface="Arial"/>
                <a:cs typeface="Arial"/>
              </a:rPr>
              <a:t>Set skills and goals, then review ranked mentors</a:t>
            </a:r>
          </a:p>
        </p:txBody>
      </p:sp>
      <p:sp>
        <p:nvSpPr>
          <p:cNvPr id="7" name="02">
            <a:extLst xmlns:a="http://schemas.openxmlformats.org/drawingml/2006/main">
              <a:ext uri="{FF2B5EF4-FFF2-40B4-BE49-F238E27FC236}">
                <a16:creationId xmlns:a16="http://schemas.microsoft.com/office/drawing/2014/main" id="{331104CC-2FB9-4091-B443-66237CF49E82}"/>
              </a:ext>
            </a:extLst>
          </p:cNvPr>
          <p:cNvSpPr>
            <a:spLocks xmlns:a="http://schemas.openxmlformats.org/drawingml/2006/main" noGrp="1"/>
          </p:cNvSpPr>
          <p:nvPr/>
        </p:nvSpPr>
        <p:spPr>
          <a:xfrm xmlns:a="http://schemas.openxmlformats.org/drawingml/2006/main">
            <a:off x="609600" y="2457450"/>
            <a:ext cx="685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6D47D9"/>
                </a:solidFill>
                <a:latin typeface="Arial"/>
                <a:ea typeface="Arial"/>
                <a:cs typeface="Arial"/>
              </a:defRPr>
            </a:defPPr>
          </a:lstStyle>
          <a:p xmlns:a="http://schemas.openxmlformats.org/drawingml/2006/main">
            <a:pPr>
              <a:defRPr sz="2850" b="1">
                <a:solidFill>
                  <a:srgbClr val="6D47D9"/>
                </a:solidFill>
                <a:latin typeface="Arial"/>
                <a:ea typeface="Arial"/>
                <a:cs typeface="Arial"/>
              </a:defRPr>
            </a:pPr>
            <a:r>
              <a:rPr sz="2850" b="1">
                <a:solidFill>
                  <a:srgbClr val="6D47D9"/>
                </a:solidFill>
                <a:latin typeface="Arial"/>
                <a:ea typeface="Arial"/>
                <a:cs typeface="Arial"/>
              </a:rPr>
              <a:t>02</a:t>
            </a:r>
          </a:p>
        </p:txBody>
      </p:sp>
      <p:sp>
        <p:nvSpPr>
          <p:cNvPr id="8" name="Request">
            <a:extLst xmlns:a="http://schemas.openxmlformats.org/drawingml/2006/main">
              <a:ext uri="{FF2B5EF4-FFF2-40B4-BE49-F238E27FC236}">
                <a16:creationId xmlns:a16="http://schemas.microsoft.com/office/drawing/2014/main" id="{CB18C380-D9C1-4462-B803-911FF0C0D6E4}"/>
              </a:ext>
            </a:extLst>
          </p:cNvPr>
          <p:cNvSpPr>
            <a:spLocks xmlns:a="http://schemas.openxmlformats.org/drawingml/2006/main" noGrp="1"/>
          </p:cNvSpPr>
          <p:nvPr/>
        </p:nvSpPr>
        <p:spPr>
          <a:xfrm xmlns:a="http://schemas.openxmlformats.org/drawingml/2006/main">
            <a:off x="1657350" y="245745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039"/>
                </a:solidFill>
                <a:latin typeface="Arial"/>
                <a:ea typeface="Arial"/>
                <a:cs typeface="Arial"/>
              </a:defRPr>
            </a:defPPr>
          </a:lstStyle>
          <a:p xmlns:a="http://schemas.openxmlformats.org/drawingml/2006/main">
            <a:pPr>
              <a:defRPr sz="2250" b="1">
                <a:solidFill>
                  <a:srgbClr val="172039"/>
                </a:solidFill>
                <a:latin typeface="Arial"/>
                <a:ea typeface="Arial"/>
                <a:cs typeface="Arial"/>
              </a:defRPr>
            </a:pPr>
            <a:r>
              <a:rPr sz="2250" b="1">
                <a:solidFill>
                  <a:srgbClr val="172039"/>
                </a:solidFill>
                <a:latin typeface="Arial"/>
                <a:ea typeface="Arial"/>
                <a:cs typeface="Arial"/>
              </a:rPr>
              <a:t>Request</a:t>
            </a:r>
          </a:p>
        </p:txBody>
      </p:sp>
      <p:sp>
        <p:nvSpPr>
          <p:cNvPr id="9" name="Send a standard or priority request with learning ">
            <a:extLst xmlns:a="http://schemas.openxmlformats.org/drawingml/2006/main">
              <a:ext uri="{FF2B5EF4-FFF2-40B4-BE49-F238E27FC236}">
                <a16:creationId xmlns:a16="http://schemas.microsoft.com/office/drawing/2014/main" id="{64FF5085-5B67-4E05-A91E-E664F8235A11}"/>
              </a:ext>
            </a:extLst>
          </p:cNvPr>
          <p:cNvSpPr>
            <a:spLocks xmlns:a="http://schemas.openxmlformats.org/drawingml/2006/main" noGrp="1"/>
          </p:cNvSpPr>
          <p:nvPr/>
        </p:nvSpPr>
        <p:spPr>
          <a:xfrm xmlns:a="http://schemas.openxmlformats.org/drawingml/2006/main">
            <a:off x="4257675" y="2495550"/>
            <a:ext cx="7324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B667C"/>
                </a:solidFill>
                <a:latin typeface="Arial"/>
                <a:ea typeface="Arial"/>
                <a:cs typeface="Arial"/>
              </a:defRPr>
            </a:defPPr>
          </a:lstStyle>
          <a:p xmlns:a="http://schemas.openxmlformats.org/drawingml/2006/main">
            <a:pPr>
              <a:defRPr sz="1875" b="0">
                <a:solidFill>
                  <a:srgbClr val="5B667C"/>
                </a:solidFill>
                <a:latin typeface="Arial"/>
                <a:ea typeface="Arial"/>
                <a:cs typeface="Arial"/>
              </a:defRPr>
            </a:pPr>
            <a:r>
              <a:rPr sz="1875" b="0">
                <a:solidFill>
                  <a:srgbClr val="5B667C"/>
                </a:solidFill>
                <a:latin typeface="Arial"/>
                <a:ea typeface="Arial"/>
                <a:cs typeface="Arial"/>
              </a:rPr>
              <a:t>Send a standard or priority request with learning goals</a:t>
            </a:r>
          </a:p>
        </p:txBody>
      </p:sp>
      <p:sp>
        <p:nvSpPr>
          <p:cNvPr id="10" name="03">
            <a:extLst xmlns:a="http://schemas.openxmlformats.org/drawingml/2006/main">
              <a:ext uri="{FF2B5EF4-FFF2-40B4-BE49-F238E27FC236}">
                <a16:creationId xmlns:a16="http://schemas.microsoft.com/office/drawing/2014/main" id="{4AFA608D-557E-4392-AEDF-FDF3637449A0}"/>
              </a:ext>
            </a:extLst>
          </p:cNvPr>
          <p:cNvSpPr>
            <a:spLocks xmlns:a="http://schemas.openxmlformats.org/drawingml/2006/main" noGrp="1"/>
          </p:cNvSpPr>
          <p:nvPr/>
        </p:nvSpPr>
        <p:spPr>
          <a:xfrm xmlns:a="http://schemas.openxmlformats.org/drawingml/2006/main">
            <a:off x="609600" y="3352800"/>
            <a:ext cx="685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6D47D9"/>
                </a:solidFill>
                <a:latin typeface="Arial"/>
                <a:ea typeface="Arial"/>
                <a:cs typeface="Arial"/>
              </a:defRPr>
            </a:defPPr>
          </a:lstStyle>
          <a:p xmlns:a="http://schemas.openxmlformats.org/drawingml/2006/main">
            <a:pPr>
              <a:defRPr sz="2850" b="1">
                <a:solidFill>
                  <a:srgbClr val="6D47D9"/>
                </a:solidFill>
                <a:latin typeface="Arial"/>
                <a:ea typeface="Arial"/>
                <a:cs typeface="Arial"/>
              </a:defRPr>
            </a:pPr>
            <a:r>
              <a:rPr sz="2850" b="1">
                <a:solidFill>
                  <a:srgbClr val="6D47D9"/>
                </a:solidFill>
                <a:latin typeface="Arial"/>
                <a:ea typeface="Arial"/>
                <a:cs typeface="Arial"/>
              </a:rPr>
              <a:t>03</a:t>
            </a:r>
          </a:p>
        </p:txBody>
      </p:sp>
      <p:sp>
        <p:nvSpPr>
          <p:cNvPr id="11" name="Review">
            <a:extLst xmlns:a="http://schemas.openxmlformats.org/drawingml/2006/main">
              <a:ext uri="{FF2B5EF4-FFF2-40B4-BE49-F238E27FC236}">
                <a16:creationId xmlns:a16="http://schemas.microsoft.com/office/drawing/2014/main" id="{93413786-080E-4BA2-8B7B-07EF4AE234B3}"/>
              </a:ext>
            </a:extLst>
          </p:cNvPr>
          <p:cNvSpPr>
            <a:spLocks xmlns:a="http://schemas.openxmlformats.org/drawingml/2006/main" noGrp="1"/>
          </p:cNvSpPr>
          <p:nvPr/>
        </p:nvSpPr>
        <p:spPr>
          <a:xfrm xmlns:a="http://schemas.openxmlformats.org/drawingml/2006/main">
            <a:off x="1657350" y="335280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039"/>
                </a:solidFill>
                <a:latin typeface="Arial"/>
                <a:ea typeface="Arial"/>
                <a:cs typeface="Arial"/>
              </a:defRPr>
            </a:defPPr>
          </a:lstStyle>
          <a:p xmlns:a="http://schemas.openxmlformats.org/drawingml/2006/main">
            <a:pPr>
              <a:defRPr sz="2250" b="1">
                <a:solidFill>
                  <a:srgbClr val="172039"/>
                </a:solidFill>
                <a:latin typeface="Arial"/>
                <a:ea typeface="Arial"/>
                <a:cs typeface="Arial"/>
              </a:defRPr>
            </a:pPr>
            <a:r>
              <a:rPr sz="2250" b="1">
                <a:solidFill>
                  <a:srgbClr val="172039"/>
                </a:solidFill>
                <a:latin typeface="Arial"/>
                <a:ea typeface="Arial"/>
                <a:cs typeface="Arial"/>
              </a:rPr>
              <a:t>Review</a:t>
            </a:r>
          </a:p>
        </p:txBody>
      </p:sp>
      <p:sp>
        <p:nvSpPr>
          <p:cNvPr id="12" name="Mentor accepts or rejects the pending request">
            <a:extLst xmlns:a="http://schemas.openxmlformats.org/drawingml/2006/main">
              <a:ext uri="{FF2B5EF4-FFF2-40B4-BE49-F238E27FC236}">
                <a16:creationId xmlns:a16="http://schemas.microsoft.com/office/drawing/2014/main" id="{78BB78F4-7828-4D63-92BB-7C5A6C219375}"/>
              </a:ext>
            </a:extLst>
          </p:cNvPr>
          <p:cNvSpPr>
            <a:spLocks xmlns:a="http://schemas.openxmlformats.org/drawingml/2006/main" noGrp="1"/>
          </p:cNvSpPr>
          <p:nvPr/>
        </p:nvSpPr>
        <p:spPr>
          <a:xfrm xmlns:a="http://schemas.openxmlformats.org/drawingml/2006/main">
            <a:off x="4257675" y="3390900"/>
            <a:ext cx="7324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B667C"/>
                </a:solidFill>
                <a:latin typeface="Arial"/>
                <a:ea typeface="Arial"/>
                <a:cs typeface="Arial"/>
              </a:defRPr>
            </a:defPPr>
          </a:lstStyle>
          <a:p xmlns:a="http://schemas.openxmlformats.org/drawingml/2006/main">
            <a:pPr>
              <a:defRPr sz="1875" b="0">
                <a:solidFill>
                  <a:srgbClr val="5B667C"/>
                </a:solidFill>
                <a:latin typeface="Arial"/>
                <a:ea typeface="Arial"/>
                <a:cs typeface="Arial"/>
              </a:defRPr>
            </a:pPr>
            <a:r>
              <a:rPr sz="1875" b="0">
                <a:solidFill>
                  <a:srgbClr val="5B667C"/>
                </a:solidFill>
                <a:latin typeface="Arial"/>
                <a:ea typeface="Arial"/>
                <a:cs typeface="Arial"/>
              </a:rPr>
              <a:t>Mentor accepts or rejects the pending request</a:t>
            </a:r>
          </a:p>
        </p:txBody>
      </p:sp>
      <p:sp>
        <p:nvSpPr>
          <p:cNvPr id="13" name="04">
            <a:extLst xmlns:a="http://schemas.openxmlformats.org/drawingml/2006/main">
              <a:ext uri="{FF2B5EF4-FFF2-40B4-BE49-F238E27FC236}">
                <a16:creationId xmlns:a16="http://schemas.microsoft.com/office/drawing/2014/main" id="{5D96E6A0-905B-49CC-9012-0B38B1587922}"/>
              </a:ext>
            </a:extLst>
          </p:cNvPr>
          <p:cNvSpPr>
            <a:spLocks xmlns:a="http://schemas.openxmlformats.org/drawingml/2006/main" noGrp="1"/>
          </p:cNvSpPr>
          <p:nvPr/>
        </p:nvSpPr>
        <p:spPr>
          <a:xfrm xmlns:a="http://schemas.openxmlformats.org/drawingml/2006/main">
            <a:off x="609600" y="4248150"/>
            <a:ext cx="685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6D47D9"/>
                </a:solidFill>
                <a:latin typeface="Arial"/>
                <a:ea typeface="Arial"/>
                <a:cs typeface="Arial"/>
              </a:defRPr>
            </a:defPPr>
          </a:lstStyle>
          <a:p xmlns:a="http://schemas.openxmlformats.org/drawingml/2006/main">
            <a:pPr>
              <a:defRPr sz="2850" b="1">
                <a:solidFill>
                  <a:srgbClr val="6D47D9"/>
                </a:solidFill>
                <a:latin typeface="Arial"/>
                <a:ea typeface="Arial"/>
                <a:cs typeface="Arial"/>
              </a:defRPr>
            </a:pPr>
            <a:r>
              <a:rPr sz="2850" b="1">
                <a:solidFill>
                  <a:srgbClr val="6D47D9"/>
                </a:solidFill>
                <a:latin typeface="Arial"/>
                <a:ea typeface="Arial"/>
                <a:cs typeface="Arial"/>
              </a:rPr>
              <a:t>04</a:t>
            </a:r>
          </a:p>
        </p:txBody>
      </p:sp>
      <p:sp>
        <p:nvSpPr>
          <p:cNvPr id="14" name="Collaborate">
            <a:extLst xmlns:a="http://schemas.openxmlformats.org/drawingml/2006/main">
              <a:ext uri="{FF2B5EF4-FFF2-40B4-BE49-F238E27FC236}">
                <a16:creationId xmlns:a16="http://schemas.microsoft.com/office/drawing/2014/main" id="{9A510AC8-D29E-4C8E-9D2F-086AAE8E821B}"/>
              </a:ext>
            </a:extLst>
          </p:cNvPr>
          <p:cNvSpPr>
            <a:spLocks xmlns:a="http://schemas.openxmlformats.org/drawingml/2006/main" noGrp="1"/>
          </p:cNvSpPr>
          <p:nvPr/>
        </p:nvSpPr>
        <p:spPr>
          <a:xfrm xmlns:a="http://schemas.openxmlformats.org/drawingml/2006/main">
            <a:off x="1657350" y="424815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039"/>
                </a:solidFill>
                <a:latin typeface="Arial"/>
                <a:ea typeface="Arial"/>
                <a:cs typeface="Arial"/>
              </a:defRPr>
            </a:defPPr>
          </a:lstStyle>
          <a:p xmlns:a="http://schemas.openxmlformats.org/drawingml/2006/main">
            <a:pPr>
              <a:defRPr sz="2250" b="1">
                <a:solidFill>
                  <a:srgbClr val="172039"/>
                </a:solidFill>
                <a:latin typeface="Arial"/>
                <a:ea typeface="Arial"/>
                <a:cs typeface="Arial"/>
              </a:defRPr>
            </a:pPr>
            <a:r>
              <a:rPr sz="2250" b="1">
                <a:solidFill>
                  <a:srgbClr val="172039"/>
                </a:solidFill>
                <a:latin typeface="Arial"/>
                <a:ea typeface="Arial"/>
                <a:cs typeface="Arial"/>
              </a:rPr>
              <a:t>Collaborate</a:t>
            </a:r>
          </a:p>
        </p:txBody>
      </p:sp>
      <p:sp>
        <p:nvSpPr>
          <p:cNvPr id="15" name="Use sessions, milestones, resources and discussion">
            <a:extLst xmlns:a="http://schemas.openxmlformats.org/drawingml/2006/main">
              <a:ext uri="{FF2B5EF4-FFF2-40B4-BE49-F238E27FC236}">
                <a16:creationId xmlns:a16="http://schemas.microsoft.com/office/drawing/2014/main" id="{AF168D86-8952-4F2B-A820-6B99F1C17724}"/>
              </a:ext>
            </a:extLst>
          </p:cNvPr>
          <p:cNvSpPr>
            <a:spLocks xmlns:a="http://schemas.openxmlformats.org/drawingml/2006/main" noGrp="1"/>
          </p:cNvSpPr>
          <p:nvPr/>
        </p:nvSpPr>
        <p:spPr>
          <a:xfrm xmlns:a="http://schemas.openxmlformats.org/drawingml/2006/main">
            <a:off x="4257675" y="4286250"/>
            <a:ext cx="7324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B667C"/>
                </a:solidFill>
                <a:latin typeface="Arial"/>
                <a:ea typeface="Arial"/>
                <a:cs typeface="Arial"/>
              </a:defRPr>
            </a:defPPr>
          </a:lstStyle>
          <a:p xmlns:a="http://schemas.openxmlformats.org/drawingml/2006/main">
            <a:pPr>
              <a:defRPr sz="1875" b="0">
                <a:solidFill>
                  <a:srgbClr val="5B667C"/>
                </a:solidFill>
                <a:latin typeface="Arial"/>
                <a:ea typeface="Arial"/>
                <a:cs typeface="Arial"/>
              </a:defRPr>
            </a:pPr>
            <a:r>
              <a:rPr sz="1875" b="0">
                <a:solidFill>
                  <a:srgbClr val="5B667C"/>
                </a:solidFill>
                <a:latin typeface="Arial"/>
                <a:ea typeface="Arial"/>
                <a:cs typeface="Arial"/>
              </a:rPr>
              <a:t>Use sessions, milestones, resources and discussions</a:t>
            </a:r>
          </a:p>
        </p:txBody>
      </p:sp>
      <p:sp>
        <p:nvSpPr>
          <p:cNvPr id="16" name="05">
            <a:extLst xmlns:a="http://schemas.openxmlformats.org/drawingml/2006/main">
              <a:ext uri="{FF2B5EF4-FFF2-40B4-BE49-F238E27FC236}">
                <a16:creationId xmlns:a16="http://schemas.microsoft.com/office/drawing/2014/main" id="{88C4A298-975E-467D-AEB0-FC3591A50751}"/>
              </a:ext>
            </a:extLst>
          </p:cNvPr>
          <p:cNvSpPr>
            <a:spLocks xmlns:a="http://schemas.openxmlformats.org/drawingml/2006/main" noGrp="1"/>
          </p:cNvSpPr>
          <p:nvPr/>
        </p:nvSpPr>
        <p:spPr>
          <a:xfrm xmlns:a="http://schemas.openxmlformats.org/drawingml/2006/main">
            <a:off x="609600" y="5143500"/>
            <a:ext cx="685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6D47D9"/>
                </a:solidFill>
                <a:latin typeface="Arial"/>
                <a:ea typeface="Arial"/>
                <a:cs typeface="Arial"/>
              </a:defRPr>
            </a:defPPr>
          </a:lstStyle>
          <a:p xmlns:a="http://schemas.openxmlformats.org/drawingml/2006/main">
            <a:pPr>
              <a:defRPr sz="2850" b="1">
                <a:solidFill>
                  <a:srgbClr val="6D47D9"/>
                </a:solidFill>
                <a:latin typeface="Arial"/>
                <a:ea typeface="Arial"/>
                <a:cs typeface="Arial"/>
              </a:defRPr>
            </a:pPr>
            <a:r>
              <a:rPr sz="2850" b="1">
                <a:solidFill>
                  <a:srgbClr val="6D47D9"/>
                </a:solidFill>
                <a:latin typeface="Arial"/>
                <a:ea typeface="Arial"/>
                <a:cs typeface="Arial"/>
              </a:rPr>
              <a:t>05</a:t>
            </a:r>
          </a:p>
        </p:txBody>
      </p:sp>
      <p:sp>
        <p:nvSpPr>
          <p:cNvPr id="17" name="Complete">
            <a:extLst xmlns:a="http://schemas.openxmlformats.org/drawingml/2006/main">
              <a:ext uri="{FF2B5EF4-FFF2-40B4-BE49-F238E27FC236}">
                <a16:creationId xmlns:a16="http://schemas.microsoft.com/office/drawing/2014/main" id="{1090BD7D-9497-4A56-A5FA-5052ABA9C7B4}"/>
              </a:ext>
            </a:extLst>
          </p:cNvPr>
          <p:cNvSpPr>
            <a:spLocks xmlns:a="http://schemas.openxmlformats.org/drawingml/2006/main" noGrp="1"/>
          </p:cNvSpPr>
          <p:nvPr/>
        </p:nvSpPr>
        <p:spPr>
          <a:xfrm xmlns:a="http://schemas.openxmlformats.org/drawingml/2006/main">
            <a:off x="1657350" y="5143500"/>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039"/>
                </a:solidFill>
                <a:latin typeface="Arial"/>
                <a:ea typeface="Arial"/>
                <a:cs typeface="Arial"/>
              </a:defRPr>
            </a:defPPr>
          </a:lstStyle>
          <a:p xmlns:a="http://schemas.openxmlformats.org/drawingml/2006/main">
            <a:pPr>
              <a:defRPr sz="2250" b="1">
                <a:solidFill>
                  <a:srgbClr val="172039"/>
                </a:solidFill>
                <a:latin typeface="Arial"/>
                <a:ea typeface="Arial"/>
                <a:cs typeface="Arial"/>
              </a:defRPr>
            </a:pPr>
            <a:r>
              <a:rPr sz="2250" b="1">
                <a:solidFill>
                  <a:srgbClr val="172039"/>
                </a:solidFill>
                <a:latin typeface="Arial"/>
                <a:ea typeface="Arial"/>
                <a:cs typeface="Arial"/>
              </a:rPr>
              <a:t>Complete</a:t>
            </a:r>
          </a:p>
        </p:txBody>
      </p:sp>
      <p:sp>
        <p:nvSpPr>
          <p:cNvPr id="18" name="Mark complete, exchange feedback and print the cer">
            <a:extLst xmlns:a="http://schemas.openxmlformats.org/drawingml/2006/main">
              <a:ext uri="{FF2B5EF4-FFF2-40B4-BE49-F238E27FC236}">
                <a16:creationId xmlns:a16="http://schemas.microsoft.com/office/drawing/2014/main" id="{1CDE3D0C-58EE-41F4-A55C-0B015B8892BE}"/>
              </a:ext>
            </a:extLst>
          </p:cNvPr>
          <p:cNvSpPr>
            <a:spLocks xmlns:a="http://schemas.openxmlformats.org/drawingml/2006/main" noGrp="1"/>
          </p:cNvSpPr>
          <p:nvPr/>
        </p:nvSpPr>
        <p:spPr>
          <a:xfrm xmlns:a="http://schemas.openxmlformats.org/drawingml/2006/main">
            <a:off x="4257675" y="5181600"/>
            <a:ext cx="7324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B667C"/>
                </a:solidFill>
                <a:latin typeface="Arial"/>
                <a:ea typeface="Arial"/>
                <a:cs typeface="Arial"/>
              </a:defRPr>
            </a:defPPr>
          </a:lstStyle>
          <a:p xmlns:a="http://schemas.openxmlformats.org/drawingml/2006/main">
            <a:pPr>
              <a:defRPr sz="1875" b="0">
                <a:solidFill>
                  <a:srgbClr val="5B667C"/>
                </a:solidFill>
                <a:latin typeface="Arial"/>
                <a:ea typeface="Arial"/>
                <a:cs typeface="Arial"/>
              </a:defRPr>
            </a:pPr>
            <a:r>
              <a:rPr sz="1875" b="0">
                <a:solidFill>
                  <a:srgbClr val="5B667C"/>
                </a:solidFill>
                <a:latin typeface="Arial"/>
                <a:ea typeface="Arial"/>
                <a:cs typeface="Arial"/>
              </a:rPr>
              <a:t>Mark complete, exchange feedback and print the certificate</a:t>
            </a:r>
          </a:p>
        </p:txBody>
      </p:sp>
    </p:spTree>
    <p:extLst>
      <p:ext uri="{BB962C8B-B14F-4D97-AF65-F5344CB8AC3E}">
        <p14:creationId xmlns:p14="http://schemas.microsoft.com/office/powerpoint/2010/main" val="595866698"/>
      </p:ext>
    </p:extLst>
  </p:cSld>
</p:sld>
</file>

<file path=ppt/slides/slide6.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15" name="Transparent matching rules">
            <a:extLst xmlns:a="http://schemas.openxmlformats.org/drawingml/2006/main">
              <a:ext uri="{FF2B5EF4-FFF2-40B4-BE49-F238E27FC236}">
                <a16:creationId xmlns:a16="http://schemas.microsoft.com/office/drawing/2014/main" id="{848E8BBF-67F0-44C8-AA52-3DE7EDE3B66A}"/>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Transparent matching rules</a:t>
            </a:r>
          </a:p>
        </p:txBody>
      </p:sp>
      <p:sp>
        <p:nvSpPr>
          <p:cNvPr id="2" name="IIIT Kottayam">
            <a:extLst xmlns:a="http://schemas.openxmlformats.org/drawingml/2006/main">
              <a:ext uri="{FF2B5EF4-FFF2-40B4-BE49-F238E27FC236}">
                <a16:creationId xmlns:a16="http://schemas.microsoft.com/office/drawing/2014/main" id="{54557004-A012-4CA4-B355-55F057C1DE28}"/>
              </a:ext>
            </a:extLst>
          </p:cNvPr>
          <p:cNvSpPr>
            <a:spLocks xmlns:a="http://schemas.openxmlformats.org/drawingml/2006/main" noGrp="1"/>
          </p:cNvSpPr>
          <p:nvPr/>
        </p:nvSpPr>
        <p:spPr>
          <a:xfrm xmlns:a="http://schemas.openxmlformats.org/drawingml/2006/main">
            <a:off x="609600" y="6429375"/>
            <a:ext cx="381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BC3D7"/>
                </a:solidFill>
                <a:latin typeface="Arial"/>
                <a:ea typeface="Arial"/>
                <a:cs typeface="Arial"/>
              </a:defRPr>
            </a:defPPr>
          </a:lstStyle>
          <a:p xmlns:a="http://schemas.openxmlformats.org/drawingml/2006/main">
            <a:pPr>
              <a:defRPr sz="1125" b="0">
                <a:solidFill>
                  <a:srgbClr val="BBC3D7"/>
                </a:solidFill>
                <a:latin typeface="Arial"/>
                <a:ea typeface="Arial"/>
                <a:cs typeface="Arial"/>
              </a:defRPr>
            </a:pPr>
            <a:r>
              <a:rPr sz="1125" b="0">
                <a:solidFill>
                  <a:srgbClr val="BBC3D7"/>
                </a:solidFill>
                <a:latin typeface="Arial"/>
                <a:ea typeface="Arial"/>
                <a:cs typeface="Arial"/>
              </a:rPr>
              <a:t>IIIT Kottayam</a:t>
            </a:r>
          </a:p>
        </p:txBody>
      </p:sp>
      <p:sp>
        <p:nvSpPr>
          <p:cNvPr id="3" name="06">
            <a:extLst xmlns:a="http://schemas.openxmlformats.org/drawingml/2006/main">
              <a:ext uri="{FF2B5EF4-FFF2-40B4-BE49-F238E27FC236}">
                <a16:creationId xmlns:a16="http://schemas.microsoft.com/office/drawing/2014/main" id="{738A5AAE-8EE8-467F-8802-629E2F06B5D5}"/>
              </a:ext>
            </a:extLst>
          </p:cNvPr>
          <p:cNvSpPr>
            <a:spLocks xmlns:a="http://schemas.openxmlformats.org/drawingml/2006/main" noGrp="1"/>
          </p:cNvSpPr>
          <p:nvPr/>
        </p:nvSpPr>
        <p:spPr>
          <a:xfrm xmlns:a="http://schemas.openxmlformats.org/drawingml/2006/main">
            <a:off x="11087100" y="64293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BC3D7"/>
                </a:solidFill>
                <a:latin typeface="Arial"/>
                <a:ea typeface="Arial"/>
                <a:cs typeface="Arial"/>
              </a:defRPr>
            </a:defPPr>
          </a:lstStyle>
          <a:p xmlns:a="http://schemas.openxmlformats.org/drawingml/2006/main">
            <a:pPr>
              <a:defRPr sz="1125" b="0">
                <a:solidFill>
                  <a:srgbClr val="BBC3D7"/>
                </a:solidFill>
                <a:latin typeface="Arial"/>
                <a:ea typeface="Arial"/>
                <a:cs typeface="Arial"/>
              </a:defRPr>
            </a:pPr>
            <a:r>
              <a:rPr sz="1125" b="0">
                <a:solidFill>
                  <a:srgbClr val="BBC3D7"/>
                </a:solidFill>
                <a:latin typeface="Arial"/>
                <a:ea typeface="Arial"/>
                <a:cs typeface="Arial"/>
              </a:rPr>
              <a:t>06</a:t>
            </a:r>
          </a:p>
        </p:txBody>
      </p:sp>
      <p:sp>
        <p:nvSpPr>
          <p:cNvPr id="4" name="50%">
            <a:extLst xmlns:a="http://schemas.openxmlformats.org/drawingml/2006/main">
              <a:ext uri="{FF2B5EF4-FFF2-40B4-BE49-F238E27FC236}">
                <a16:creationId xmlns:a16="http://schemas.microsoft.com/office/drawing/2014/main" id="{02A2858A-4AAE-475A-A79E-621AA8F01332}"/>
              </a:ext>
            </a:extLst>
          </p:cNvPr>
          <p:cNvSpPr>
            <a:spLocks xmlns:a="http://schemas.openxmlformats.org/drawingml/2006/main" noGrp="1"/>
          </p:cNvSpPr>
          <p:nvPr/>
        </p:nvSpPr>
        <p:spPr>
          <a:xfrm xmlns:a="http://schemas.openxmlformats.org/drawingml/2006/main">
            <a:off x="609600" y="1666875"/>
            <a:ext cx="3429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550" b="1">
                <a:solidFill>
                  <a:srgbClr val="C3AFFA"/>
                </a:solidFill>
                <a:latin typeface="Arial"/>
                <a:ea typeface="Arial"/>
                <a:cs typeface="Arial"/>
              </a:defRPr>
            </a:defPPr>
          </a:lstStyle>
          <a:p xmlns:a="http://schemas.openxmlformats.org/drawingml/2006/main">
            <a:pPr>
              <a:defRPr sz="5550" b="1">
                <a:solidFill>
                  <a:srgbClr val="C3AFFA"/>
                </a:solidFill>
                <a:latin typeface="Arial"/>
                <a:ea typeface="Arial"/>
                <a:cs typeface="Arial"/>
              </a:defRPr>
            </a:pPr>
            <a:r>
              <a:rPr sz="5550" b="1">
                <a:solidFill>
                  <a:srgbClr val="C3AFFA"/>
                </a:solidFill>
                <a:latin typeface="Arial"/>
                <a:ea typeface="Arial"/>
                <a:cs typeface="Arial"/>
              </a:rPr>
              <a:t>50%</a:t>
            </a:r>
          </a:p>
        </p:txBody>
      </p:sp>
      <p:sp>
        <p:nvSpPr>
          <p:cNvPr id="5" name="Skill overlap">
            <a:extLst xmlns:a="http://schemas.openxmlformats.org/drawingml/2006/main">
              <a:ext uri="{FF2B5EF4-FFF2-40B4-BE49-F238E27FC236}">
                <a16:creationId xmlns:a16="http://schemas.microsoft.com/office/drawing/2014/main" id="{EA1CB538-EAF4-413C-9CF8-409616BD23B3}"/>
              </a:ext>
            </a:extLst>
          </p:cNvPr>
          <p:cNvSpPr>
            <a:spLocks xmlns:a="http://schemas.openxmlformats.org/drawingml/2006/main" noGrp="1"/>
          </p:cNvSpPr>
          <p:nvPr/>
        </p:nvSpPr>
        <p:spPr>
          <a:xfrm xmlns:a="http://schemas.openxmlformats.org/drawingml/2006/main">
            <a:off x="609600" y="2886075"/>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FFFFFF"/>
                </a:solidFill>
                <a:latin typeface="Arial"/>
                <a:ea typeface="Arial"/>
                <a:cs typeface="Arial"/>
              </a:defRPr>
            </a:def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Skill overlap</a:t>
            </a:r>
          </a:p>
        </p:txBody>
      </p:sp>
      <p:sp>
        <p:nvSpPr>
          <p:cNvPr id="6" name="Shared skills divided by&#10;the learner’s selected sk">
            <a:extLst xmlns:a="http://schemas.openxmlformats.org/drawingml/2006/main">
              <a:ext uri="{FF2B5EF4-FFF2-40B4-BE49-F238E27FC236}">
                <a16:creationId xmlns:a16="http://schemas.microsoft.com/office/drawing/2014/main" id="{BBB2DD30-A08C-42CD-BDB0-6BF54C3533AD}"/>
              </a:ext>
            </a:extLst>
          </p:cNvPr>
          <p:cNvSpPr>
            <a:spLocks xmlns:a="http://schemas.openxmlformats.org/drawingml/2006/main" noGrp="1"/>
          </p:cNvSpPr>
          <p:nvPr/>
        </p:nvSpPr>
        <p:spPr>
          <a:xfrm xmlns:a="http://schemas.openxmlformats.org/drawingml/2006/main">
            <a:off x="609600" y="3533775"/>
            <a:ext cx="342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C3CCDE"/>
                </a:solidFill>
                <a:latin typeface="Arial"/>
                <a:ea typeface="Arial"/>
                <a:cs typeface="Arial"/>
              </a:defRPr>
            </a:defPPr>
          </a:lstStyle>
          <a:p xmlns:a="http://schemas.openxmlformats.org/drawingml/2006/main">
            <a:pPr>
              <a:defRPr sz="1800" b="0">
                <a:solidFill>
                  <a:srgbClr val="C3CCDE"/>
                </a:solidFill>
                <a:latin typeface="Arial"/>
                <a:ea typeface="Arial"/>
                <a:cs typeface="Arial"/>
              </a:defRPr>
            </a:pPr>
            <a:r>
              <a:rPr sz="1800" b="0">
                <a:solidFill>
                  <a:srgbClr val="C3CCDE"/>
                </a:solidFill>
                <a:latin typeface="Arial"/>
                <a:ea typeface="Arial"/>
                <a:cs typeface="Arial"/>
              </a:rPr>
              <a:t>Shared skills divided by</a:t>
            </a:r>
          </a:p>
          <a:p xmlns:a="http://schemas.openxmlformats.org/drawingml/2006/main">
            <a:pPr>
              <a:defRPr sz="1800" b="0">
                <a:solidFill>
                  <a:srgbClr val="C3CCDE"/>
                </a:solidFill>
                <a:latin typeface="Arial"/>
                <a:ea typeface="Arial"/>
                <a:cs typeface="Arial"/>
              </a:defRPr>
            </a:pPr>
            <a:r>
              <a:rPr sz="1800" b="0">
                <a:solidFill>
                  <a:srgbClr val="C3CCDE"/>
                </a:solidFill>
                <a:latin typeface="Arial"/>
                <a:ea typeface="Arial"/>
                <a:cs typeface="Arial"/>
              </a:rPr>
              <a:t>the learner’s selected skills</a:t>
            </a:r>
          </a:p>
        </p:txBody>
      </p:sp>
      <p:sp>
        <p:nvSpPr>
          <p:cNvPr id="7" name="30%">
            <a:extLst xmlns:a="http://schemas.openxmlformats.org/drawingml/2006/main">
              <a:ext uri="{FF2B5EF4-FFF2-40B4-BE49-F238E27FC236}">
                <a16:creationId xmlns:a16="http://schemas.microsoft.com/office/drawing/2014/main" id="{D086D23E-5EB3-4823-9D00-D6B267969C93}"/>
              </a:ext>
            </a:extLst>
          </p:cNvPr>
          <p:cNvSpPr>
            <a:spLocks xmlns:a="http://schemas.openxmlformats.org/drawingml/2006/main" noGrp="1"/>
          </p:cNvSpPr>
          <p:nvPr/>
        </p:nvSpPr>
        <p:spPr>
          <a:xfrm xmlns:a="http://schemas.openxmlformats.org/drawingml/2006/main">
            <a:off x="4362450" y="1666875"/>
            <a:ext cx="3429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550" b="1">
                <a:solidFill>
                  <a:srgbClr val="88D9EE"/>
                </a:solidFill>
                <a:latin typeface="Arial"/>
                <a:ea typeface="Arial"/>
                <a:cs typeface="Arial"/>
              </a:defRPr>
            </a:defPPr>
          </a:lstStyle>
          <a:p xmlns:a="http://schemas.openxmlformats.org/drawingml/2006/main">
            <a:pPr>
              <a:defRPr sz="5550" b="1">
                <a:solidFill>
                  <a:srgbClr val="88D9EE"/>
                </a:solidFill>
                <a:latin typeface="Arial"/>
                <a:ea typeface="Arial"/>
                <a:cs typeface="Arial"/>
              </a:defRPr>
            </a:pPr>
            <a:r>
              <a:rPr sz="5550" b="1">
                <a:solidFill>
                  <a:srgbClr val="88D9EE"/>
                </a:solidFill>
                <a:latin typeface="Arial"/>
                <a:ea typeface="Arial"/>
                <a:cs typeface="Arial"/>
              </a:rPr>
              <a:t>30%</a:t>
            </a:r>
          </a:p>
        </p:txBody>
      </p:sp>
      <p:sp>
        <p:nvSpPr>
          <p:cNvPr id="8" name="Availability">
            <a:extLst xmlns:a="http://schemas.openxmlformats.org/drawingml/2006/main">
              <a:ext uri="{FF2B5EF4-FFF2-40B4-BE49-F238E27FC236}">
                <a16:creationId xmlns:a16="http://schemas.microsoft.com/office/drawing/2014/main" id="{6214AF16-808C-413A-AA70-2C551BE1650D}"/>
              </a:ext>
            </a:extLst>
          </p:cNvPr>
          <p:cNvSpPr>
            <a:spLocks xmlns:a="http://schemas.openxmlformats.org/drawingml/2006/main" noGrp="1"/>
          </p:cNvSpPr>
          <p:nvPr/>
        </p:nvSpPr>
        <p:spPr>
          <a:xfrm xmlns:a="http://schemas.openxmlformats.org/drawingml/2006/main">
            <a:off x="4362450" y="2886075"/>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FFFFFF"/>
                </a:solidFill>
                <a:latin typeface="Arial"/>
                <a:ea typeface="Arial"/>
                <a:cs typeface="Arial"/>
              </a:defRPr>
            </a:def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Availability</a:t>
            </a:r>
          </a:p>
        </p:txBody>
      </p:sp>
      <p:sp>
        <p:nvSpPr>
          <p:cNvPr id="9" name="Exact match, flexible schedule&#10;or a lower compatib">
            <a:extLst xmlns:a="http://schemas.openxmlformats.org/drawingml/2006/main">
              <a:ext uri="{FF2B5EF4-FFF2-40B4-BE49-F238E27FC236}">
                <a16:creationId xmlns:a16="http://schemas.microsoft.com/office/drawing/2014/main" id="{D0F6BAC4-1EBB-420F-8F27-4E9F9EB2C659}"/>
              </a:ext>
            </a:extLst>
          </p:cNvPr>
          <p:cNvSpPr>
            <a:spLocks xmlns:a="http://schemas.openxmlformats.org/drawingml/2006/main" noGrp="1"/>
          </p:cNvSpPr>
          <p:nvPr/>
        </p:nvSpPr>
        <p:spPr>
          <a:xfrm xmlns:a="http://schemas.openxmlformats.org/drawingml/2006/main">
            <a:off x="4362450" y="3533775"/>
            <a:ext cx="342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C3CCDE"/>
                </a:solidFill>
                <a:latin typeface="Arial"/>
                <a:ea typeface="Arial"/>
                <a:cs typeface="Arial"/>
              </a:defRPr>
            </a:defPPr>
          </a:lstStyle>
          <a:p xmlns:a="http://schemas.openxmlformats.org/drawingml/2006/main">
            <a:pPr>
              <a:defRPr sz="1800" b="0">
                <a:solidFill>
                  <a:srgbClr val="C3CCDE"/>
                </a:solidFill>
                <a:latin typeface="Arial"/>
                <a:ea typeface="Arial"/>
                <a:cs typeface="Arial"/>
              </a:defRPr>
            </a:pPr>
            <a:r>
              <a:rPr sz="1800" b="0">
                <a:solidFill>
                  <a:srgbClr val="C3CCDE"/>
                </a:solidFill>
                <a:latin typeface="Arial"/>
                <a:ea typeface="Arial"/>
                <a:cs typeface="Arial"/>
              </a:rPr>
              <a:t>Exact match, flexible schedule</a:t>
            </a:r>
          </a:p>
          <a:p xmlns:a="http://schemas.openxmlformats.org/drawingml/2006/main">
            <a:pPr>
              <a:defRPr sz="1800" b="0">
                <a:solidFill>
                  <a:srgbClr val="C3CCDE"/>
                </a:solidFill>
                <a:latin typeface="Arial"/>
                <a:ea typeface="Arial"/>
                <a:cs typeface="Arial"/>
              </a:defRPr>
            </a:pPr>
            <a:r>
              <a:rPr sz="1800" b="0">
                <a:solidFill>
                  <a:srgbClr val="C3CCDE"/>
                </a:solidFill>
                <a:latin typeface="Arial"/>
                <a:ea typeface="Arial"/>
                <a:cs typeface="Arial"/>
              </a:rPr>
              <a:t>or a lower compatibility score</a:t>
            </a:r>
          </a:p>
        </p:txBody>
      </p:sp>
      <p:sp>
        <p:nvSpPr>
          <p:cNvPr id="10" name="20%">
            <a:extLst xmlns:a="http://schemas.openxmlformats.org/drawingml/2006/main">
              <a:ext uri="{FF2B5EF4-FFF2-40B4-BE49-F238E27FC236}">
                <a16:creationId xmlns:a16="http://schemas.microsoft.com/office/drawing/2014/main" id="{C1EFCBCB-7C20-4592-A68D-12D3B87E1167}"/>
              </a:ext>
            </a:extLst>
          </p:cNvPr>
          <p:cNvSpPr>
            <a:spLocks xmlns:a="http://schemas.openxmlformats.org/drawingml/2006/main" noGrp="1"/>
          </p:cNvSpPr>
          <p:nvPr/>
        </p:nvSpPr>
        <p:spPr>
          <a:xfrm xmlns:a="http://schemas.openxmlformats.org/drawingml/2006/main">
            <a:off x="8115300" y="1666875"/>
            <a:ext cx="3429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550" b="1">
                <a:solidFill>
                  <a:srgbClr val="C3AFFA"/>
                </a:solidFill>
                <a:latin typeface="Arial"/>
                <a:ea typeface="Arial"/>
                <a:cs typeface="Arial"/>
              </a:defRPr>
            </a:defPPr>
          </a:lstStyle>
          <a:p xmlns:a="http://schemas.openxmlformats.org/drawingml/2006/main">
            <a:pPr>
              <a:defRPr sz="5550" b="1">
                <a:solidFill>
                  <a:srgbClr val="C3AFFA"/>
                </a:solidFill>
                <a:latin typeface="Arial"/>
                <a:ea typeface="Arial"/>
                <a:cs typeface="Arial"/>
              </a:defRPr>
            </a:pPr>
            <a:r>
              <a:rPr sz="5550" b="1">
                <a:solidFill>
                  <a:srgbClr val="C3AFFA"/>
                </a:solidFill>
                <a:latin typeface="Arial"/>
                <a:ea typeface="Arial"/>
                <a:cs typeface="Arial"/>
              </a:rPr>
              <a:t>20%</a:t>
            </a:r>
          </a:p>
        </p:txBody>
      </p:sp>
      <p:sp>
        <p:nvSpPr>
          <p:cNvPr id="11" name="Experience">
            <a:extLst xmlns:a="http://schemas.openxmlformats.org/drawingml/2006/main">
              <a:ext uri="{FF2B5EF4-FFF2-40B4-BE49-F238E27FC236}">
                <a16:creationId xmlns:a16="http://schemas.microsoft.com/office/drawing/2014/main" id="{75EA5AF7-9C22-45C1-9195-0452CFBB364B}"/>
              </a:ext>
            </a:extLst>
          </p:cNvPr>
          <p:cNvSpPr>
            <a:spLocks xmlns:a="http://schemas.openxmlformats.org/drawingml/2006/main" noGrp="1"/>
          </p:cNvSpPr>
          <p:nvPr/>
        </p:nvSpPr>
        <p:spPr>
          <a:xfrm xmlns:a="http://schemas.openxmlformats.org/drawingml/2006/main">
            <a:off x="8115300" y="2886075"/>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FFFFFF"/>
                </a:solidFill>
                <a:latin typeface="Arial"/>
                <a:ea typeface="Arial"/>
                <a:cs typeface="Arial"/>
              </a:defRPr>
            </a:def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Experience</a:t>
            </a:r>
          </a:p>
        </p:txBody>
      </p:sp>
      <p:sp>
        <p:nvSpPr>
          <p:cNvPr id="12" name="Highest affinity when the mentor&#10;is one or two lev">
            <a:extLst xmlns:a="http://schemas.openxmlformats.org/drawingml/2006/main">
              <a:ext uri="{FF2B5EF4-FFF2-40B4-BE49-F238E27FC236}">
                <a16:creationId xmlns:a16="http://schemas.microsoft.com/office/drawing/2014/main" id="{8C727BD4-5B36-460D-80C4-022CDBEE793F}"/>
              </a:ext>
            </a:extLst>
          </p:cNvPr>
          <p:cNvSpPr>
            <a:spLocks xmlns:a="http://schemas.openxmlformats.org/drawingml/2006/main" noGrp="1"/>
          </p:cNvSpPr>
          <p:nvPr/>
        </p:nvSpPr>
        <p:spPr>
          <a:xfrm xmlns:a="http://schemas.openxmlformats.org/drawingml/2006/main">
            <a:off x="8115300" y="3533775"/>
            <a:ext cx="342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C3CCDE"/>
                </a:solidFill>
                <a:latin typeface="Arial"/>
                <a:ea typeface="Arial"/>
                <a:cs typeface="Arial"/>
              </a:defRPr>
            </a:defPPr>
          </a:lstStyle>
          <a:p xmlns:a="http://schemas.openxmlformats.org/drawingml/2006/main">
            <a:pPr>
              <a:defRPr sz="1800" b="0">
                <a:solidFill>
                  <a:srgbClr val="C3CCDE"/>
                </a:solidFill>
                <a:latin typeface="Arial"/>
                <a:ea typeface="Arial"/>
                <a:cs typeface="Arial"/>
              </a:defRPr>
            </a:pPr>
            <a:r>
              <a:rPr sz="1800" b="0">
                <a:solidFill>
                  <a:srgbClr val="C3CCDE"/>
                </a:solidFill>
                <a:latin typeface="Arial"/>
                <a:ea typeface="Arial"/>
                <a:cs typeface="Arial"/>
              </a:rPr>
              <a:t>Highest affinity when the mentor</a:t>
            </a:r>
          </a:p>
          <a:p xmlns:a="http://schemas.openxmlformats.org/drawingml/2006/main">
            <a:pPr>
              <a:defRPr sz="1800" b="0">
                <a:solidFill>
                  <a:srgbClr val="C3CCDE"/>
                </a:solidFill>
                <a:latin typeface="Arial"/>
                <a:ea typeface="Arial"/>
                <a:cs typeface="Arial"/>
              </a:defRPr>
            </a:pPr>
            <a:r>
              <a:rPr sz="1800" b="0">
                <a:solidFill>
                  <a:srgbClr val="C3CCDE"/>
                </a:solidFill>
                <a:latin typeface="Arial"/>
                <a:ea typeface="Arial"/>
                <a:cs typeface="Arial"/>
              </a:rPr>
              <a:t>is one or two levels ahead</a:t>
            </a:r>
          </a:p>
        </p:txBody>
      </p:sp>
      <p:sp>
        <p:nvSpPr>
          <p:cNvPr id="13" name="72% example">
            <a:extLst xmlns:a="http://schemas.openxmlformats.org/drawingml/2006/main">
              <a:ext uri="{FF2B5EF4-FFF2-40B4-BE49-F238E27FC236}">
                <a16:creationId xmlns:a16="http://schemas.microsoft.com/office/drawing/2014/main" id="{ABD4CE2E-6FDE-438F-B862-8AE3999A8D17}"/>
              </a:ext>
            </a:extLst>
          </p:cNvPr>
          <p:cNvSpPr>
            <a:spLocks xmlns:a="http://schemas.openxmlformats.org/drawingml/2006/main" noGrp="1"/>
          </p:cNvSpPr>
          <p:nvPr/>
        </p:nvSpPr>
        <p:spPr>
          <a:xfrm xmlns:a="http://schemas.openxmlformats.org/drawingml/2006/main">
            <a:off x="609600" y="5229225"/>
            <a:ext cx="323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FFFFFF"/>
                </a:solidFill>
                <a:latin typeface="Arial"/>
                <a:ea typeface="Arial"/>
                <a:cs typeface="Arial"/>
              </a:defRPr>
            </a:defPPr>
          </a:lstStyle>
          <a:p xmlns:a="http://schemas.openxmlformats.org/drawingml/2006/main">
            <a:pPr>
              <a:defRPr sz="2925" b="1">
                <a:solidFill>
                  <a:srgbClr val="FFFFFF"/>
                </a:solidFill>
                <a:latin typeface="Arial"/>
                <a:ea typeface="Arial"/>
                <a:cs typeface="Arial"/>
              </a:defRPr>
            </a:pPr>
            <a:r>
              <a:rPr sz="2925" b="1">
                <a:solidFill>
                  <a:srgbClr val="FFFFFF"/>
                </a:solidFill>
                <a:latin typeface="Arial"/>
                <a:ea typeface="Arial"/>
                <a:cs typeface="Arial"/>
              </a:rPr>
              <a:t>72% example</a:t>
            </a:r>
          </a:p>
        </p:txBody>
      </p:sp>
      <p:sp>
        <p:nvSpPr>
          <p:cNvPr id="14" name="2 of 4 skills: 25 points   +   flexible: 27   +   ">
            <a:extLst xmlns:a="http://schemas.openxmlformats.org/drawingml/2006/main">
              <a:ext uri="{FF2B5EF4-FFF2-40B4-BE49-F238E27FC236}">
                <a16:creationId xmlns:a16="http://schemas.microsoft.com/office/drawing/2014/main" id="{DCA41525-A2C0-4F82-98FB-A92411F1645C}"/>
              </a:ext>
            </a:extLst>
          </p:cNvPr>
          <p:cNvSpPr>
            <a:spLocks xmlns:a="http://schemas.openxmlformats.org/drawingml/2006/main" noGrp="1"/>
          </p:cNvSpPr>
          <p:nvPr/>
        </p:nvSpPr>
        <p:spPr>
          <a:xfrm xmlns:a="http://schemas.openxmlformats.org/drawingml/2006/main">
            <a:off x="3943350" y="5238750"/>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C3CCDE"/>
                </a:solidFill>
                <a:latin typeface="Arial"/>
                <a:ea typeface="Arial"/>
                <a:cs typeface="Arial"/>
              </a:defRPr>
            </a:defPPr>
          </a:lstStyle>
          <a:p xmlns:a="http://schemas.openxmlformats.org/drawingml/2006/main">
            <a:pPr>
              <a:defRPr sz="1800" b="0">
                <a:solidFill>
                  <a:srgbClr val="C3CCDE"/>
                </a:solidFill>
                <a:latin typeface="Arial"/>
                <a:ea typeface="Arial"/>
                <a:cs typeface="Arial"/>
              </a:defRPr>
            </a:pPr>
            <a:r>
              <a:rPr sz="1800" b="0">
                <a:solidFill>
                  <a:srgbClr val="C3CCDE"/>
                </a:solidFill>
                <a:latin typeface="Arial"/>
                <a:ea typeface="Arial"/>
                <a:cs typeface="Arial"/>
              </a:rPr>
              <a:t>2 of 4 skills: 25 points   +   flexible: 27   +   one level ahead: 20</a:t>
            </a:r>
          </a:p>
        </p:txBody>
      </p:sp>
    </p:spTree>
    <p:extLst>
      <p:ext uri="{BB962C8B-B14F-4D97-AF65-F5344CB8AC3E}">
        <p14:creationId xmlns:p14="http://schemas.microsoft.com/office/powerpoint/2010/main" val="472764331"/>
      </p:ext>
    </p:extLst>
  </p:cSld>
</p:sld>
</file>

<file path=ppt/slides/slide7.xml><?xml version="1.0" encoding="utf-8"?>
<p:sld xmlns:p="http://schemas.openxmlformats.org/presentationml/2006/main">
  <p:cSld>
    <p:bg>
      <p:bgPr>
        <a:solidFill xmlns:a="http://schemas.openxmlformats.org/drawingml/2006/main">
          <a:srgbClr val="F5F5F9"/>
        </a:solidFill>
      </p:bgPr>
    </p:bg>
    <p:spTree>
      <p:nvGrpSpPr>
        <p:cNvPr id="1" name=""/>
        <p:cNvGrpSpPr/>
        <p:nvPr/>
      </p:nvGrpSpPr>
      <p:grpSpPr>
        <a:xfrm xmlns:a="http://schemas.openxmlformats.org/drawingml/2006/main"/>
      </p:grpSpPr>
      <p:sp>
        <p:nvSpPr>
          <p:cNvPr id="11" name="A workspace for each mentorship">
            <a:extLst xmlns:a="http://schemas.openxmlformats.org/drawingml/2006/main">
              <a:ext uri="{FF2B5EF4-FFF2-40B4-BE49-F238E27FC236}">
                <a16:creationId xmlns:a16="http://schemas.microsoft.com/office/drawing/2014/main" id="{6832971C-8C3A-4802-99BA-165A34316F3D}"/>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039"/>
                </a:solidFill>
                <a:latin typeface="Arial"/>
                <a:ea typeface="Arial"/>
                <a:cs typeface="Arial"/>
              </a:defRPr>
            </a:defPPr>
          </a:lstStyle>
          <a:p xmlns:a="http://schemas.openxmlformats.org/drawingml/2006/main">
            <a:pPr>
              <a:defRPr sz="3300" b="1">
                <a:solidFill>
                  <a:srgbClr val="172039"/>
                </a:solidFill>
                <a:latin typeface="Arial"/>
                <a:ea typeface="Arial"/>
                <a:cs typeface="Arial"/>
              </a:defRPr>
            </a:pPr>
            <a:r>
              <a:rPr sz="3300" b="1">
                <a:solidFill>
                  <a:srgbClr val="172039"/>
                </a:solidFill>
                <a:latin typeface="Arial"/>
                <a:ea typeface="Arial"/>
                <a:cs typeface="Arial"/>
              </a:rPr>
              <a:t>A workspace for each mentorship</a:t>
            </a:r>
          </a:p>
        </p:txBody>
      </p:sp>
      <p:sp>
        <p:nvSpPr>
          <p:cNvPr id="2" name="IIIT Kottayam">
            <a:extLst xmlns:a="http://schemas.openxmlformats.org/drawingml/2006/main">
              <a:ext uri="{FF2B5EF4-FFF2-40B4-BE49-F238E27FC236}">
                <a16:creationId xmlns:a16="http://schemas.microsoft.com/office/drawing/2014/main" id="{770765C2-B0B2-4601-AA75-4CB6C1FF1E07}"/>
              </a:ext>
            </a:extLst>
          </p:cNvPr>
          <p:cNvSpPr>
            <a:spLocks xmlns:a="http://schemas.openxmlformats.org/drawingml/2006/main" noGrp="1"/>
          </p:cNvSpPr>
          <p:nvPr/>
        </p:nvSpPr>
        <p:spPr>
          <a:xfrm xmlns:a="http://schemas.openxmlformats.org/drawingml/2006/main">
            <a:off x="609600" y="6429375"/>
            <a:ext cx="381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B667C"/>
                </a:solidFill>
                <a:latin typeface="Arial"/>
                <a:ea typeface="Arial"/>
                <a:cs typeface="Arial"/>
              </a:defRPr>
            </a:defPPr>
          </a:lstStyle>
          <a:p xmlns:a="http://schemas.openxmlformats.org/drawingml/2006/main">
            <a:pPr>
              <a:defRPr sz="1125" b="0">
                <a:solidFill>
                  <a:srgbClr val="5B667C"/>
                </a:solidFill>
                <a:latin typeface="Arial"/>
                <a:ea typeface="Arial"/>
                <a:cs typeface="Arial"/>
              </a:defRPr>
            </a:pPr>
            <a:r>
              <a:rPr sz="1125" b="0">
                <a:solidFill>
                  <a:srgbClr val="5B667C"/>
                </a:solidFill>
                <a:latin typeface="Arial"/>
                <a:ea typeface="Arial"/>
                <a:cs typeface="Arial"/>
              </a:rPr>
              <a:t>IIIT Kottayam</a:t>
            </a:r>
          </a:p>
        </p:txBody>
      </p:sp>
      <p:sp>
        <p:nvSpPr>
          <p:cNvPr id="3" name="07">
            <a:extLst xmlns:a="http://schemas.openxmlformats.org/drawingml/2006/main">
              <a:ext uri="{FF2B5EF4-FFF2-40B4-BE49-F238E27FC236}">
                <a16:creationId xmlns:a16="http://schemas.microsoft.com/office/drawing/2014/main" id="{EFB27BDD-B73E-4C6B-9CB9-A212EC5B6FBB}"/>
              </a:ext>
            </a:extLst>
          </p:cNvPr>
          <p:cNvSpPr>
            <a:spLocks xmlns:a="http://schemas.openxmlformats.org/drawingml/2006/main" noGrp="1"/>
          </p:cNvSpPr>
          <p:nvPr/>
        </p:nvSpPr>
        <p:spPr>
          <a:xfrm xmlns:a="http://schemas.openxmlformats.org/drawingml/2006/main">
            <a:off x="11087100" y="64293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B667C"/>
                </a:solidFill>
                <a:latin typeface="Arial"/>
                <a:ea typeface="Arial"/>
                <a:cs typeface="Arial"/>
              </a:defRPr>
            </a:defPPr>
          </a:lstStyle>
          <a:p xmlns:a="http://schemas.openxmlformats.org/drawingml/2006/main">
            <a:pPr>
              <a:defRPr sz="1125" b="0">
                <a:solidFill>
                  <a:srgbClr val="5B667C"/>
                </a:solidFill>
                <a:latin typeface="Arial"/>
                <a:ea typeface="Arial"/>
                <a:cs typeface="Arial"/>
              </a:defRPr>
            </a:pPr>
            <a:r>
              <a:rPr sz="1125" b="0">
                <a:solidFill>
                  <a:srgbClr val="5B667C"/>
                </a:solidFill>
                <a:latin typeface="Arial"/>
                <a:ea typeface="Arial"/>
                <a:cs typeface="Arial"/>
              </a:rPr>
              <a:t>07</a:t>
            </a:r>
          </a:p>
        </p:txBody>
      </p:sp>
      <p:pic>
        <p:nvPicPr>
          <p:cNvPr id="4" name="">
            <a:extLst xmlns:a="http://schemas.openxmlformats.org/drawingml/2006/main">
              <a:ext uri="{FF2B5EF4-FFF2-40B4-BE49-F238E27FC236}">
                <a16:creationId xmlns:a16="http://schemas.microsoft.com/office/drawing/2014/main" id="{A50C387B-0649-4928-8EE2-283062309EF1}"/>
              </a:ext>
            </a:extLst>
          </p:cNvPr>
          <p:cNvPicPr>
            <a:picLocks xmlns:a="http://schemas.openxmlformats.org/drawingml/2006/main" noChangeAspect="1"/>
          </p:cNvPicPr>
          <p:nvPr/>
        </p:nvPicPr>
        <p:blipFill>
          <a:blip xmlns:r="http://schemas.openxmlformats.org/officeDocument/2006/relationships" xmlns:a="http://schemas.openxmlformats.org/drawingml/2006/main" r:embed="R8789b98004284888"/>
          <a:stretch xmlns:a="http://schemas.openxmlformats.org/drawingml/2006/main"/>
        </p:blipFill>
        <p:spPr>
          <a:xfrm xmlns:a="http://schemas.openxmlformats.org/drawingml/2006/main">
            <a:off x="737256" y="1514475"/>
            <a:ext cx="7212288" cy="4524375"/>
          </a:xfrm>
          <a:prstGeom xmlns:a="http://schemas.openxmlformats.org/drawingml/2006/main" prst="rect">
            <a:avLst/>
          </a:prstGeom>
        </p:spPr>
      </p:pic>
      <p:sp>
        <p:nvSpPr>
          <p:cNvPr id="5" name="Scheduled sessions">
            <a:extLst xmlns:a="http://schemas.openxmlformats.org/drawingml/2006/main">
              <a:ext uri="{FF2B5EF4-FFF2-40B4-BE49-F238E27FC236}">
                <a16:creationId xmlns:a16="http://schemas.microsoft.com/office/drawing/2014/main" id="{3F71B619-F023-492D-AFC2-FFDACD2B1201}"/>
              </a:ext>
            </a:extLst>
          </p:cNvPr>
          <p:cNvSpPr>
            <a:spLocks xmlns:a="http://schemas.openxmlformats.org/drawingml/2006/main" noGrp="1"/>
          </p:cNvSpPr>
          <p:nvPr/>
        </p:nvSpPr>
        <p:spPr>
          <a:xfrm xmlns:a="http://schemas.openxmlformats.org/drawingml/2006/main">
            <a:off x="8467725" y="1581150"/>
            <a:ext cx="31146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6D47D9"/>
                </a:solidFill>
                <a:latin typeface="Arial"/>
                <a:ea typeface="Arial"/>
                <a:cs typeface="Arial"/>
              </a:defRPr>
            </a:defPPr>
          </a:lstStyle>
          <a:p xmlns:a="http://schemas.openxmlformats.org/drawingml/2006/main">
            <a:pPr>
              <a:defRPr sz="2025" b="1">
                <a:solidFill>
                  <a:srgbClr val="6D47D9"/>
                </a:solidFill>
                <a:latin typeface="Arial"/>
                <a:ea typeface="Arial"/>
                <a:cs typeface="Arial"/>
              </a:defRPr>
            </a:pPr>
            <a:r>
              <a:rPr sz="2025" b="1">
                <a:solidFill>
                  <a:srgbClr val="6D47D9"/>
                </a:solidFill>
                <a:latin typeface="Arial"/>
                <a:ea typeface="Arial"/>
                <a:cs typeface="Arial"/>
              </a:rPr>
              <a:t>Scheduled sessions</a:t>
            </a:r>
          </a:p>
        </p:txBody>
      </p:sp>
      <p:sp>
        <p:nvSpPr>
          <p:cNvPr id="6" name="Date, agenda and an&#10;external meeting link">
            <a:extLst xmlns:a="http://schemas.openxmlformats.org/drawingml/2006/main">
              <a:ext uri="{FF2B5EF4-FFF2-40B4-BE49-F238E27FC236}">
                <a16:creationId xmlns:a16="http://schemas.microsoft.com/office/drawing/2014/main" id="{7E4319E6-827D-483F-9580-F968A2DC56A5}"/>
              </a:ext>
            </a:extLst>
          </p:cNvPr>
          <p:cNvSpPr>
            <a:spLocks xmlns:a="http://schemas.openxmlformats.org/drawingml/2006/main" noGrp="1"/>
          </p:cNvSpPr>
          <p:nvPr/>
        </p:nvSpPr>
        <p:spPr>
          <a:xfrm xmlns:a="http://schemas.openxmlformats.org/drawingml/2006/main">
            <a:off x="8467725" y="2114550"/>
            <a:ext cx="3114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B667C"/>
                </a:solidFill>
                <a:latin typeface="Arial"/>
                <a:ea typeface="Arial"/>
                <a:cs typeface="Arial"/>
              </a:defRPr>
            </a:defPPr>
          </a:lstStyle>
          <a:p xmlns:a="http://schemas.openxmlformats.org/drawingml/2006/main">
            <a:pPr>
              <a:defRPr sz="1800" b="0">
                <a:solidFill>
                  <a:srgbClr val="5B667C"/>
                </a:solidFill>
                <a:latin typeface="Arial"/>
                <a:ea typeface="Arial"/>
                <a:cs typeface="Arial"/>
              </a:defRPr>
            </a:pPr>
            <a:r>
              <a:rPr sz="1800" b="0">
                <a:solidFill>
                  <a:srgbClr val="5B667C"/>
                </a:solidFill>
                <a:latin typeface="Arial"/>
                <a:ea typeface="Arial"/>
                <a:cs typeface="Arial"/>
              </a:rPr>
              <a:t>Date, agenda and an</a:t>
            </a:r>
          </a:p>
          <a:p xmlns:a="http://schemas.openxmlformats.org/drawingml/2006/main">
            <a:pPr>
              <a:defRPr sz="1800" b="0">
                <a:solidFill>
                  <a:srgbClr val="5B667C"/>
                </a:solidFill>
                <a:latin typeface="Arial"/>
                <a:ea typeface="Arial"/>
                <a:cs typeface="Arial"/>
              </a:defRPr>
            </a:pPr>
            <a:r>
              <a:rPr sz="1800" b="0">
                <a:solidFill>
                  <a:srgbClr val="5B667C"/>
                </a:solidFill>
                <a:latin typeface="Arial"/>
                <a:ea typeface="Arial"/>
                <a:cs typeface="Arial"/>
              </a:rPr>
              <a:t>external meeting link</a:t>
            </a:r>
          </a:p>
        </p:txBody>
      </p:sp>
      <p:sp>
        <p:nvSpPr>
          <p:cNvPr id="7" name="Shared learning">
            <a:extLst xmlns:a="http://schemas.openxmlformats.org/drawingml/2006/main">
              <a:ext uri="{FF2B5EF4-FFF2-40B4-BE49-F238E27FC236}">
                <a16:creationId xmlns:a16="http://schemas.microsoft.com/office/drawing/2014/main" id="{BCDF3F50-45CA-4E12-BED4-32FB7897F0B9}"/>
              </a:ext>
            </a:extLst>
          </p:cNvPr>
          <p:cNvSpPr>
            <a:spLocks xmlns:a="http://schemas.openxmlformats.org/drawingml/2006/main" noGrp="1"/>
          </p:cNvSpPr>
          <p:nvPr/>
        </p:nvSpPr>
        <p:spPr>
          <a:xfrm xmlns:a="http://schemas.openxmlformats.org/drawingml/2006/main">
            <a:off x="8467725" y="3162300"/>
            <a:ext cx="31146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6D47D9"/>
                </a:solidFill>
                <a:latin typeface="Arial"/>
                <a:ea typeface="Arial"/>
                <a:cs typeface="Arial"/>
              </a:defRPr>
            </a:defPPr>
          </a:lstStyle>
          <a:p xmlns:a="http://schemas.openxmlformats.org/drawingml/2006/main">
            <a:pPr>
              <a:defRPr sz="2025" b="1">
                <a:solidFill>
                  <a:srgbClr val="6D47D9"/>
                </a:solidFill>
                <a:latin typeface="Arial"/>
                <a:ea typeface="Arial"/>
                <a:cs typeface="Arial"/>
              </a:defRPr>
            </a:pPr>
            <a:r>
              <a:rPr sz="2025" b="1">
                <a:solidFill>
                  <a:srgbClr val="6D47D9"/>
                </a:solidFill>
                <a:latin typeface="Arial"/>
                <a:ea typeface="Arial"/>
                <a:cs typeface="Arial"/>
              </a:rPr>
              <a:t>Shared learning</a:t>
            </a:r>
          </a:p>
        </p:txBody>
      </p:sp>
      <p:sp>
        <p:nvSpPr>
          <p:cNvPr id="8" name="Milestone checklist, files,&#10;links and discussion p">
            <a:extLst xmlns:a="http://schemas.openxmlformats.org/drawingml/2006/main">
              <a:ext uri="{FF2B5EF4-FFF2-40B4-BE49-F238E27FC236}">
                <a16:creationId xmlns:a16="http://schemas.microsoft.com/office/drawing/2014/main" id="{9C7B153E-AD98-452B-B20B-F998CD771708}"/>
              </a:ext>
            </a:extLst>
          </p:cNvPr>
          <p:cNvSpPr>
            <a:spLocks xmlns:a="http://schemas.openxmlformats.org/drawingml/2006/main" noGrp="1"/>
          </p:cNvSpPr>
          <p:nvPr/>
        </p:nvSpPr>
        <p:spPr>
          <a:xfrm xmlns:a="http://schemas.openxmlformats.org/drawingml/2006/main">
            <a:off x="8467725" y="3705225"/>
            <a:ext cx="31146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B667C"/>
                </a:solidFill>
                <a:latin typeface="Arial"/>
                <a:ea typeface="Arial"/>
                <a:cs typeface="Arial"/>
              </a:defRPr>
            </a:defPPr>
          </a:lstStyle>
          <a:p xmlns:a="http://schemas.openxmlformats.org/drawingml/2006/main">
            <a:pPr>
              <a:defRPr sz="1800" b="0">
                <a:solidFill>
                  <a:srgbClr val="5B667C"/>
                </a:solidFill>
                <a:latin typeface="Arial"/>
                <a:ea typeface="Arial"/>
                <a:cs typeface="Arial"/>
              </a:defRPr>
            </a:pPr>
            <a:r>
              <a:rPr sz="1800" b="0">
                <a:solidFill>
                  <a:srgbClr val="5B667C"/>
                </a:solidFill>
                <a:latin typeface="Arial"/>
                <a:ea typeface="Arial"/>
                <a:cs typeface="Arial"/>
              </a:rPr>
              <a:t>Milestone checklist, files,</a:t>
            </a:r>
          </a:p>
          <a:p xmlns:a="http://schemas.openxmlformats.org/drawingml/2006/main">
            <a:pPr>
              <a:defRPr sz="1800" b="0">
                <a:solidFill>
                  <a:srgbClr val="5B667C"/>
                </a:solidFill>
                <a:latin typeface="Arial"/>
                <a:ea typeface="Arial"/>
                <a:cs typeface="Arial"/>
              </a:defRPr>
            </a:pPr>
            <a:r>
              <a:rPr sz="1800" b="0">
                <a:solidFill>
                  <a:srgbClr val="5B667C"/>
                </a:solidFill>
                <a:latin typeface="Arial"/>
                <a:ea typeface="Arial"/>
                <a:cs typeface="Arial"/>
              </a:rPr>
              <a:t>links and discussion posts</a:t>
            </a:r>
          </a:p>
        </p:txBody>
      </p:sp>
      <p:sp>
        <p:nvSpPr>
          <p:cNvPr id="9" name="Participant access">
            <a:extLst xmlns:a="http://schemas.openxmlformats.org/drawingml/2006/main">
              <a:ext uri="{FF2B5EF4-FFF2-40B4-BE49-F238E27FC236}">
                <a16:creationId xmlns:a16="http://schemas.microsoft.com/office/drawing/2014/main" id="{FA8ECA03-8AEF-4189-8BCC-5DAD8EC91FAB}"/>
              </a:ext>
            </a:extLst>
          </p:cNvPr>
          <p:cNvSpPr>
            <a:spLocks xmlns:a="http://schemas.openxmlformats.org/drawingml/2006/main" noGrp="1"/>
          </p:cNvSpPr>
          <p:nvPr/>
        </p:nvSpPr>
        <p:spPr>
          <a:xfrm xmlns:a="http://schemas.openxmlformats.org/drawingml/2006/main">
            <a:off x="8467725" y="4781550"/>
            <a:ext cx="31146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6D47D9"/>
                </a:solidFill>
                <a:latin typeface="Arial"/>
                <a:ea typeface="Arial"/>
                <a:cs typeface="Arial"/>
              </a:defRPr>
            </a:defPPr>
          </a:lstStyle>
          <a:p xmlns:a="http://schemas.openxmlformats.org/drawingml/2006/main">
            <a:pPr>
              <a:defRPr sz="2025" b="1">
                <a:solidFill>
                  <a:srgbClr val="6D47D9"/>
                </a:solidFill>
                <a:latin typeface="Arial"/>
                <a:ea typeface="Arial"/>
                <a:cs typeface="Arial"/>
              </a:defRPr>
            </a:pPr>
            <a:r>
              <a:rPr sz="2025" b="1">
                <a:solidFill>
                  <a:srgbClr val="6D47D9"/>
                </a:solidFill>
                <a:latin typeface="Arial"/>
                <a:ea typeface="Arial"/>
                <a:cs typeface="Arial"/>
              </a:rPr>
              <a:t>Participant access</a:t>
            </a:r>
          </a:p>
        </p:txBody>
      </p:sp>
      <p:sp>
        <p:nvSpPr>
          <p:cNvPr id="10" name="Mentor, learner or staff">
            <a:extLst xmlns:a="http://schemas.openxmlformats.org/drawingml/2006/main">
              <a:ext uri="{FF2B5EF4-FFF2-40B4-BE49-F238E27FC236}">
                <a16:creationId xmlns:a16="http://schemas.microsoft.com/office/drawing/2014/main" id="{FA4C47E2-FBDA-4365-947D-598E7395E0EC}"/>
              </a:ext>
            </a:extLst>
          </p:cNvPr>
          <p:cNvSpPr>
            <a:spLocks xmlns:a="http://schemas.openxmlformats.org/drawingml/2006/main" noGrp="1"/>
          </p:cNvSpPr>
          <p:nvPr/>
        </p:nvSpPr>
        <p:spPr>
          <a:xfrm xmlns:a="http://schemas.openxmlformats.org/drawingml/2006/main">
            <a:off x="8467725" y="5324475"/>
            <a:ext cx="3114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B667C"/>
                </a:solidFill>
                <a:latin typeface="Arial"/>
                <a:ea typeface="Arial"/>
                <a:cs typeface="Arial"/>
              </a:defRPr>
            </a:defPPr>
          </a:lstStyle>
          <a:p xmlns:a="http://schemas.openxmlformats.org/drawingml/2006/main">
            <a:pPr>
              <a:defRPr sz="1800" b="0">
                <a:solidFill>
                  <a:srgbClr val="5B667C"/>
                </a:solidFill>
                <a:latin typeface="Arial"/>
                <a:ea typeface="Arial"/>
                <a:cs typeface="Arial"/>
              </a:defRPr>
            </a:pPr>
            <a:r>
              <a:rPr sz="1800" b="0">
                <a:solidFill>
                  <a:srgbClr val="5B667C"/>
                </a:solidFill>
                <a:latin typeface="Arial"/>
                <a:ea typeface="Arial"/>
                <a:cs typeface="Arial"/>
              </a:rPr>
              <a:t>Mentor, learner or staff</a:t>
            </a:r>
          </a:p>
        </p:txBody>
      </p:sp>
    </p:spTree>
    <p:extLst>
      <p:ext uri="{BB962C8B-B14F-4D97-AF65-F5344CB8AC3E}">
        <p14:creationId xmlns:p14="http://schemas.microsoft.com/office/powerpoint/2010/main" val="757057573"/>
      </p:ext>
    </p:extLst>
  </p:cSld>
</p:sld>
</file>

<file path=ppt/slides/slide8.xml><?xml version="1.0" encoding="utf-8"?>
<p:sld xmlns:p="http://schemas.openxmlformats.org/presentationml/2006/main">
  <p:cSld>
    <p:bg>
      <p:bgPr>
        <a:solidFill xmlns:a="http://schemas.openxmlformats.org/drawingml/2006/main">
          <a:srgbClr val="F5F5F9"/>
        </a:solidFill>
      </p:bgPr>
    </p:bg>
    <p:spTree>
      <p:nvGrpSpPr>
        <p:cNvPr id="1" name=""/>
        <p:cNvGrpSpPr/>
        <p:nvPr/>
      </p:nvGrpSpPr>
      <p:grpSpPr>
        <a:xfrm xmlns:a="http://schemas.openxmlformats.org/drawingml/2006/main"/>
      </p:grpSpPr>
      <p:sp>
        <p:nvSpPr>
          <p:cNvPr id="12" name="Progress combines milestones and sessions">
            <a:extLst xmlns:a="http://schemas.openxmlformats.org/drawingml/2006/main">
              <a:ext uri="{FF2B5EF4-FFF2-40B4-BE49-F238E27FC236}">
                <a16:creationId xmlns:a16="http://schemas.microsoft.com/office/drawing/2014/main" id="{05E098C6-AADF-40C6-8FB0-FA9D37E0E7B6}"/>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039"/>
                </a:solidFill>
                <a:latin typeface="Arial"/>
                <a:ea typeface="Arial"/>
                <a:cs typeface="Arial"/>
              </a:defRPr>
            </a:defPPr>
          </a:lstStyle>
          <a:p xmlns:a="http://schemas.openxmlformats.org/drawingml/2006/main">
            <a:pPr>
              <a:defRPr sz="3300" b="1">
                <a:solidFill>
                  <a:srgbClr val="172039"/>
                </a:solidFill>
                <a:latin typeface="Arial"/>
                <a:ea typeface="Arial"/>
                <a:cs typeface="Arial"/>
              </a:defRPr>
            </a:pPr>
            <a:r>
              <a:rPr sz="3300" b="1">
                <a:solidFill>
                  <a:srgbClr val="172039"/>
                </a:solidFill>
                <a:latin typeface="Arial"/>
                <a:ea typeface="Arial"/>
                <a:cs typeface="Arial"/>
              </a:rPr>
              <a:t>Progress combines milestones and sessions</a:t>
            </a:r>
          </a:p>
        </p:txBody>
      </p:sp>
      <p:sp>
        <p:nvSpPr>
          <p:cNvPr id="2" name="IIIT Kottayam">
            <a:extLst xmlns:a="http://schemas.openxmlformats.org/drawingml/2006/main">
              <a:ext uri="{FF2B5EF4-FFF2-40B4-BE49-F238E27FC236}">
                <a16:creationId xmlns:a16="http://schemas.microsoft.com/office/drawing/2014/main" id="{D3AE3BD2-674B-45F7-B0D1-D876A6D0FB72}"/>
              </a:ext>
            </a:extLst>
          </p:cNvPr>
          <p:cNvSpPr>
            <a:spLocks xmlns:a="http://schemas.openxmlformats.org/drawingml/2006/main" noGrp="1"/>
          </p:cNvSpPr>
          <p:nvPr/>
        </p:nvSpPr>
        <p:spPr>
          <a:xfrm xmlns:a="http://schemas.openxmlformats.org/drawingml/2006/main">
            <a:off x="609600" y="6429375"/>
            <a:ext cx="381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B667C"/>
                </a:solidFill>
                <a:latin typeface="Arial"/>
                <a:ea typeface="Arial"/>
                <a:cs typeface="Arial"/>
              </a:defRPr>
            </a:defPPr>
          </a:lstStyle>
          <a:p xmlns:a="http://schemas.openxmlformats.org/drawingml/2006/main">
            <a:pPr>
              <a:defRPr sz="1125" b="0">
                <a:solidFill>
                  <a:srgbClr val="5B667C"/>
                </a:solidFill>
                <a:latin typeface="Arial"/>
                <a:ea typeface="Arial"/>
                <a:cs typeface="Arial"/>
              </a:defRPr>
            </a:pPr>
            <a:r>
              <a:rPr sz="1125" b="0">
                <a:solidFill>
                  <a:srgbClr val="5B667C"/>
                </a:solidFill>
                <a:latin typeface="Arial"/>
                <a:ea typeface="Arial"/>
                <a:cs typeface="Arial"/>
              </a:rPr>
              <a:t>IIIT Kottayam</a:t>
            </a:r>
          </a:p>
        </p:txBody>
      </p:sp>
      <p:sp>
        <p:nvSpPr>
          <p:cNvPr id="3" name="08">
            <a:extLst xmlns:a="http://schemas.openxmlformats.org/drawingml/2006/main">
              <a:ext uri="{FF2B5EF4-FFF2-40B4-BE49-F238E27FC236}">
                <a16:creationId xmlns:a16="http://schemas.microsoft.com/office/drawing/2014/main" id="{A2AE9B49-F6DD-42A8-A0CC-746D8ADEDF83}"/>
              </a:ext>
            </a:extLst>
          </p:cNvPr>
          <p:cNvSpPr>
            <a:spLocks xmlns:a="http://schemas.openxmlformats.org/drawingml/2006/main" noGrp="1"/>
          </p:cNvSpPr>
          <p:nvPr/>
        </p:nvSpPr>
        <p:spPr>
          <a:xfrm xmlns:a="http://schemas.openxmlformats.org/drawingml/2006/main">
            <a:off x="11087100" y="64293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B667C"/>
                </a:solidFill>
                <a:latin typeface="Arial"/>
                <a:ea typeface="Arial"/>
                <a:cs typeface="Arial"/>
              </a:defRPr>
            </a:defPPr>
          </a:lstStyle>
          <a:p xmlns:a="http://schemas.openxmlformats.org/drawingml/2006/main">
            <a:pPr>
              <a:defRPr sz="1125" b="0">
                <a:solidFill>
                  <a:srgbClr val="5B667C"/>
                </a:solidFill>
                <a:latin typeface="Arial"/>
                <a:ea typeface="Arial"/>
                <a:cs typeface="Arial"/>
              </a:defRPr>
            </a:pPr>
            <a:r>
              <a:rPr sz="1125" b="0">
                <a:solidFill>
                  <a:srgbClr val="5B667C"/>
                </a:solidFill>
                <a:latin typeface="Arial"/>
                <a:ea typeface="Arial"/>
                <a:cs typeface="Arial"/>
              </a:rPr>
              <a:t>08</a:t>
            </a:r>
          </a:p>
        </p:txBody>
      </p:sp>
      <p:sp>
        <p:nvSpPr>
          <p:cNvPr id="4" name="70%">
            <a:extLst xmlns:a="http://schemas.openxmlformats.org/drawingml/2006/main">
              <a:ext uri="{FF2B5EF4-FFF2-40B4-BE49-F238E27FC236}">
                <a16:creationId xmlns:a16="http://schemas.microsoft.com/office/drawing/2014/main" id="{9C7A3B22-0DA7-4617-84E8-F57EFF0B9418}"/>
              </a:ext>
            </a:extLst>
          </p:cNvPr>
          <p:cNvSpPr>
            <a:spLocks xmlns:a="http://schemas.openxmlformats.org/drawingml/2006/main" noGrp="1"/>
          </p:cNvSpPr>
          <p:nvPr/>
        </p:nvSpPr>
        <p:spPr>
          <a:xfrm xmlns:a="http://schemas.openxmlformats.org/drawingml/2006/main">
            <a:off x="609600" y="1609725"/>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6D47D9"/>
                </a:solidFill>
                <a:latin typeface="Arial"/>
                <a:ea typeface="Arial"/>
                <a:cs typeface="Arial"/>
              </a:defRPr>
            </a:defPPr>
          </a:lstStyle>
          <a:p xmlns:a="http://schemas.openxmlformats.org/drawingml/2006/main">
            <a:pPr>
              <a:defRPr sz="5700" b="1">
                <a:solidFill>
                  <a:srgbClr val="6D47D9"/>
                </a:solidFill>
                <a:latin typeface="Arial"/>
                <a:ea typeface="Arial"/>
                <a:cs typeface="Arial"/>
              </a:defRPr>
            </a:pPr>
            <a:r>
              <a:rPr sz="5700" b="1">
                <a:solidFill>
                  <a:srgbClr val="6D47D9"/>
                </a:solidFill>
                <a:latin typeface="Arial"/>
                <a:ea typeface="Arial"/>
                <a:cs typeface="Arial"/>
              </a:rPr>
              <a:t>70%</a:t>
            </a:r>
          </a:p>
        </p:txBody>
      </p:sp>
      <p:sp>
        <p:nvSpPr>
          <p:cNvPr id="5" name="Milestone completion">
            <a:extLst xmlns:a="http://schemas.openxmlformats.org/drawingml/2006/main">
              <a:ext uri="{FF2B5EF4-FFF2-40B4-BE49-F238E27FC236}">
                <a16:creationId xmlns:a16="http://schemas.microsoft.com/office/drawing/2014/main" id="{E3736AC2-7AD5-45D3-BB6E-078DCD0482F3}"/>
              </a:ext>
            </a:extLst>
          </p:cNvPr>
          <p:cNvSpPr>
            <a:spLocks xmlns:a="http://schemas.openxmlformats.org/drawingml/2006/main" noGrp="1"/>
          </p:cNvSpPr>
          <p:nvPr/>
        </p:nvSpPr>
        <p:spPr>
          <a:xfrm xmlns:a="http://schemas.openxmlformats.org/drawingml/2006/main">
            <a:off x="609600" y="2771775"/>
            <a:ext cx="4762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039"/>
                </a:solidFill>
                <a:latin typeface="Arial"/>
                <a:ea typeface="Arial"/>
                <a:cs typeface="Arial"/>
              </a:defRPr>
            </a:defPPr>
          </a:lstStyle>
          <a:p xmlns:a="http://schemas.openxmlformats.org/drawingml/2006/main">
            <a:pPr>
              <a:defRPr sz="2250" b="1">
                <a:solidFill>
                  <a:srgbClr val="172039"/>
                </a:solidFill>
                <a:latin typeface="Arial"/>
                <a:ea typeface="Arial"/>
                <a:cs typeface="Arial"/>
              </a:defRPr>
            </a:pPr>
            <a:r>
              <a:rPr sz="2250" b="1">
                <a:solidFill>
                  <a:srgbClr val="172039"/>
                </a:solidFill>
                <a:latin typeface="Arial"/>
                <a:ea typeface="Arial"/>
                <a:cs typeface="Arial"/>
              </a:rPr>
              <a:t>Milestone completion</a:t>
            </a:r>
          </a:p>
        </p:txBody>
      </p:sp>
      <p:sp>
        <p:nvSpPr>
          <p:cNvPr id="6" name="2 completed out of 3&#10;contributes 46.7 percentage p">
            <a:extLst xmlns:a="http://schemas.openxmlformats.org/drawingml/2006/main">
              <a:ext uri="{FF2B5EF4-FFF2-40B4-BE49-F238E27FC236}">
                <a16:creationId xmlns:a16="http://schemas.microsoft.com/office/drawing/2014/main" id="{0E7416E8-A509-4762-8951-FE7FEE4AA57D}"/>
              </a:ext>
            </a:extLst>
          </p:cNvPr>
          <p:cNvSpPr>
            <a:spLocks xmlns:a="http://schemas.openxmlformats.org/drawingml/2006/main" noGrp="1"/>
          </p:cNvSpPr>
          <p:nvPr/>
        </p:nvSpPr>
        <p:spPr>
          <a:xfrm xmlns:a="http://schemas.openxmlformats.org/drawingml/2006/main">
            <a:off x="609600" y="3400425"/>
            <a:ext cx="4857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B667C"/>
                </a:solidFill>
                <a:latin typeface="Arial"/>
                <a:ea typeface="Arial"/>
                <a:cs typeface="Arial"/>
              </a:defRPr>
            </a:defPPr>
          </a:lstStyle>
          <a:p xmlns:a="http://schemas.openxmlformats.org/drawingml/2006/main">
            <a:pPr>
              <a:defRPr sz="1875" b="0">
                <a:solidFill>
                  <a:srgbClr val="5B667C"/>
                </a:solidFill>
                <a:latin typeface="Arial"/>
                <a:ea typeface="Arial"/>
                <a:cs typeface="Arial"/>
              </a:defRPr>
            </a:pPr>
            <a:r>
              <a:rPr sz="1875" b="0">
                <a:solidFill>
                  <a:srgbClr val="5B667C"/>
                </a:solidFill>
                <a:latin typeface="Arial"/>
                <a:ea typeface="Arial"/>
                <a:cs typeface="Arial"/>
              </a:rPr>
              <a:t>2 completed out of 3</a:t>
            </a:r>
          </a:p>
          <a:p xmlns:a="http://schemas.openxmlformats.org/drawingml/2006/main">
            <a:pPr>
              <a:defRPr sz="1875" b="0">
                <a:solidFill>
                  <a:srgbClr val="5B667C"/>
                </a:solidFill>
                <a:latin typeface="Arial"/>
                <a:ea typeface="Arial"/>
                <a:cs typeface="Arial"/>
              </a:defRPr>
            </a:pPr>
            <a:r>
              <a:rPr sz="1875" b="0">
                <a:solidFill>
                  <a:srgbClr val="5B667C"/>
                </a:solidFill>
                <a:latin typeface="Arial"/>
                <a:ea typeface="Arial"/>
                <a:cs typeface="Arial"/>
              </a:rPr>
              <a:t>contributes 46.7 percentage points</a:t>
            </a:r>
          </a:p>
        </p:txBody>
      </p:sp>
      <p:sp>
        <p:nvSpPr>
          <p:cNvPr id="7" name="30%">
            <a:extLst xmlns:a="http://schemas.openxmlformats.org/drawingml/2006/main">
              <a:ext uri="{FF2B5EF4-FFF2-40B4-BE49-F238E27FC236}">
                <a16:creationId xmlns:a16="http://schemas.microsoft.com/office/drawing/2014/main" id="{2FC96E60-C0AC-415A-8ADB-BDB84FF5EB1A}"/>
              </a:ext>
            </a:extLst>
          </p:cNvPr>
          <p:cNvSpPr>
            <a:spLocks xmlns:a="http://schemas.openxmlformats.org/drawingml/2006/main" noGrp="1"/>
          </p:cNvSpPr>
          <p:nvPr/>
        </p:nvSpPr>
        <p:spPr>
          <a:xfrm xmlns:a="http://schemas.openxmlformats.org/drawingml/2006/main">
            <a:off x="6400800" y="160972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167C9D"/>
                </a:solidFill>
                <a:latin typeface="Arial"/>
                <a:ea typeface="Arial"/>
                <a:cs typeface="Arial"/>
              </a:defRPr>
            </a:defPPr>
          </a:lstStyle>
          <a:p xmlns:a="http://schemas.openxmlformats.org/drawingml/2006/main">
            <a:pPr>
              <a:defRPr sz="5700" b="1">
                <a:solidFill>
                  <a:srgbClr val="167C9D"/>
                </a:solidFill>
                <a:latin typeface="Arial"/>
                <a:ea typeface="Arial"/>
                <a:cs typeface="Arial"/>
              </a:defRPr>
            </a:pPr>
            <a:r>
              <a:rPr sz="5700" b="1">
                <a:solidFill>
                  <a:srgbClr val="167C9D"/>
                </a:solidFill>
                <a:latin typeface="Arial"/>
                <a:ea typeface="Arial"/>
                <a:cs typeface="Arial"/>
              </a:rPr>
              <a:t>30%</a:t>
            </a:r>
          </a:p>
        </p:txBody>
      </p:sp>
      <p:sp>
        <p:nvSpPr>
          <p:cNvPr id="8" name="Session completion">
            <a:extLst xmlns:a="http://schemas.openxmlformats.org/drawingml/2006/main">
              <a:ext uri="{FF2B5EF4-FFF2-40B4-BE49-F238E27FC236}">
                <a16:creationId xmlns:a16="http://schemas.microsoft.com/office/drawing/2014/main" id="{FCE3B9DE-2894-49DB-82DB-5073BBBCA596}"/>
              </a:ext>
            </a:extLst>
          </p:cNvPr>
          <p:cNvSpPr>
            <a:spLocks xmlns:a="http://schemas.openxmlformats.org/drawingml/2006/main" noGrp="1"/>
          </p:cNvSpPr>
          <p:nvPr/>
        </p:nvSpPr>
        <p:spPr>
          <a:xfrm xmlns:a="http://schemas.openxmlformats.org/drawingml/2006/main">
            <a:off x="6400800" y="2771775"/>
            <a:ext cx="4857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039"/>
                </a:solidFill>
                <a:latin typeface="Arial"/>
                <a:ea typeface="Arial"/>
                <a:cs typeface="Arial"/>
              </a:defRPr>
            </a:defPPr>
          </a:lstStyle>
          <a:p xmlns:a="http://schemas.openxmlformats.org/drawingml/2006/main">
            <a:pPr>
              <a:defRPr sz="2250" b="1">
                <a:solidFill>
                  <a:srgbClr val="172039"/>
                </a:solidFill>
                <a:latin typeface="Arial"/>
                <a:ea typeface="Arial"/>
                <a:cs typeface="Arial"/>
              </a:defRPr>
            </a:pPr>
            <a:r>
              <a:rPr sz="2250" b="1">
                <a:solidFill>
                  <a:srgbClr val="172039"/>
                </a:solidFill>
                <a:latin typeface="Arial"/>
                <a:ea typeface="Arial"/>
                <a:cs typeface="Arial"/>
              </a:rPr>
              <a:t>Session completion</a:t>
            </a:r>
          </a:p>
        </p:txBody>
      </p:sp>
      <p:sp>
        <p:nvSpPr>
          <p:cNvPr id="9" name="1 completed out of 2&#10;contributes 15 percentage poi">
            <a:extLst xmlns:a="http://schemas.openxmlformats.org/drawingml/2006/main">
              <a:ext uri="{FF2B5EF4-FFF2-40B4-BE49-F238E27FC236}">
                <a16:creationId xmlns:a16="http://schemas.microsoft.com/office/drawing/2014/main" id="{B13194DD-AB05-4B34-B02E-F61E6F8BB726}"/>
              </a:ext>
            </a:extLst>
          </p:cNvPr>
          <p:cNvSpPr>
            <a:spLocks xmlns:a="http://schemas.openxmlformats.org/drawingml/2006/main" noGrp="1"/>
          </p:cNvSpPr>
          <p:nvPr/>
        </p:nvSpPr>
        <p:spPr>
          <a:xfrm xmlns:a="http://schemas.openxmlformats.org/drawingml/2006/main">
            <a:off x="6400800" y="3400425"/>
            <a:ext cx="4857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B667C"/>
                </a:solidFill>
                <a:latin typeface="Arial"/>
                <a:ea typeface="Arial"/>
                <a:cs typeface="Arial"/>
              </a:defRPr>
            </a:defPPr>
          </a:lstStyle>
          <a:p xmlns:a="http://schemas.openxmlformats.org/drawingml/2006/main">
            <a:pPr>
              <a:defRPr sz="1875" b="0">
                <a:solidFill>
                  <a:srgbClr val="5B667C"/>
                </a:solidFill>
                <a:latin typeface="Arial"/>
                <a:ea typeface="Arial"/>
                <a:cs typeface="Arial"/>
              </a:defRPr>
            </a:pPr>
            <a:r>
              <a:rPr sz="1875" b="0">
                <a:solidFill>
                  <a:srgbClr val="5B667C"/>
                </a:solidFill>
                <a:latin typeface="Arial"/>
                <a:ea typeface="Arial"/>
                <a:cs typeface="Arial"/>
              </a:rPr>
              <a:t>1 completed out of 2</a:t>
            </a:r>
          </a:p>
          <a:p xmlns:a="http://schemas.openxmlformats.org/drawingml/2006/main">
            <a:pPr>
              <a:defRPr sz="1875" b="0">
                <a:solidFill>
                  <a:srgbClr val="5B667C"/>
                </a:solidFill>
                <a:latin typeface="Arial"/>
                <a:ea typeface="Arial"/>
                <a:cs typeface="Arial"/>
              </a:defRPr>
            </a:pPr>
            <a:r>
              <a:rPr sz="1875" b="0">
                <a:solidFill>
                  <a:srgbClr val="5B667C"/>
                </a:solidFill>
                <a:latin typeface="Arial"/>
                <a:ea typeface="Arial"/>
                <a:cs typeface="Arial"/>
              </a:rPr>
              <a:t>contributes 15 percentage points</a:t>
            </a:r>
          </a:p>
        </p:txBody>
      </p:sp>
      <p:sp>
        <p:nvSpPr>
          <p:cNvPr id="10" name="61.7%">
            <a:extLst xmlns:a="http://schemas.openxmlformats.org/drawingml/2006/main">
              <a:ext uri="{FF2B5EF4-FFF2-40B4-BE49-F238E27FC236}">
                <a16:creationId xmlns:a16="http://schemas.microsoft.com/office/drawing/2014/main" id="{C366B427-990A-433A-B49B-AFE2BDEC70A6}"/>
              </a:ext>
            </a:extLst>
          </p:cNvPr>
          <p:cNvSpPr>
            <a:spLocks xmlns:a="http://schemas.openxmlformats.org/drawingml/2006/main" noGrp="1"/>
          </p:cNvSpPr>
          <p:nvPr/>
        </p:nvSpPr>
        <p:spPr>
          <a:xfrm xmlns:a="http://schemas.openxmlformats.org/drawingml/2006/main">
            <a:off x="609600" y="4962525"/>
            <a:ext cx="28956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950" b="1">
                <a:solidFill>
                  <a:srgbClr val="172039"/>
                </a:solidFill>
                <a:latin typeface="Arial"/>
                <a:ea typeface="Arial"/>
                <a:cs typeface="Arial"/>
              </a:defRPr>
            </a:defPPr>
          </a:lstStyle>
          <a:p xmlns:a="http://schemas.openxmlformats.org/drawingml/2006/main">
            <a:pPr>
              <a:defRPr sz="4950" b="1">
                <a:solidFill>
                  <a:srgbClr val="172039"/>
                </a:solidFill>
                <a:latin typeface="Arial"/>
                <a:ea typeface="Arial"/>
                <a:cs typeface="Arial"/>
              </a:defRPr>
            </a:pPr>
            <a:r>
              <a:rPr sz="4950" b="1">
                <a:solidFill>
                  <a:srgbClr val="172039"/>
                </a:solidFill>
                <a:latin typeface="Arial"/>
                <a:ea typeface="Arial"/>
                <a:cs typeface="Arial"/>
              </a:rPr>
              <a:t>61.7%</a:t>
            </a:r>
          </a:p>
        </p:txBody>
      </p:sp>
      <p:sp>
        <p:nvSpPr>
          <p:cNvPr id="11" name="Active demo progress&#10;70 × (2/3) + 30 × (1/2)">
            <a:extLst xmlns:a="http://schemas.openxmlformats.org/drawingml/2006/main">
              <a:ext uri="{FF2B5EF4-FFF2-40B4-BE49-F238E27FC236}">
                <a16:creationId xmlns:a16="http://schemas.microsoft.com/office/drawing/2014/main" id="{D14A6BB8-24CB-47C0-9C79-27BF628A8476}"/>
              </a:ext>
            </a:extLst>
          </p:cNvPr>
          <p:cNvSpPr>
            <a:spLocks xmlns:a="http://schemas.openxmlformats.org/drawingml/2006/main" noGrp="1"/>
          </p:cNvSpPr>
          <p:nvPr/>
        </p:nvSpPr>
        <p:spPr>
          <a:xfrm xmlns:a="http://schemas.openxmlformats.org/drawingml/2006/main">
            <a:off x="3981450" y="4991100"/>
            <a:ext cx="7562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5B667C"/>
                </a:solidFill>
                <a:latin typeface="Arial"/>
                <a:ea typeface="Arial"/>
                <a:cs typeface="Arial"/>
              </a:defRPr>
            </a:defPPr>
          </a:lstStyle>
          <a:p xmlns:a="http://schemas.openxmlformats.org/drawingml/2006/main">
            <a:pPr>
              <a:defRPr sz="2250" b="0">
                <a:solidFill>
                  <a:srgbClr val="5B667C"/>
                </a:solidFill>
                <a:latin typeface="Arial"/>
                <a:ea typeface="Arial"/>
                <a:cs typeface="Arial"/>
              </a:defRPr>
            </a:pPr>
            <a:r>
              <a:rPr sz="2250" b="0">
                <a:solidFill>
                  <a:srgbClr val="5B667C"/>
                </a:solidFill>
                <a:latin typeface="Arial"/>
                <a:ea typeface="Arial"/>
                <a:cs typeface="Arial"/>
              </a:rPr>
              <a:t>Active demo progress</a:t>
            </a:r>
          </a:p>
          <a:p xmlns:a="http://schemas.openxmlformats.org/drawingml/2006/main">
            <a:pPr>
              <a:defRPr sz="2250" b="0">
                <a:solidFill>
                  <a:srgbClr val="5B667C"/>
                </a:solidFill>
                <a:latin typeface="Arial"/>
                <a:ea typeface="Arial"/>
                <a:cs typeface="Arial"/>
              </a:defRPr>
            </a:pPr>
            <a:r>
              <a:rPr sz="2250" b="0">
                <a:solidFill>
                  <a:srgbClr val="5B667C"/>
                </a:solidFill>
                <a:latin typeface="Arial"/>
                <a:ea typeface="Arial"/>
                <a:cs typeface="Arial"/>
              </a:rPr>
              <a:t>70 × (2/3) + 30 × (1/2)</a:t>
            </a:r>
          </a:p>
        </p:txBody>
      </p:sp>
    </p:spTree>
    <p:extLst>
      <p:ext uri="{BB962C8B-B14F-4D97-AF65-F5344CB8AC3E}">
        <p14:creationId xmlns:p14="http://schemas.microsoft.com/office/powerpoint/2010/main" val="957838351"/>
      </p:ext>
    </p:extLst>
  </p:cSld>
</p:sld>
</file>

<file path=ppt/slides/slide9.xml><?xml version="1.0" encoding="utf-8"?>
<p:sld xmlns:p="http://schemas.openxmlformats.org/presentationml/2006/main">
  <p:cSld>
    <p:bg>
      <p:bgPr>
        <a:solidFill xmlns:a="http://schemas.openxmlformats.org/drawingml/2006/main">
          <a:srgbClr val="F5F5F9"/>
        </a:solidFill>
      </p:bgPr>
    </p:bg>
    <p:spTree>
      <p:nvGrpSpPr>
        <p:cNvPr id="1" name=""/>
        <p:cNvGrpSpPr/>
        <p:nvPr/>
      </p:nvGrpSpPr>
      <p:grpSpPr>
        <a:xfrm xmlns:a="http://schemas.openxmlformats.org/drawingml/2006/main"/>
      </p:grpSpPr>
      <p:sp>
        <p:nvSpPr>
          <p:cNvPr id="7" name="Credits record participation">
            <a:extLst xmlns:a="http://schemas.openxmlformats.org/drawingml/2006/main">
              <a:ext uri="{FF2B5EF4-FFF2-40B4-BE49-F238E27FC236}">
                <a16:creationId xmlns:a16="http://schemas.microsoft.com/office/drawing/2014/main" id="{FE3D57C7-6235-4E8B-B202-E44343A20B4C}"/>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039"/>
                </a:solidFill>
                <a:latin typeface="Arial"/>
                <a:ea typeface="Arial"/>
                <a:cs typeface="Arial"/>
              </a:defRPr>
            </a:defPPr>
          </a:lstStyle>
          <a:p xmlns:a="http://schemas.openxmlformats.org/drawingml/2006/main">
            <a:pPr>
              <a:defRPr sz="3300" b="1">
                <a:solidFill>
                  <a:srgbClr val="172039"/>
                </a:solidFill>
                <a:latin typeface="Arial"/>
                <a:ea typeface="Arial"/>
                <a:cs typeface="Arial"/>
              </a:defRPr>
            </a:pPr>
            <a:r>
              <a:rPr sz="3300" b="1">
                <a:solidFill>
                  <a:srgbClr val="172039"/>
                </a:solidFill>
                <a:latin typeface="Arial"/>
                <a:ea typeface="Arial"/>
                <a:cs typeface="Arial"/>
              </a:rPr>
              <a:t>Credits record participation</a:t>
            </a:r>
          </a:p>
        </p:txBody>
      </p:sp>
      <p:sp>
        <p:nvSpPr>
          <p:cNvPr id="2" name="IIIT Kottayam">
            <a:extLst xmlns:a="http://schemas.openxmlformats.org/drawingml/2006/main">
              <a:ext uri="{FF2B5EF4-FFF2-40B4-BE49-F238E27FC236}">
                <a16:creationId xmlns:a16="http://schemas.microsoft.com/office/drawing/2014/main" id="{E2E7A3F3-F4DF-4B16-AE7F-44E015166344}"/>
              </a:ext>
            </a:extLst>
          </p:cNvPr>
          <p:cNvSpPr>
            <a:spLocks xmlns:a="http://schemas.openxmlformats.org/drawingml/2006/main" noGrp="1"/>
          </p:cNvSpPr>
          <p:nvPr/>
        </p:nvSpPr>
        <p:spPr>
          <a:xfrm xmlns:a="http://schemas.openxmlformats.org/drawingml/2006/main">
            <a:off x="609600" y="6429375"/>
            <a:ext cx="381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B667C"/>
                </a:solidFill>
                <a:latin typeface="Arial"/>
                <a:ea typeface="Arial"/>
                <a:cs typeface="Arial"/>
              </a:defRPr>
            </a:defPPr>
          </a:lstStyle>
          <a:p xmlns:a="http://schemas.openxmlformats.org/drawingml/2006/main">
            <a:pPr>
              <a:defRPr sz="1125" b="0">
                <a:solidFill>
                  <a:srgbClr val="5B667C"/>
                </a:solidFill>
                <a:latin typeface="Arial"/>
                <a:ea typeface="Arial"/>
                <a:cs typeface="Arial"/>
              </a:defRPr>
            </a:pPr>
            <a:r>
              <a:rPr sz="1125" b="0">
                <a:solidFill>
                  <a:srgbClr val="5B667C"/>
                </a:solidFill>
                <a:latin typeface="Arial"/>
                <a:ea typeface="Arial"/>
                <a:cs typeface="Arial"/>
              </a:rPr>
              <a:t>IIIT Kottayam</a:t>
            </a:r>
          </a:p>
        </p:txBody>
      </p:sp>
      <p:sp>
        <p:nvSpPr>
          <p:cNvPr id="3" name="09">
            <a:extLst xmlns:a="http://schemas.openxmlformats.org/drawingml/2006/main">
              <a:ext uri="{FF2B5EF4-FFF2-40B4-BE49-F238E27FC236}">
                <a16:creationId xmlns:a16="http://schemas.microsoft.com/office/drawing/2014/main" id="{76587031-BCC8-4D51-A7E1-0990F17937E4}"/>
              </a:ext>
            </a:extLst>
          </p:cNvPr>
          <p:cNvSpPr>
            <a:spLocks xmlns:a="http://schemas.openxmlformats.org/drawingml/2006/main" noGrp="1"/>
          </p:cNvSpPr>
          <p:nvPr/>
        </p:nvSpPr>
        <p:spPr>
          <a:xfrm xmlns:a="http://schemas.openxmlformats.org/drawingml/2006/main">
            <a:off x="11087100" y="64293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B667C"/>
                </a:solidFill>
                <a:latin typeface="Arial"/>
                <a:ea typeface="Arial"/>
                <a:cs typeface="Arial"/>
              </a:defRPr>
            </a:defPPr>
          </a:lstStyle>
          <a:p xmlns:a="http://schemas.openxmlformats.org/drawingml/2006/main">
            <a:pPr>
              <a:defRPr sz="1125" b="0">
                <a:solidFill>
                  <a:srgbClr val="5B667C"/>
                </a:solidFill>
                <a:latin typeface="Arial"/>
                <a:ea typeface="Arial"/>
                <a:cs typeface="Arial"/>
              </a:defRPr>
            </a:pPr>
            <a:r>
              <a:rPr sz="1125" b="0">
                <a:solidFill>
                  <a:srgbClr val="5B667C"/>
                </a:solidFill>
                <a:latin typeface="Arial"/>
                <a:ea typeface="Arial"/>
                <a:cs typeface="Arial"/>
              </a:rPr>
              <a:t>09</a:t>
            </a:r>
          </a:p>
        </p:txBody>
      </p:sp>
      <p:graphicFrame>
        <p:nvGraphicFramePr>
          <p:cNvPr id="4" name="">
            <a:extLst xmlns:a="http://schemas.openxmlformats.org/drawingml/2006/main">
              <a:ext uri="{FF2B5EF4-FFF2-40B4-BE49-F238E27FC236}">
                <a16:creationId xmlns:a16="http://schemas.microsoft.com/office/drawing/2014/main" id="{702465B5-8A17-4D46-A386-225A4E952A4A}"/>
              </a:ext>
            </a:extLst>
          </p:cNvPr>
          <p:cNvGraphicFramePr/>
          <p:nvPr/>
        </p:nvGraphicFramePr>
        <p:xfrm>
          <a:off xmlns:a="http://schemas.openxmlformats.org/drawingml/2006/main" x="609600" y="1609725"/>
          <a:ext xmlns:a="http://schemas.openxmlformats.org/drawingml/2006/main" cx="6010275" cy="3590925"/>
        </p:xfrm>
        <a:graphic xmlns:a="http://schemas.openxmlformats.org/drawingml/2006/main">
          <a:graphicData uri="http://schemas.openxmlformats.org/drawingml/2006/table">
            <a:tbl>
              <a:tblPr/>
              <a:tblGrid>
                <a:gridCol w="4086225"/>
                <a:gridCol w="1924050"/>
              </a:tblGrid>
              <a:tr h="598488">
                <a:tc>
                  <a:txBody>
                    <a:bodyPr lIns="133350" tIns="133350" rIns="133350" bIns="133350"/>
                    <a:lstStyle/>
                    <a:p>
                      <a:r>
                        <a:rPr sz="1725" b="1">
                          <a:solidFill>
                            <a:srgbClr val="FFFFFF"/>
                          </a:solidFill>
                          <a:latin typeface="Arial"/>
                          <a:ea typeface="Arial"/>
                          <a:cs typeface="Arial"/>
                        </a:rPr>
                        <a:t>Event</a:t>
                      </a:r>
                    </a:p>
                  </a:txBody>
                  <a:tcPr marL="91440" marR="91440" marT="45720" marB="45720" anchor="ctr">
                    <a:solidFill>
                      <a:srgbClr val="0B1020"/>
                    </a:solidFill>
                  </a:tcPr>
                </a:tc>
                <a:tc>
                  <a:txBody>
                    <a:bodyPr lIns="133350" tIns="133350" rIns="133350" bIns="133350"/>
                    <a:lstStyle/>
                    <a:p>
                      <a:r>
                        <a:rPr sz="1725" b="1">
                          <a:solidFill>
                            <a:srgbClr val="FFFFFF"/>
                          </a:solidFill>
                          <a:latin typeface="Arial"/>
                          <a:ea typeface="Arial"/>
                          <a:cs typeface="Arial"/>
                        </a:rPr>
                        <a:t>Credits</a:t>
                      </a:r>
                    </a:p>
                  </a:txBody>
                  <a:tcPr marL="91440" marR="91440" marT="45720" marB="45720" anchor="ctr">
                    <a:solidFill>
                      <a:srgbClr val="0B1020"/>
                    </a:solidFill>
                  </a:tcPr>
                </a:tc>
              </a:tr>
              <a:tr h="598488">
                <a:tc>
                  <a:txBody>
                    <a:bodyPr lIns="133350" tIns="133350" rIns="133350" bIns="133350"/>
                    <a:lstStyle/>
                    <a:p>
                      <a:r>
                        <a:rPr sz="1725" b="0">
                          <a:solidFill>
                            <a:srgbClr val="172039"/>
                          </a:solidFill>
                          <a:latin typeface="Arial"/>
                          <a:ea typeface="Arial"/>
                          <a:cs typeface="Arial"/>
                        </a:rPr>
                        <a:t>New account</a:t>
                      </a:r>
                    </a:p>
                  </a:txBody>
                  <a:tcPr marL="91440" marR="91440" marT="45720" marB="45720" anchor="ctr">
                    <a:solidFill>
                      <a:srgbClr val="FFFFFF"/>
                    </a:solidFill>
                  </a:tcPr>
                </a:tc>
                <a:tc>
                  <a:txBody>
                    <a:bodyPr lIns="133350" tIns="133350" rIns="133350" bIns="133350"/>
                    <a:lstStyle/>
                    <a:p>
                      <a:r>
                        <a:rPr sz="1725" b="0">
                          <a:solidFill>
                            <a:srgbClr val="172039"/>
                          </a:solidFill>
                          <a:latin typeface="Arial"/>
                          <a:ea typeface="Arial"/>
                          <a:cs typeface="Arial"/>
                        </a:rPr>
                        <a:t>+50</a:t>
                      </a:r>
                    </a:p>
                  </a:txBody>
                  <a:tcPr marL="91440" marR="91440" marT="45720" marB="45720" anchor="ctr">
                    <a:solidFill>
                      <a:srgbClr val="FFFFFF"/>
                    </a:solidFill>
                  </a:tcPr>
                </a:tc>
              </a:tr>
              <a:tr h="598488">
                <a:tc>
                  <a:txBody>
                    <a:bodyPr lIns="133350" tIns="133350" rIns="133350" bIns="133350"/>
                    <a:lstStyle/>
                    <a:p>
                      <a:r>
                        <a:rPr sz="1725" b="0">
                          <a:solidFill>
                            <a:srgbClr val="172039"/>
                          </a:solidFill>
                          <a:latin typeface="Arial"/>
                          <a:ea typeface="Arial"/>
                          <a:cs typeface="Arial"/>
                        </a:rPr>
                        <a:t>Standard request</a:t>
                      </a:r>
                    </a:p>
                  </a:txBody>
                  <a:tcPr marL="91440" marR="91440" marT="45720" marB="45720" anchor="ctr">
                    <a:solidFill>
                      <a:srgbClr val="F0EDF8"/>
                    </a:solidFill>
                  </a:tcPr>
                </a:tc>
                <a:tc>
                  <a:txBody>
                    <a:bodyPr lIns="133350" tIns="133350" rIns="133350" bIns="133350"/>
                    <a:lstStyle/>
                    <a:p>
                      <a:r>
                        <a:rPr sz="1725" b="0">
                          <a:solidFill>
                            <a:srgbClr val="172039"/>
                          </a:solidFill>
                          <a:latin typeface="Arial"/>
                          <a:ea typeface="Arial"/>
                          <a:cs typeface="Arial"/>
                        </a:rPr>
                        <a:t>−10</a:t>
                      </a:r>
                    </a:p>
                  </a:txBody>
                  <a:tcPr marL="91440" marR="91440" marT="45720" marB="45720" anchor="ctr">
                    <a:solidFill>
                      <a:srgbClr val="F0EDF8"/>
                    </a:solidFill>
                  </a:tcPr>
                </a:tc>
              </a:tr>
              <a:tr h="598488">
                <a:tc>
                  <a:txBody>
                    <a:bodyPr lIns="133350" tIns="133350" rIns="133350" bIns="133350"/>
                    <a:lstStyle/>
                    <a:p>
                      <a:r>
                        <a:rPr sz="1725" b="0">
                          <a:solidFill>
                            <a:srgbClr val="172039"/>
                          </a:solidFill>
                          <a:latin typeface="Arial"/>
                          <a:ea typeface="Arial"/>
                          <a:cs typeface="Arial"/>
                        </a:rPr>
                        <a:t>Priority request</a:t>
                      </a:r>
                    </a:p>
                  </a:txBody>
                  <a:tcPr marL="91440" marR="91440" marT="45720" marB="45720" anchor="ctr">
                    <a:solidFill>
                      <a:srgbClr val="FFFFFF"/>
                    </a:solidFill>
                  </a:tcPr>
                </a:tc>
                <a:tc>
                  <a:txBody>
                    <a:bodyPr lIns="133350" tIns="133350" rIns="133350" bIns="133350"/>
                    <a:lstStyle/>
                    <a:p>
                      <a:r>
                        <a:rPr sz="1725" b="0">
                          <a:solidFill>
                            <a:srgbClr val="172039"/>
                          </a:solidFill>
                          <a:latin typeface="Arial"/>
                          <a:ea typeface="Arial"/>
                          <a:cs typeface="Arial"/>
                        </a:rPr>
                        <a:t>−15 total</a:t>
                      </a:r>
                    </a:p>
                  </a:txBody>
                  <a:tcPr marL="91440" marR="91440" marT="45720" marB="45720" anchor="ctr">
                    <a:solidFill>
                      <a:srgbClr val="FFFFFF"/>
                    </a:solidFill>
                  </a:tcPr>
                </a:tc>
              </a:tr>
              <a:tr h="598488">
                <a:tc>
                  <a:txBody>
                    <a:bodyPr lIns="133350" tIns="133350" rIns="133350" bIns="133350"/>
                    <a:lstStyle/>
                    <a:p>
                      <a:r>
                        <a:rPr sz="1725" b="0">
                          <a:solidFill>
                            <a:srgbClr val="172039"/>
                          </a:solidFill>
                          <a:latin typeface="Arial"/>
                          <a:ea typeface="Arial"/>
                          <a:cs typeface="Arial"/>
                        </a:rPr>
                        <a:t>Completed session</a:t>
                      </a:r>
                    </a:p>
                  </a:txBody>
                  <a:tcPr marL="91440" marR="91440" marT="45720" marB="45720" anchor="ctr">
                    <a:solidFill>
                      <a:srgbClr val="F0EDF8"/>
                    </a:solidFill>
                  </a:tcPr>
                </a:tc>
                <a:tc>
                  <a:txBody>
                    <a:bodyPr lIns="133350" tIns="133350" rIns="133350" bIns="133350"/>
                    <a:lstStyle/>
                    <a:p>
                      <a:r>
                        <a:rPr sz="1725" b="0">
                          <a:solidFill>
                            <a:srgbClr val="172039"/>
                          </a:solidFill>
                          <a:latin typeface="Arial"/>
                          <a:ea typeface="Arial"/>
                          <a:cs typeface="Arial"/>
                        </a:rPr>
                        <a:t>+10 to mentor</a:t>
                      </a:r>
                    </a:p>
                  </a:txBody>
                  <a:tcPr marL="91440" marR="91440" marT="45720" marB="45720" anchor="ctr">
                    <a:solidFill>
                      <a:srgbClr val="F0EDF8"/>
                    </a:solidFill>
                  </a:tcPr>
                </a:tc>
              </a:tr>
              <a:tr h="598488">
                <a:tc>
                  <a:txBody>
                    <a:bodyPr lIns="133350" tIns="133350" rIns="133350" bIns="133350"/>
                    <a:lstStyle/>
                    <a:p>
                      <a:r>
                        <a:rPr sz="1725" b="0">
                          <a:solidFill>
                            <a:srgbClr val="172039"/>
                          </a:solidFill>
                          <a:latin typeface="Arial"/>
                          <a:ea typeface="Arial"/>
                          <a:cs typeface="Arial"/>
                        </a:rPr>
                        <a:t>Rejection or cancellation</a:t>
                      </a:r>
                    </a:p>
                  </a:txBody>
                  <a:tcPr marL="91440" marR="91440" marT="45720" marB="45720" anchor="ctr">
                    <a:solidFill>
                      <a:srgbClr val="FFFFFF"/>
                    </a:solidFill>
                  </a:tcPr>
                </a:tc>
                <a:tc>
                  <a:txBody>
                    <a:bodyPr lIns="133350" tIns="133350" rIns="133350" bIns="133350"/>
                    <a:lstStyle/>
                    <a:p>
                      <a:r>
                        <a:rPr sz="1725" b="0">
                          <a:solidFill>
                            <a:srgbClr val="172039"/>
                          </a:solidFill>
                          <a:latin typeface="Arial"/>
                          <a:ea typeface="Arial"/>
                          <a:cs typeface="Arial"/>
                        </a:rPr>
                        <a:t>Request fee refunded</a:t>
                      </a:r>
                    </a:p>
                  </a:txBody>
                  <a:tcPr marL="91440" marR="91440" marT="45720" marB="45720" anchor="ctr">
                    <a:solidFill>
                      <a:srgbClr val="FFFFFF"/>
                    </a:solidFill>
                  </a:tcPr>
                </a:tc>
              </a:tr>
            </a:tbl>
          </a:graphicData>
        </a:graphic>
      </p:graphicFrame>
      <p:pic>
        <p:nvPicPr>
          <p:cNvPr id="5" name="">
            <a:extLst xmlns:a="http://schemas.openxmlformats.org/drawingml/2006/main">
              <a:ext uri="{FF2B5EF4-FFF2-40B4-BE49-F238E27FC236}">
                <a16:creationId xmlns:a16="http://schemas.microsoft.com/office/drawing/2014/main" id="{126C6D2A-3F39-46BE-98E8-B43622A309AF}"/>
              </a:ext>
            </a:extLst>
          </p:cNvPr>
          <p:cNvPicPr>
            <a:picLocks xmlns:a="http://schemas.openxmlformats.org/drawingml/2006/main" noChangeAspect="1"/>
          </p:cNvPicPr>
          <p:nvPr/>
        </p:nvPicPr>
        <p:blipFill>
          <a:blip xmlns:r="http://schemas.openxmlformats.org/officeDocument/2006/relationships" xmlns:a="http://schemas.openxmlformats.org/drawingml/2006/main" r:embed="Ree581b44cd144b16"/>
          <a:stretch xmlns:a="http://schemas.openxmlformats.org/drawingml/2006/main"/>
        </p:blipFill>
        <p:spPr>
          <a:xfrm xmlns:a="http://schemas.openxmlformats.org/drawingml/2006/main">
            <a:off x="7048500" y="2200870"/>
            <a:ext cx="4533900" cy="2408634"/>
          </a:xfrm>
          <a:prstGeom xmlns:a="http://schemas.openxmlformats.org/drawingml/2006/main" prst="rect">
            <a:avLst/>
          </a:prstGeom>
        </p:spPr>
      </p:pic>
      <p:sp>
        <p:nvSpPr>
          <p:cNvPr id="6" name="Every automated change creates a ledger entry.&#10;Cre">
            <a:extLst xmlns:a="http://schemas.openxmlformats.org/drawingml/2006/main">
              <a:ext uri="{FF2B5EF4-FFF2-40B4-BE49-F238E27FC236}">
                <a16:creationId xmlns:a16="http://schemas.microsoft.com/office/drawing/2014/main" id="{0144194A-7235-47D3-88DB-B0DCDDC181F8}"/>
              </a:ext>
            </a:extLst>
          </p:cNvPr>
          <p:cNvSpPr>
            <a:spLocks xmlns:a="http://schemas.openxmlformats.org/drawingml/2006/main" noGrp="1"/>
          </p:cNvSpPr>
          <p:nvPr/>
        </p:nvSpPr>
        <p:spPr>
          <a:xfrm xmlns:a="http://schemas.openxmlformats.org/drawingml/2006/main">
            <a:off x="609600" y="55245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B667C"/>
                </a:solidFill>
                <a:latin typeface="Arial"/>
                <a:ea typeface="Arial"/>
                <a:cs typeface="Arial"/>
              </a:defRPr>
            </a:defPPr>
          </a:lstStyle>
          <a:p xmlns:a="http://schemas.openxmlformats.org/drawingml/2006/main">
            <a:pPr>
              <a:defRPr sz="1875" b="0">
                <a:solidFill>
                  <a:srgbClr val="5B667C"/>
                </a:solidFill>
                <a:latin typeface="Arial"/>
                <a:ea typeface="Arial"/>
                <a:cs typeface="Arial"/>
              </a:defRPr>
            </a:pPr>
            <a:r>
              <a:rPr sz="1875" b="0">
                <a:solidFill>
                  <a:srgbClr val="5B667C"/>
                </a:solidFill>
                <a:latin typeface="Arial"/>
                <a:ea typeface="Arial"/>
                <a:cs typeface="Arial"/>
              </a:rPr>
              <a:t>Every automated change creates a ledger entry.</a:t>
            </a:r>
          </a:p>
          <a:p xmlns:a="http://schemas.openxmlformats.org/drawingml/2006/main">
            <a:pPr>
              <a:defRPr sz="1875" b="0">
                <a:solidFill>
                  <a:srgbClr val="5B667C"/>
                </a:solidFill>
                <a:latin typeface="Arial"/>
                <a:ea typeface="Arial"/>
                <a:cs typeface="Arial"/>
              </a:defRPr>
            </a:pPr>
            <a:r>
              <a:rPr sz="1875" b="0">
                <a:solidFill>
                  <a:srgbClr val="5B667C"/>
                </a:solidFill>
                <a:latin typeface="Arial"/>
                <a:ea typeface="Arial"/>
                <a:cs typeface="Arial"/>
              </a:rPr>
              <a:t>Credits are internal points with no monetary value.</a:t>
            </a:r>
          </a:p>
        </p:txBody>
      </p:sp>
    </p:spTree>
    <p:extLst>
      <p:ext uri="{BB962C8B-B14F-4D97-AF65-F5344CB8AC3E}">
        <p14:creationId xmlns:p14="http://schemas.microsoft.com/office/powerpoint/2010/main" val="552620137"/>
      </p:ext>
    </p:extLst>
  </p:cSld>
</p:sld>
</file>

<file path=ppt/slides/slide10.xml><?xml version="1.0" encoding="utf-8"?>
<p:sld xmlns:p="http://schemas.openxmlformats.org/presentationml/2006/main">
  <p:cSld>
    <p:bg>
      <p:bgPr>
        <a:solidFill xmlns:a="http://schemas.openxmlformats.org/drawingml/2006/main">
          <a:srgbClr val="F5F5F9"/>
        </a:solidFill>
      </p:bgPr>
    </p:bg>
    <p:spTree>
      <p:nvGrpSpPr>
        <p:cNvPr id="1" name=""/>
        <p:cNvGrpSpPr/>
        <p:nvPr/>
      </p:nvGrpSpPr>
      <p:grpSpPr>
        <a:xfrm xmlns:a="http://schemas.openxmlformats.org/drawingml/2006/main"/>
      </p:grpSpPr>
      <p:sp>
        <p:nvSpPr>
          <p:cNvPr id="8" name="Achievements and the leaderboard">
            <a:extLst xmlns:a="http://schemas.openxmlformats.org/drawingml/2006/main">
              <a:ext uri="{FF2B5EF4-FFF2-40B4-BE49-F238E27FC236}">
                <a16:creationId xmlns:a16="http://schemas.microsoft.com/office/drawing/2014/main" id="{FA7261F5-782C-4DDB-BEE5-3B7AE4F77BF0}"/>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039"/>
                </a:solidFill>
                <a:latin typeface="Arial"/>
                <a:ea typeface="Arial"/>
                <a:cs typeface="Arial"/>
              </a:defRPr>
            </a:defPPr>
          </a:lstStyle>
          <a:p xmlns:a="http://schemas.openxmlformats.org/drawingml/2006/main">
            <a:pPr>
              <a:defRPr sz="3300" b="1">
                <a:solidFill>
                  <a:srgbClr val="172039"/>
                </a:solidFill>
                <a:latin typeface="Arial"/>
                <a:ea typeface="Arial"/>
                <a:cs typeface="Arial"/>
              </a:defRPr>
            </a:pPr>
            <a:r>
              <a:rPr sz="3300" b="1">
                <a:solidFill>
                  <a:srgbClr val="172039"/>
                </a:solidFill>
                <a:latin typeface="Arial"/>
                <a:ea typeface="Arial"/>
                <a:cs typeface="Arial"/>
              </a:rPr>
              <a:t>Achievements and the leaderboard</a:t>
            </a:r>
          </a:p>
        </p:txBody>
      </p:sp>
      <p:sp>
        <p:nvSpPr>
          <p:cNvPr id="2" name="IIIT Kottayam">
            <a:extLst xmlns:a="http://schemas.openxmlformats.org/drawingml/2006/main">
              <a:ext uri="{FF2B5EF4-FFF2-40B4-BE49-F238E27FC236}">
                <a16:creationId xmlns:a16="http://schemas.microsoft.com/office/drawing/2014/main" id="{D04633E7-D247-4125-89A1-36195D26198F}"/>
              </a:ext>
            </a:extLst>
          </p:cNvPr>
          <p:cNvSpPr>
            <a:spLocks xmlns:a="http://schemas.openxmlformats.org/drawingml/2006/main" noGrp="1"/>
          </p:cNvSpPr>
          <p:nvPr/>
        </p:nvSpPr>
        <p:spPr>
          <a:xfrm xmlns:a="http://schemas.openxmlformats.org/drawingml/2006/main">
            <a:off x="609600" y="6429375"/>
            <a:ext cx="381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B667C"/>
                </a:solidFill>
                <a:latin typeface="Arial"/>
                <a:ea typeface="Arial"/>
                <a:cs typeface="Arial"/>
              </a:defRPr>
            </a:defPPr>
          </a:lstStyle>
          <a:p xmlns:a="http://schemas.openxmlformats.org/drawingml/2006/main">
            <a:pPr>
              <a:defRPr sz="1125" b="0">
                <a:solidFill>
                  <a:srgbClr val="5B667C"/>
                </a:solidFill>
                <a:latin typeface="Arial"/>
                <a:ea typeface="Arial"/>
                <a:cs typeface="Arial"/>
              </a:defRPr>
            </a:pPr>
            <a:r>
              <a:rPr sz="1125" b="0">
                <a:solidFill>
                  <a:srgbClr val="5B667C"/>
                </a:solidFill>
                <a:latin typeface="Arial"/>
                <a:ea typeface="Arial"/>
                <a:cs typeface="Arial"/>
              </a:rPr>
              <a:t>IIIT Kottayam</a:t>
            </a:r>
          </a:p>
        </p:txBody>
      </p:sp>
      <p:sp>
        <p:nvSpPr>
          <p:cNvPr id="3" name="10">
            <a:extLst xmlns:a="http://schemas.openxmlformats.org/drawingml/2006/main">
              <a:ext uri="{FF2B5EF4-FFF2-40B4-BE49-F238E27FC236}">
                <a16:creationId xmlns:a16="http://schemas.microsoft.com/office/drawing/2014/main" id="{9FE877B9-CA97-4D7E-A0E8-06523947D8DB}"/>
              </a:ext>
            </a:extLst>
          </p:cNvPr>
          <p:cNvSpPr>
            <a:spLocks xmlns:a="http://schemas.openxmlformats.org/drawingml/2006/main" noGrp="1"/>
          </p:cNvSpPr>
          <p:nvPr/>
        </p:nvSpPr>
        <p:spPr>
          <a:xfrm xmlns:a="http://schemas.openxmlformats.org/drawingml/2006/main">
            <a:off x="11087100" y="64293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B667C"/>
                </a:solidFill>
                <a:latin typeface="Arial"/>
                <a:ea typeface="Arial"/>
                <a:cs typeface="Arial"/>
              </a:defRPr>
            </a:defPPr>
          </a:lstStyle>
          <a:p xmlns:a="http://schemas.openxmlformats.org/drawingml/2006/main">
            <a:pPr>
              <a:defRPr sz="1125" b="0">
                <a:solidFill>
                  <a:srgbClr val="5B667C"/>
                </a:solidFill>
                <a:latin typeface="Arial"/>
                <a:ea typeface="Arial"/>
                <a:cs typeface="Arial"/>
              </a:defRPr>
            </a:pPr>
            <a:r>
              <a:rPr sz="1125" b="0">
                <a:solidFill>
                  <a:srgbClr val="5B667C"/>
                </a:solidFill>
                <a:latin typeface="Arial"/>
                <a:ea typeface="Arial"/>
                <a:cs typeface="Arial"/>
              </a:rPr>
              <a:t>10</a:t>
            </a:r>
          </a:p>
        </p:txBody>
      </p:sp>
      <p:graphicFrame>
        <p:nvGraphicFramePr>
          <p:cNvPr id="4" name="">
            <a:extLst xmlns:a="http://schemas.openxmlformats.org/drawingml/2006/main">
              <a:ext uri="{FF2B5EF4-FFF2-40B4-BE49-F238E27FC236}">
                <a16:creationId xmlns:a16="http://schemas.microsoft.com/office/drawing/2014/main" id="{D747C922-921E-44A0-880D-97C8ED660F89}"/>
              </a:ext>
            </a:extLst>
          </p:cNvPr>
          <p:cNvGraphicFramePr/>
          <p:nvPr/>
        </p:nvGraphicFramePr>
        <p:xfrm>
          <a:off xmlns:a="http://schemas.openxmlformats.org/drawingml/2006/main" x="609600" y="1562100"/>
          <a:ext xmlns:a="http://schemas.openxmlformats.org/drawingml/2006/main" cx="6657975" cy="4029075"/>
        </p:xfrm>
        <a:graphic xmlns:a="http://schemas.openxmlformats.org/drawingml/2006/main">
          <a:graphicData uri="http://schemas.openxmlformats.org/drawingml/2006/table">
            <a:tbl>
              <a:tblPr/>
              <a:tblGrid>
                <a:gridCol w="2600325"/>
                <a:gridCol w="4057650"/>
              </a:tblGrid>
              <a:tr h="671513">
                <a:tc>
                  <a:txBody>
                    <a:bodyPr lIns="133350" tIns="133350" rIns="133350" bIns="133350"/>
                    <a:lstStyle/>
                    <a:p>
                      <a:r>
                        <a:rPr sz="1725" b="1">
                          <a:solidFill>
                            <a:srgbClr val="FFFFFF"/>
                          </a:solidFill>
                          <a:latin typeface="Arial"/>
                          <a:ea typeface="Arial"/>
                          <a:cs typeface="Arial"/>
                        </a:rPr>
                        <a:t>Badge</a:t>
                      </a:r>
                    </a:p>
                  </a:txBody>
                  <a:tcPr marL="91440" marR="91440" marT="45720" marB="45720" anchor="ctr">
                    <a:solidFill>
                      <a:srgbClr val="0B1020"/>
                    </a:solidFill>
                  </a:tcPr>
                </a:tc>
                <a:tc>
                  <a:txBody>
                    <a:bodyPr lIns="133350" tIns="133350" rIns="133350" bIns="133350"/>
                    <a:lstStyle/>
                    <a:p>
                      <a:r>
                        <a:rPr sz="1725" b="1">
                          <a:solidFill>
                            <a:srgbClr val="FFFFFF"/>
                          </a:solidFill>
                          <a:latin typeface="Arial"/>
                          <a:ea typeface="Arial"/>
                          <a:cs typeface="Arial"/>
                        </a:rPr>
                        <a:t>Current rule</a:t>
                      </a:r>
                    </a:p>
                  </a:txBody>
                  <a:tcPr marL="91440" marR="91440" marT="45720" marB="45720" anchor="ctr">
                    <a:solidFill>
                      <a:srgbClr val="0B1020"/>
                    </a:solidFill>
                  </a:tcPr>
                </a:tc>
              </a:tr>
              <a:tr h="671513">
                <a:tc>
                  <a:txBody>
                    <a:bodyPr lIns="133350" tIns="133350" rIns="133350" bIns="133350"/>
                    <a:lstStyle/>
                    <a:p>
                      <a:r>
                        <a:rPr sz="1725" b="0">
                          <a:solidFill>
                            <a:srgbClr val="172039"/>
                          </a:solidFill>
                          <a:latin typeface="Arial"/>
                          <a:ea typeface="Arial"/>
                          <a:cs typeface="Arial"/>
                        </a:rPr>
                        <a:t>First Steps</a:t>
                      </a:r>
                    </a:p>
                  </a:txBody>
                  <a:tcPr marL="91440" marR="91440" marT="45720" marB="45720" anchor="ctr">
                    <a:solidFill>
                      <a:srgbClr val="FFFFFF"/>
                    </a:solidFill>
                  </a:tcPr>
                </a:tc>
                <a:tc>
                  <a:txBody>
                    <a:bodyPr lIns="133350" tIns="133350" rIns="133350" bIns="133350"/>
                    <a:lstStyle/>
                    <a:p>
                      <a:r>
                        <a:rPr sz="1725" b="0">
                          <a:solidFill>
                            <a:srgbClr val="172039"/>
                          </a:solidFill>
                          <a:latin typeface="Arial"/>
                          <a:ea typeface="Arial"/>
                          <a:cs typeface="Arial"/>
                        </a:rPr>
                        <a:t>Complete 1 mentorship</a:t>
                      </a:r>
                    </a:p>
                  </a:txBody>
                  <a:tcPr marL="91440" marR="91440" marT="45720" marB="45720" anchor="ctr">
                    <a:solidFill>
                      <a:srgbClr val="FFFFFF"/>
                    </a:solidFill>
                  </a:tcPr>
                </a:tc>
              </a:tr>
              <a:tr h="671513">
                <a:tc>
                  <a:txBody>
                    <a:bodyPr lIns="133350" tIns="133350" rIns="133350" bIns="133350"/>
                    <a:lstStyle/>
                    <a:p>
                      <a:r>
                        <a:rPr sz="1725" b="0">
                          <a:solidFill>
                            <a:srgbClr val="172039"/>
                          </a:solidFill>
                          <a:latin typeface="Arial"/>
                          <a:ea typeface="Arial"/>
                          <a:cs typeface="Arial"/>
                        </a:rPr>
                        <a:t>Committed Mentor</a:t>
                      </a:r>
                    </a:p>
                  </a:txBody>
                  <a:tcPr marL="91440" marR="91440" marT="45720" marB="45720" anchor="ctr">
                    <a:solidFill>
                      <a:srgbClr val="F0EDF8"/>
                    </a:solidFill>
                  </a:tcPr>
                </a:tc>
                <a:tc>
                  <a:txBody>
                    <a:bodyPr lIns="133350" tIns="133350" rIns="133350" bIns="133350"/>
                    <a:lstStyle/>
                    <a:p>
                      <a:r>
                        <a:rPr sz="1725" b="0">
                          <a:solidFill>
                            <a:srgbClr val="172039"/>
                          </a:solidFill>
                          <a:latin typeface="Arial"/>
                          <a:ea typeface="Arial"/>
                          <a:cs typeface="Arial"/>
                        </a:rPr>
                        <a:t>Complete 2 as mentor</a:t>
                      </a:r>
                    </a:p>
                  </a:txBody>
                  <a:tcPr marL="91440" marR="91440" marT="45720" marB="45720" anchor="ctr">
                    <a:solidFill>
                      <a:srgbClr val="F0EDF8"/>
                    </a:solidFill>
                  </a:tcPr>
                </a:tc>
              </a:tr>
              <a:tr h="671513">
                <a:tc>
                  <a:txBody>
                    <a:bodyPr lIns="133350" tIns="133350" rIns="133350" bIns="133350"/>
                    <a:lstStyle/>
                    <a:p>
                      <a:r>
                        <a:rPr sz="1725" b="0">
                          <a:solidFill>
                            <a:srgbClr val="172039"/>
                          </a:solidFill>
                          <a:latin typeface="Arial"/>
                          <a:ea typeface="Arial"/>
                          <a:cs typeface="Arial"/>
                        </a:rPr>
                        <a:t>Rising Star</a:t>
                      </a:r>
                    </a:p>
                  </a:txBody>
                  <a:tcPr marL="91440" marR="91440" marT="45720" marB="45720" anchor="ctr">
                    <a:solidFill>
                      <a:srgbClr val="FFFFFF"/>
                    </a:solidFill>
                  </a:tcPr>
                </a:tc>
                <a:tc>
                  <a:txBody>
                    <a:bodyPr lIns="133350" tIns="133350" rIns="133350" bIns="133350"/>
                    <a:lstStyle/>
                    <a:p>
                      <a:r>
                        <a:rPr sz="1725" b="0">
                          <a:solidFill>
                            <a:srgbClr val="172039"/>
                          </a:solidFill>
                          <a:latin typeface="Arial"/>
                          <a:ea typeface="Arial"/>
                          <a:cs typeface="Arial"/>
                        </a:rPr>
                        <a:t>Skill score at least 8.0</a:t>
                      </a:r>
                    </a:p>
                  </a:txBody>
                  <a:tcPr marL="91440" marR="91440" marT="45720" marB="45720" anchor="ctr">
                    <a:solidFill>
                      <a:srgbClr val="FFFFFF"/>
                    </a:solidFill>
                  </a:tcPr>
                </a:tc>
              </a:tr>
              <a:tr h="671513">
                <a:tc>
                  <a:txBody>
                    <a:bodyPr lIns="133350" tIns="133350" rIns="133350" bIns="133350"/>
                    <a:lstStyle/>
                    <a:p>
                      <a:r>
                        <a:rPr sz="1725" b="0">
                          <a:solidFill>
                            <a:srgbClr val="172039"/>
                          </a:solidFill>
                          <a:latin typeface="Arial"/>
                          <a:ea typeface="Arial"/>
                          <a:cs typeface="Arial"/>
                        </a:rPr>
                        <a:t>Top Rated</a:t>
                      </a:r>
                    </a:p>
                  </a:txBody>
                  <a:tcPr marL="91440" marR="91440" marT="45720" marB="45720" anchor="ctr">
                    <a:solidFill>
                      <a:srgbClr val="F0EDF8"/>
                    </a:solidFill>
                  </a:tcPr>
                </a:tc>
                <a:tc>
                  <a:txBody>
                    <a:bodyPr lIns="133350" tIns="133350" rIns="133350" bIns="133350"/>
                    <a:lstStyle/>
                    <a:p>
                      <a:r>
                        <a:rPr sz="1725" b="0">
                          <a:solidFill>
                            <a:srgbClr val="172039"/>
                          </a:solidFill>
                          <a:latin typeface="Arial"/>
                          <a:ea typeface="Arial"/>
                          <a:cs typeface="Arial"/>
                        </a:rPr>
                        <a:t>Average at least 4.5, with 1+ review</a:t>
                      </a:r>
                    </a:p>
                  </a:txBody>
                  <a:tcPr marL="91440" marR="91440" marT="45720" marB="45720" anchor="ctr">
                    <a:solidFill>
                      <a:srgbClr val="F0EDF8"/>
                    </a:solidFill>
                  </a:tcPr>
                </a:tc>
              </a:tr>
              <a:tr h="671513">
                <a:tc>
                  <a:txBody>
                    <a:bodyPr lIns="133350" tIns="133350" rIns="133350" bIns="133350"/>
                    <a:lstStyle/>
                    <a:p>
                      <a:r>
                        <a:rPr sz="1725" b="0">
                          <a:solidFill>
                            <a:srgbClr val="172039"/>
                          </a:solidFill>
                          <a:latin typeface="Arial"/>
                          <a:ea typeface="Arial"/>
                          <a:cs typeface="Arial"/>
                        </a:rPr>
                        <a:t>Helpful Hand</a:t>
                      </a:r>
                    </a:p>
                  </a:txBody>
                  <a:tcPr marL="91440" marR="91440" marT="45720" marB="45720" anchor="ctr">
                    <a:solidFill>
                      <a:srgbClr val="FFFFFF"/>
                    </a:solidFill>
                  </a:tcPr>
                </a:tc>
                <a:tc>
                  <a:txBody>
                    <a:bodyPr lIns="133350" tIns="133350" rIns="133350" bIns="133350"/>
                    <a:lstStyle/>
                    <a:p>
                      <a:r>
                        <a:rPr sz="1725" b="0">
                          <a:solidFill>
                            <a:srgbClr val="172039"/>
                          </a:solidFill>
                          <a:latin typeface="Arial"/>
                          <a:ea typeface="Arial"/>
                          <a:cs typeface="Arial"/>
                        </a:rPr>
                        <a:t>Share 2 resources</a:t>
                      </a:r>
                    </a:p>
                  </a:txBody>
                  <a:tcPr marL="91440" marR="91440" marT="45720" marB="45720" anchor="ctr">
                    <a:solidFill>
                      <a:srgbClr val="FFFFFF"/>
                    </a:solidFill>
                  </a:tcPr>
                </a:tc>
              </a:tr>
            </a:tbl>
          </a:graphicData>
        </a:graphic>
      </p:graphicFrame>
      <p:sp>
        <p:nvSpPr>
          <p:cNvPr id="5" name="Leaderboard score">
            <a:extLst xmlns:a="http://schemas.openxmlformats.org/drawingml/2006/main">
              <a:ext uri="{FF2B5EF4-FFF2-40B4-BE49-F238E27FC236}">
                <a16:creationId xmlns:a16="http://schemas.microsoft.com/office/drawing/2014/main" id="{1930F0D3-10C6-4E9F-8151-689B32C4B74B}"/>
              </a:ext>
            </a:extLst>
          </p:cNvPr>
          <p:cNvSpPr>
            <a:spLocks xmlns:a="http://schemas.openxmlformats.org/drawingml/2006/main" noGrp="1"/>
          </p:cNvSpPr>
          <p:nvPr/>
        </p:nvSpPr>
        <p:spPr>
          <a:xfrm xmlns:a="http://schemas.openxmlformats.org/drawingml/2006/main">
            <a:off x="7734300" y="1628775"/>
            <a:ext cx="3848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6D47D9"/>
                </a:solidFill>
                <a:latin typeface="Arial"/>
                <a:ea typeface="Arial"/>
                <a:cs typeface="Arial"/>
              </a:defRPr>
            </a:defPPr>
          </a:lstStyle>
          <a:p xmlns:a="http://schemas.openxmlformats.org/drawingml/2006/main">
            <a:pPr>
              <a:defRPr sz="2250" b="1">
                <a:solidFill>
                  <a:srgbClr val="6D47D9"/>
                </a:solidFill>
                <a:latin typeface="Arial"/>
                <a:ea typeface="Arial"/>
                <a:cs typeface="Arial"/>
              </a:defRPr>
            </a:pPr>
            <a:r>
              <a:rPr sz="2250" b="1">
                <a:solidFill>
                  <a:srgbClr val="6D47D9"/>
                </a:solidFill>
                <a:latin typeface="Arial"/>
                <a:ea typeface="Arial"/>
                <a:cs typeface="Arial"/>
              </a:rPr>
              <a:t>Leaderboard score</a:t>
            </a:r>
          </a:p>
        </p:txBody>
      </p:sp>
      <p:sp>
        <p:nvSpPr>
          <p:cNvPr id="6" name="10 × skill score&#10;+ 0.5 × credit balance&#10;+ 15 × bad">
            <a:extLst xmlns:a="http://schemas.openxmlformats.org/drawingml/2006/main">
              <a:ext uri="{FF2B5EF4-FFF2-40B4-BE49-F238E27FC236}">
                <a16:creationId xmlns:a16="http://schemas.microsoft.com/office/drawing/2014/main" id="{09C8C13A-F9DB-4100-99DA-1C3DA66E3616}"/>
              </a:ext>
            </a:extLst>
          </p:cNvPr>
          <p:cNvSpPr>
            <a:spLocks xmlns:a="http://schemas.openxmlformats.org/drawingml/2006/main" noGrp="1"/>
          </p:cNvSpPr>
          <p:nvPr/>
        </p:nvSpPr>
        <p:spPr>
          <a:xfrm xmlns:a="http://schemas.openxmlformats.org/drawingml/2006/main">
            <a:off x="7734300" y="2543175"/>
            <a:ext cx="38481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039"/>
                </a:solidFill>
                <a:latin typeface="Arial"/>
                <a:ea typeface="Arial"/>
                <a:cs typeface="Arial"/>
              </a:defRPr>
            </a:defPPr>
          </a:lstStyle>
          <a:p xmlns:a="http://schemas.openxmlformats.org/drawingml/2006/main">
            <a:pPr>
              <a:defRPr sz="2250" b="1">
                <a:solidFill>
                  <a:srgbClr val="172039"/>
                </a:solidFill>
                <a:latin typeface="Arial"/>
                <a:ea typeface="Arial"/>
                <a:cs typeface="Arial"/>
              </a:defRPr>
            </a:pPr>
            <a:r>
              <a:rPr sz="2250" b="1">
                <a:solidFill>
                  <a:srgbClr val="172039"/>
                </a:solidFill>
                <a:latin typeface="Arial"/>
                <a:ea typeface="Arial"/>
                <a:cs typeface="Arial"/>
              </a:rPr>
              <a:t>10 × skill score</a:t>
            </a:r>
          </a:p>
          <a:p xmlns:a="http://schemas.openxmlformats.org/drawingml/2006/main">
            <a:pPr>
              <a:defRPr sz="2250" b="1">
                <a:solidFill>
                  <a:srgbClr val="172039"/>
                </a:solidFill>
                <a:latin typeface="Arial"/>
                <a:ea typeface="Arial"/>
                <a:cs typeface="Arial"/>
              </a:defRPr>
            </a:pPr>
            <a:r>
              <a:rPr sz="2250" b="1">
                <a:solidFill>
                  <a:srgbClr val="172039"/>
                </a:solidFill>
                <a:latin typeface="Arial"/>
                <a:ea typeface="Arial"/>
                <a:cs typeface="Arial"/>
              </a:rPr>
              <a:t>+ 0.5 × credit balance</a:t>
            </a:r>
          </a:p>
          <a:p xmlns:a="http://schemas.openxmlformats.org/drawingml/2006/main">
            <a:pPr>
              <a:defRPr sz="2250" b="1">
                <a:solidFill>
                  <a:srgbClr val="172039"/>
                </a:solidFill>
                <a:latin typeface="Arial"/>
                <a:ea typeface="Arial"/>
                <a:cs typeface="Arial"/>
              </a:defRPr>
            </a:pPr>
            <a:r>
              <a:rPr sz="2250" b="1">
                <a:solidFill>
                  <a:srgbClr val="172039"/>
                </a:solidFill>
                <a:latin typeface="Arial"/>
                <a:ea typeface="Arial"/>
                <a:cs typeface="Arial"/>
              </a:rPr>
              <a:t>+ 15 × badge count</a:t>
            </a:r>
          </a:p>
        </p:txBody>
      </p:sp>
      <p:sp>
        <p:nvSpPr>
          <p:cNvPr id="7" name="Ranks recalculate on&#10;relevant application events.">
            <a:extLst xmlns:a="http://schemas.openxmlformats.org/drawingml/2006/main">
              <a:ext uri="{FF2B5EF4-FFF2-40B4-BE49-F238E27FC236}">
                <a16:creationId xmlns:a16="http://schemas.microsoft.com/office/drawing/2014/main" id="{E021B78E-FB97-47C5-AF99-83DD16A91E8E}"/>
              </a:ext>
            </a:extLst>
          </p:cNvPr>
          <p:cNvSpPr>
            <a:spLocks xmlns:a="http://schemas.openxmlformats.org/drawingml/2006/main" noGrp="1"/>
          </p:cNvSpPr>
          <p:nvPr/>
        </p:nvSpPr>
        <p:spPr>
          <a:xfrm xmlns:a="http://schemas.openxmlformats.org/drawingml/2006/main">
            <a:off x="7734300" y="4762500"/>
            <a:ext cx="3848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B667C"/>
                </a:solidFill>
                <a:latin typeface="Arial"/>
                <a:ea typeface="Arial"/>
                <a:cs typeface="Arial"/>
              </a:defRPr>
            </a:defPPr>
          </a:lstStyle>
          <a:p xmlns:a="http://schemas.openxmlformats.org/drawingml/2006/main">
            <a:pPr>
              <a:defRPr sz="1875" b="0">
                <a:solidFill>
                  <a:srgbClr val="5B667C"/>
                </a:solidFill>
                <a:latin typeface="Arial"/>
                <a:ea typeface="Arial"/>
                <a:cs typeface="Arial"/>
              </a:defRPr>
            </a:pPr>
            <a:r>
              <a:rPr sz="1875" b="0">
                <a:solidFill>
                  <a:srgbClr val="5B667C"/>
                </a:solidFill>
                <a:latin typeface="Arial"/>
                <a:ea typeface="Arial"/>
                <a:cs typeface="Arial"/>
              </a:rPr>
              <a:t>Ranks recalculate on</a:t>
            </a:r>
          </a:p>
          <a:p xmlns:a="http://schemas.openxmlformats.org/drawingml/2006/main">
            <a:pPr>
              <a:defRPr sz="1875" b="0">
                <a:solidFill>
                  <a:srgbClr val="5B667C"/>
                </a:solidFill>
                <a:latin typeface="Arial"/>
                <a:ea typeface="Arial"/>
                <a:cs typeface="Arial"/>
              </a:defRPr>
            </a:pPr>
            <a:r>
              <a:rPr sz="1875" b="0">
                <a:solidFill>
                  <a:srgbClr val="5B667C"/>
                </a:solidFill>
                <a:latin typeface="Arial"/>
                <a:ea typeface="Arial"/>
                <a:cs typeface="Arial"/>
              </a:rPr>
              <a:t>relevant application events.</a:t>
            </a:r>
          </a:p>
        </p:txBody>
      </p:sp>
    </p:spTree>
    <p:extLst>
      <p:ext uri="{BB962C8B-B14F-4D97-AF65-F5344CB8AC3E}">
        <p14:creationId xmlns:p14="http://schemas.microsoft.com/office/powerpoint/2010/main" val="825503569"/>
      </p:ext>
    </p:extLst>
  </p:cSld>
</p:sld>
</file>

<file path=ppt/slides/slide11.xml><?xml version="1.0" encoding="utf-8"?>
<p:sld xmlns:p="http://schemas.openxmlformats.org/presentationml/2006/main">
  <p:cSld>
    <p:bg>
      <p:bgPr>
        <a:solidFill xmlns:a="http://schemas.openxmlformats.org/drawingml/2006/main">
          <a:srgbClr val="F5F5F9"/>
        </a:solidFill>
      </p:bgPr>
    </p:bg>
    <p:spTree>
      <p:nvGrpSpPr>
        <p:cNvPr id="1" name=""/>
        <p:cNvGrpSpPr/>
        <p:nvPr/>
      </p:nvGrpSpPr>
      <p:grpSpPr>
        <a:xfrm xmlns:a="http://schemas.openxmlformats.org/drawingml/2006/main"/>
      </p:grpSpPr>
      <p:sp>
        <p:nvSpPr>
          <p:cNvPr id="7" name="System architecture">
            <a:extLst xmlns:a="http://schemas.openxmlformats.org/drawingml/2006/main">
              <a:ext uri="{FF2B5EF4-FFF2-40B4-BE49-F238E27FC236}">
                <a16:creationId xmlns:a16="http://schemas.microsoft.com/office/drawing/2014/main" id="{207073DB-CBB8-41CF-8227-9EF60A2C5230}"/>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039"/>
                </a:solidFill>
                <a:latin typeface="Arial"/>
                <a:ea typeface="Arial"/>
                <a:cs typeface="Arial"/>
              </a:defRPr>
            </a:defPPr>
          </a:lstStyle>
          <a:p xmlns:a="http://schemas.openxmlformats.org/drawingml/2006/main">
            <a:pPr>
              <a:defRPr sz="3300" b="1">
                <a:solidFill>
                  <a:srgbClr val="172039"/>
                </a:solidFill>
                <a:latin typeface="Arial"/>
                <a:ea typeface="Arial"/>
                <a:cs typeface="Arial"/>
              </a:defRPr>
            </a:pPr>
            <a:r>
              <a:rPr sz="3300" b="1">
                <a:solidFill>
                  <a:srgbClr val="172039"/>
                </a:solidFill>
                <a:latin typeface="Arial"/>
                <a:ea typeface="Arial"/>
                <a:cs typeface="Arial"/>
              </a:rPr>
              <a:t>System architecture</a:t>
            </a:r>
          </a:p>
        </p:txBody>
      </p:sp>
      <p:sp>
        <p:nvSpPr>
          <p:cNvPr id="2" name="IIIT Kottayam">
            <a:extLst xmlns:a="http://schemas.openxmlformats.org/drawingml/2006/main">
              <a:ext uri="{FF2B5EF4-FFF2-40B4-BE49-F238E27FC236}">
                <a16:creationId xmlns:a16="http://schemas.microsoft.com/office/drawing/2014/main" id="{9DAAD295-5AA2-43AB-96BC-4DBA1A2BE2D7}"/>
              </a:ext>
            </a:extLst>
          </p:cNvPr>
          <p:cNvSpPr>
            <a:spLocks xmlns:a="http://schemas.openxmlformats.org/drawingml/2006/main" noGrp="1"/>
          </p:cNvSpPr>
          <p:nvPr/>
        </p:nvSpPr>
        <p:spPr>
          <a:xfrm xmlns:a="http://schemas.openxmlformats.org/drawingml/2006/main">
            <a:off x="609600" y="6429375"/>
            <a:ext cx="381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B667C"/>
                </a:solidFill>
                <a:latin typeface="Arial"/>
                <a:ea typeface="Arial"/>
                <a:cs typeface="Arial"/>
              </a:defRPr>
            </a:defPPr>
          </a:lstStyle>
          <a:p xmlns:a="http://schemas.openxmlformats.org/drawingml/2006/main">
            <a:pPr>
              <a:defRPr sz="1125" b="0">
                <a:solidFill>
                  <a:srgbClr val="5B667C"/>
                </a:solidFill>
                <a:latin typeface="Arial"/>
                <a:ea typeface="Arial"/>
                <a:cs typeface="Arial"/>
              </a:defRPr>
            </a:pPr>
            <a:r>
              <a:rPr sz="1125" b="0">
                <a:solidFill>
                  <a:srgbClr val="5B667C"/>
                </a:solidFill>
                <a:latin typeface="Arial"/>
                <a:ea typeface="Arial"/>
                <a:cs typeface="Arial"/>
              </a:rPr>
              <a:t>IIIT Kottayam</a:t>
            </a:r>
          </a:p>
        </p:txBody>
      </p:sp>
      <p:sp>
        <p:nvSpPr>
          <p:cNvPr id="3" name="11">
            <a:extLst xmlns:a="http://schemas.openxmlformats.org/drawingml/2006/main">
              <a:ext uri="{FF2B5EF4-FFF2-40B4-BE49-F238E27FC236}">
                <a16:creationId xmlns:a16="http://schemas.microsoft.com/office/drawing/2014/main" id="{83D5C66D-7C15-4336-A8F9-7E14EC2CF34C}"/>
              </a:ext>
            </a:extLst>
          </p:cNvPr>
          <p:cNvSpPr>
            <a:spLocks xmlns:a="http://schemas.openxmlformats.org/drawingml/2006/main" noGrp="1"/>
          </p:cNvSpPr>
          <p:nvPr/>
        </p:nvSpPr>
        <p:spPr>
          <a:xfrm xmlns:a="http://schemas.openxmlformats.org/drawingml/2006/main">
            <a:off x="11087100" y="64293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B667C"/>
                </a:solidFill>
                <a:latin typeface="Arial"/>
                <a:ea typeface="Arial"/>
                <a:cs typeface="Arial"/>
              </a:defRPr>
            </a:defPPr>
          </a:lstStyle>
          <a:p xmlns:a="http://schemas.openxmlformats.org/drawingml/2006/main">
            <a:pPr>
              <a:defRPr sz="1125" b="0">
                <a:solidFill>
                  <a:srgbClr val="5B667C"/>
                </a:solidFill>
                <a:latin typeface="Arial"/>
                <a:ea typeface="Arial"/>
                <a:cs typeface="Arial"/>
              </a:defRPr>
            </a:pPr>
            <a:r>
              <a:rPr sz="1125" b="0">
                <a:solidFill>
                  <a:srgbClr val="5B667C"/>
                </a:solidFill>
                <a:latin typeface="Arial"/>
                <a:ea typeface="Arial"/>
                <a:cs typeface="Arial"/>
              </a:rPr>
              <a:t>11</a:t>
            </a:r>
          </a:p>
        </p:txBody>
      </p:sp>
      <p:graphicFrame>
        <p:nvGraphicFramePr>
          <p:cNvPr id="4" name="">
            <a:extLst xmlns:a="http://schemas.openxmlformats.org/drawingml/2006/main">
              <a:ext uri="{FF2B5EF4-FFF2-40B4-BE49-F238E27FC236}">
                <a16:creationId xmlns:a16="http://schemas.microsoft.com/office/drawing/2014/main" id="{0D527D7D-1D5A-4765-8E1A-9654FA494B7D}"/>
              </a:ext>
            </a:extLst>
          </p:cNvPr>
          <p:cNvGraphicFramePr/>
          <p:nvPr/>
        </p:nvGraphicFramePr>
        <p:xfrm>
          <a:off xmlns:a="http://schemas.openxmlformats.org/drawingml/2006/main" x="609600" y="1562100"/>
          <a:ext xmlns:a="http://schemas.openxmlformats.org/drawingml/2006/main" cx="10972800" cy="3190875"/>
        </p:xfrm>
        <a:graphic xmlns:a="http://schemas.openxmlformats.org/drawingml/2006/main">
          <a:graphicData uri="http://schemas.openxmlformats.org/drawingml/2006/table">
            <a:tbl>
              <a:tblPr/>
              <a:tblGrid>
                <a:gridCol w="2647950"/>
                <a:gridCol w="8324850"/>
              </a:tblGrid>
              <a:tr h="638175">
                <a:tc>
                  <a:txBody>
                    <a:bodyPr lIns="133350" tIns="133350" rIns="133350" bIns="133350"/>
                    <a:lstStyle/>
                    <a:p>
                      <a:r>
                        <a:rPr sz="1725" b="1">
                          <a:solidFill>
                            <a:srgbClr val="FFFFFF"/>
                          </a:solidFill>
                          <a:latin typeface="Arial"/>
                          <a:ea typeface="Arial"/>
                          <a:cs typeface="Arial"/>
                        </a:rPr>
                        <a:t>Layer</a:t>
                      </a:r>
                    </a:p>
                  </a:txBody>
                  <a:tcPr marL="91440" marR="91440" marT="45720" marB="45720" anchor="ctr">
                    <a:solidFill>
                      <a:srgbClr val="0B1020"/>
                    </a:solidFill>
                  </a:tcPr>
                </a:tc>
                <a:tc>
                  <a:txBody>
                    <a:bodyPr lIns="133350" tIns="133350" rIns="133350" bIns="133350"/>
                    <a:lstStyle/>
                    <a:p>
                      <a:r>
                        <a:rPr sz="1725" b="1">
                          <a:solidFill>
                            <a:srgbClr val="FFFFFF"/>
                          </a:solidFill>
                          <a:latin typeface="Arial"/>
                          <a:ea typeface="Arial"/>
                          <a:cs typeface="Arial"/>
                        </a:rPr>
                        <a:t>Implementation</a:t>
                      </a:r>
                    </a:p>
                  </a:txBody>
                  <a:tcPr marL="91440" marR="91440" marT="45720" marB="45720" anchor="ctr">
                    <a:solidFill>
                      <a:srgbClr val="0B1020"/>
                    </a:solidFill>
                  </a:tcPr>
                </a:tc>
              </a:tr>
              <a:tr h="638175">
                <a:tc>
                  <a:txBody>
                    <a:bodyPr lIns="133350" tIns="133350" rIns="133350" bIns="133350"/>
                    <a:lstStyle/>
                    <a:p>
                      <a:r>
                        <a:rPr sz="1725" b="0">
                          <a:solidFill>
                            <a:srgbClr val="172039"/>
                          </a:solidFill>
                          <a:latin typeface="Arial"/>
                          <a:ea typeface="Arial"/>
                          <a:cs typeface="Arial"/>
                        </a:rPr>
                        <a:t>Presentation</a:t>
                      </a:r>
                    </a:p>
                  </a:txBody>
                  <a:tcPr marL="91440" marR="91440" marT="45720" marB="45720" anchor="ctr">
                    <a:solidFill>
                      <a:srgbClr val="FFFFFF"/>
                    </a:solidFill>
                  </a:tcPr>
                </a:tc>
                <a:tc>
                  <a:txBody>
                    <a:bodyPr lIns="133350" tIns="133350" rIns="133350" bIns="133350"/>
                    <a:lstStyle/>
                    <a:p>
                      <a:r>
                        <a:rPr sz="1725" b="0">
                          <a:solidFill>
                            <a:srgbClr val="172039"/>
                          </a:solidFill>
                          <a:latin typeface="Arial"/>
                          <a:ea typeface="Arial"/>
                          <a:cs typeface="Arial"/>
                        </a:rPr>
                        <a:t>Django templates, Bootstrap 5.3.3 and custom CSS</a:t>
                      </a:r>
                    </a:p>
                  </a:txBody>
                  <a:tcPr marL="91440" marR="91440" marT="45720" marB="45720" anchor="ctr">
                    <a:solidFill>
                      <a:srgbClr val="FFFFFF"/>
                    </a:solidFill>
                  </a:tcPr>
                </a:tc>
              </a:tr>
              <a:tr h="638175">
                <a:tc>
                  <a:txBody>
                    <a:bodyPr lIns="133350" tIns="133350" rIns="133350" bIns="133350"/>
                    <a:lstStyle/>
                    <a:p>
                      <a:r>
                        <a:rPr sz="1725" b="0">
                          <a:solidFill>
                            <a:srgbClr val="172039"/>
                          </a:solidFill>
                          <a:latin typeface="Arial"/>
                          <a:ea typeface="Arial"/>
                          <a:cs typeface="Arial"/>
                        </a:rPr>
                        <a:t>Application</a:t>
                      </a:r>
                    </a:p>
                  </a:txBody>
                  <a:tcPr marL="91440" marR="91440" marT="45720" marB="45720" anchor="ctr">
                    <a:solidFill>
                      <a:srgbClr val="F0EDF8"/>
                    </a:solidFill>
                  </a:tcPr>
                </a:tc>
                <a:tc>
                  <a:txBody>
                    <a:bodyPr lIns="133350" tIns="133350" rIns="133350" bIns="133350"/>
                    <a:lstStyle/>
                    <a:p>
                      <a:r>
                        <a:rPr sz="1725" b="0">
                          <a:solidFill>
                            <a:srgbClr val="172039"/>
                          </a:solidFill>
                          <a:latin typeface="Arial"/>
                          <a:ea typeface="Arial"/>
                          <a:cs typeface="Arial"/>
                        </a:rPr>
                        <a:t>Django 5.x with authentication, ORM and migrations</a:t>
                      </a:r>
                    </a:p>
                  </a:txBody>
                  <a:tcPr marL="91440" marR="91440" marT="45720" marB="45720" anchor="ctr">
                    <a:solidFill>
                      <a:srgbClr val="F0EDF8"/>
                    </a:solidFill>
                  </a:tcPr>
                </a:tc>
              </a:tr>
              <a:tr h="638175">
                <a:tc>
                  <a:txBody>
                    <a:bodyPr lIns="133350" tIns="133350" rIns="133350" bIns="133350"/>
                    <a:lstStyle/>
                    <a:p>
                      <a:r>
                        <a:rPr sz="1725" b="0">
                          <a:solidFill>
                            <a:srgbClr val="172039"/>
                          </a:solidFill>
                          <a:latin typeface="Arial"/>
                          <a:ea typeface="Arial"/>
                          <a:cs typeface="Arial"/>
                        </a:rPr>
                        <a:t>Domain logic</a:t>
                      </a:r>
                    </a:p>
                  </a:txBody>
                  <a:tcPr marL="91440" marR="91440" marT="45720" marB="45720" anchor="ctr">
                    <a:solidFill>
                      <a:srgbClr val="FFFFFF"/>
                    </a:solidFill>
                  </a:tcPr>
                </a:tc>
                <a:tc>
                  <a:txBody>
                    <a:bodyPr lIns="133350" tIns="133350" rIns="133350" bIns="133350"/>
                    <a:lstStyle/>
                    <a:p>
                      <a:r>
                        <a:rPr sz="1725" b="0">
                          <a:solidFill>
                            <a:srgbClr val="172039"/>
                          </a:solidFill>
                          <a:latin typeface="Arial"/>
                          <a:ea typeface="Arial"/>
                          <a:cs typeface="Arial"/>
                        </a:rPr>
                        <a:t>Python services and view handlers run synchronously</a:t>
                      </a:r>
                    </a:p>
                  </a:txBody>
                  <a:tcPr marL="91440" marR="91440" marT="45720" marB="45720" anchor="ctr">
                    <a:solidFill>
                      <a:srgbClr val="FFFFFF"/>
                    </a:solidFill>
                  </a:tcPr>
                </a:tc>
              </a:tr>
              <a:tr h="638175">
                <a:tc>
                  <a:txBody>
                    <a:bodyPr lIns="133350" tIns="133350" rIns="133350" bIns="133350"/>
                    <a:lstStyle/>
                    <a:p>
                      <a:r>
                        <a:rPr sz="1725" b="0">
                          <a:solidFill>
                            <a:srgbClr val="172039"/>
                          </a:solidFill>
                          <a:latin typeface="Arial"/>
                          <a:ea typeface="Arial"/>
                          <a:cs typeface="Arial"/>
                        </a:rPr>
                        <a:t>Persistence</a:t>
                      </a:r>
                    </a:p>
                  </a:txBody>
                  <a:tcPr marL="91440" marR="91440" marT="45720" marB="45720" anchor="ctr">
                    <a:solidFill>
                      <a:srgbClr val="F0EDF8"/>
                    </a:solidFill>
                  </a:tcPr>
                </a:tc>
                <a:tc>
                  <a:txBody>
                    <a:bodyPr lIns="133350" tIns="133350" rIns="133350" bIns="133350"/>
                    <a:lstStyle/>
                    <a:p>
                      <a:r>
                        <a:rPr sz="1725" b="0">
                          <a:solidFill>
                            <a:srgbClr val="172039"/>
                          </a:solidFill>
                          <a:latin typeface="Arial"/>
                          <a:ea typeface="Arial"/>
                          <a:cs typeface="Arial"/>
                        </a:rPr>
                        <a:t>SQLite database and local media files</a:t>
                      </a:r>
                    </a:p>
                  </a:txBody>
                  <a:tcPr marL="91440" marR="91440" marT="45720" marB="45720" anchor="ctr">
                    <a:solidFill>
                      <a:srgbClr val="F0EDF8"/>
                    </a:solidFill>
                  </a:tcPr>
                </a:tc>
              </a:tr>
            </a:tbl>
          </a:graphicData>
        </a:graphic>
      </p:graphicFrame>
      <p:sp>
        <p:nvSpPr>
          <p:cNvPr id="5" name="Five domain apps">
            <a:extLst xmlns:a="http://schemas.openxmlformats.org/drawingml/2006/main">
              <a:ext uri="{FF2B5EF4-FFF2-40B4-BE49-F238E27FC236}">
                <a16:creationId xmlns:a16="http://schemas.microsoft.com/office/drawing/2014/main" id="{3BBD67E8-A6D1-4371-894F-FCAB6D2FCB63}"/>
              </a:ext>
            </a:extLst>
          </p:cNvPr>
          <p:cNvSpPr>
            <a:spLocks xmlns:a="http://schemas.openxmlformats.org/drawingml/2006/main" noGrp="1"/>
          </p:cNvSpPr>
          <p:nvPr/>
        </p:nvSpPr>
        <p:spPr>
          <a:xfrm xmlns:a="http://schemas.openxmlformats.org/drawingml/2006/main">
            <a:off x="609600" y="51625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6D47D9"/>
                </a:solidFill>
                <a:latin typeface="Arial"/>
                <a:ea typeface="Arial"/>
                <a:cs typeface="Arial"/>
              </a:defRPr>
            </a:defPPr>
          </a:lstStyle>
          <a:p xmlns:a="http://schemas.openxmlformats.org/drawingml/2006/main">
            <a:pPr>
              <a:defRPr sz="2100" b="1">
                <a:solidFill>
                  <a:srgbClr val="6D47D9"/>
                </a:solidFill>
                <a:latin typeface="Arial"/>
                <a:ea typeface="Arial"/>
                <a:cs typeface="Arial"/>
              </a:defRPr>
            </a:pPr>
            <a:r>
              <a:rPr sz="2100" b="1">
                <a:solidFill>
                  <a:srgbClr val="6D47D9"/>
                </a:solidFill>
                <a:latin typeface="Arial"/>
                <a:ea typeface="Arial"/>
                <a:cs typeface="Arial"/>
              </a:rPr>
              <a:t>Five domain apps</a:t>
            </a:r>
          </a:p>
        </p:txBody>
      </p:sp>
      <p:sp>
        <p:nvSpPr>
          <p:cNvPr id="6" name="accounts    matching    mentorship&#10;gamification   ">
            <a:extLst xmlns:a="http://schemas.openxmlformats.org/drawingml/2006/main">
              <a:ext uri="{FF2B5EF4-FFF2-40B4-BE49-F238E27FC236}">
                <a16:creationId xmlns:a16="http://schemas.microsoft.com/office/drawing/2014/main" id="{0EFA4CCF-224C-4A14-9C84-D7F274C985E1}"/>
              </a:ext>
            </a:extLst>
          </p:cNvPr>
          <p:cNvSpPr>
            <a:spLocks xmlns:a="http://schemas.openxmlformats.org/drawingml/2006/main" noGrp="1"/>
          </p:cNvSpPr>
          <p:nvPr/>
        </p:nvSpPr>
        <p:spPr>
          <a:xfrm xmlns:a="http://schemas.openxmlformats.org/drawingml/2006/main">
            <a:off x="3981450" y="5162550"/>
            <a:ext cx="75914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39"/>
                </a:solidFill>
                <a:latin typeface="Arial"/>
                <a:ea typeface="Arial"/>
                <a:cs typeface="Arial"/>
              </a:defRPr>
            </a:defPPr>
          </a:lstStyle>
          <a:p xmlns:a="http://schemas.openxmlformats.org/drawingml/2006/main">
            <a:pPr>
              <a:defRPr sz="2025" b="0">
                <a:solidFill>
                  <a:srgbClr val="172039"/>
                </a:solidFill>
                <a:latin typeface="Arial"/>
                <a:ea typeface="Arial"/>
                <a:cs typeface="Arial"/>
              </a:defRPr>
            </a:pPr>
            <a:r>
              <a:rPr sz="2025" b="0">
                <a:solidFill>
                  <a:srgbClr val="172039"/>
                </a:solidFill>
                <a:latin typeface="Arial"/>
                <a:ea typeface="Arial"/>
                <a:cs typeface="Arial"/>
              </a:rPr>
              <a:t>accounts    matching    mentorship</a:t>
            </a:r>
          </a:p>
          <a:p xmlns:a="http://schemas.openxmlformats.org/drawingml/2006/main">
            <a:pPr>
              <a:defRPr sz="2025" b="0">
                <a:solidFill>
                  <a:srgbClr val="172039"/>
                </a:solidFill>
                <a:latin typeface="Arial"/>
                <a:ea typeface="Arial"/>
                <a:cs typeface="Arial"/>
              </a:defRPr>
            </a:pPr>
            <a:r>
              <a:rPr sz="2025" b="0">
                <a:solidFill>
                  <a:srgbClr val="172039"/>
                </a:solidFill>
                <a:latin typeface="Arial"/>
                <a:ea typeface="Arial"/>
                <a:cs typeface="Arial"/>
              </a:rPr>
              <a:t>gamification    notifications</a:t>
            </a:r>
          </a:p>
        </p:txBody>
      </p:sp>
    </p:spTree>
    <p:extLst>
      <p:ext uri="{BB962C8B-B14F-4D97-AF65-F5344CB8AC3E}">
        <p14:creationId xmlns:p14="http://schemas.microsoft.com/office/powerpoint/2010/main" val="156534321"/>
      </p:ext>
    </p:extLst>
  </p:cSld>
</p:sld>
</file>

<file path=ppt/slides/slide12.xml><?xml version="1.0" encoding="utf-8"?>
<p:sld xmlns:p="http://schemas.openxmlformats.org/presentationml/2006/main">
  <p:cSld>
    <p:bg>
      <p:bgPr>
        <a:solidFill xmlns:a="http://schemas.openxmlformats.org/drawingml/2006/main">
          <a:srgbClr val="F5F5F9"/>
        </a:solidFill>
      </p:bgPr>
    </p:bg>
    <p:spTree>
      <p:nvGrpSpPr>
        <p:cNvPr id="1" name=""/>
        <p:cNvGrpSpPr/>
        <p:nvPr/>
      </p:nvGrpSpPr>
      <p:grpSpPr>
        <a:xfrm xmlns:a="http://schemas.openxmlformats.org/drawingml/2006/main"/>
      </p:grpSpPr>
      <p:sp>
        <p:nvSpPr>
          <p:cNvPr id="5" name="Core data relationships">
            <a:extLst xmlns:a="http://schemas.openxmlformats.org/drawingml/2006/main">
              <a:ext uri="{FF2B5EF4-FFF2-40B4-BE49-F238E27FC236}">
                <a16:creationId xmlns:a16="http://schemas.microsoft.com/office/drawing/2014/main" id="{282A18E9-60D7-4AE5-9FA4-5D8765F85EC2}"/>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039"/>
                </a:solidFill>
                <a:latin typeface="Arial"/>
                <a:ea typeface="Arial"/>
                <a:cs typeface="Arial"/>
              </a:defRPr>
            </a:defPPr>
          </a:lstStyle>
          <a:p xmlns:a="http://schemas.openxmlformats.org/drawingml/2006/main">
            <a:pPr>
              <a:defRPr sz="3300" b="1">
                <a:solidFill>
                  <a:srgbClr val="172039"/>
                </a:solidFill>
                <a:latin typeface="Arial"/>
                <a:ea typeface="Arial"/>
                <a:cs typeface="Arial"/>
              </a:defRPr>
            </a:pPr>
            <a:r>
              <a:rPr sz="3300" b="1">
                <a:solidFill>
                  <a:srgbClr val="172039"/>
                </a:solidFill>
                <a:latin typeface="Arial"/>
                <a:ea typeface="Arial"/>
                <a:cs typeface="Arial"/>
              </a:rPr>
              <a:t>Core data relationships</a:t>
            </a:r>
          </a:p>
        </p:txBody>
      </p:sp>
      <p:sp>
        <p:nvSpPr>
          <p:cNvPr id="2" name="IIIT Kottayam">
            <a:extLst xmlns:a="http://schemas.openxmlformats.org/drawingml/2006/main">
              <a:ext uri="{FF2B5EF4-FFF2-40B4-BE49-F238E27FC236}">
                <a16:creationId xmlns:a16="http://schemas.microsoft.com/office/drawing/2014/main" id="{B6FD208C-884C-4DAA-8650-5A6FE6381AC1}"/>
              </a:ext>
            </a:extLst>
          </p:cNvPr>
          <p:cNvSpPr>
            <a:spLocks xmlns:a="http://schemas.openxmlformats.org/drawingml/2006/main" noGrp="1"/>
          </p:cNvSpPr>
          <p:nvPr/>
        </p:nvSpPr>
        <p:spPr>
          <a:xfrm xmlns:a="http://schemas.openxmlformats.org/drawingml/2006/main">
            <a:off x="609600" y="6429375"/>
            <a:ext cx="381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B667C"/>
                </a:solidFill>
                <a:latin typeface="Arial"/>
                <a:ea typeface="Arial"/>
                <a:cs typeface="Arial"/>
              </a:defRPr>
            </a:defPPr>
          </a:lstStyle>
          <a:p xmlns:a="http://schemas.openxmlformats.org/drawingml/2006/main">
            <a:pPr>
              <a:defRPr sz="1125" b="0">
                <a:solidFill>
                  <a:srgbClr val="5B667C"/>
                </a:solidFill>
                <a:latin typeface="Arial"/>
                <a:ea typeface="Arial"/>
                <a:cs typeface="Arial"/>
              </a:defRPr>
            </a:pPr>
            <a:r>
              <a:rPr sz="1125" b="0">
                <a:solidFill>
                  <a:srgbClr val="5B667C"/>
                </a:solidFill>
                <a:latin typeface="Arial"/>
                <a:ea typeface="Arial"/>
                <a:cs typeface="Arial"/>
              </a:rPr>
              <a:t>IIIT Kottayam</a:t>
            </a:r>
          </a:p>
        </p:txBody>
      </p:sp>
      <p:sp>
        <p:nvSpPr>
          <p:cNvPr id="3" name="12">
            <a:extLst xmlns:a="http://schemas.openxmlformats.org/drawingml/2006/main">
              <a:ext uri="{FF2B5EF4-FFF2-40B4-BE49-F238E27FC236}">
                <a16:creationId xmlns:a16="http://schemas.microsoft.com/office/drawing/2014/main" id="{DD587D92-0E1C-4F5A-B8AB-7473CC0CBE31}"/>
              </a:ext>
            </a:extLst>
          </p:cNvPr>
          <p:cNvSpPr>
            <a:spLocks xmlns:a="http://schemas.openxmlformats.org/drawingml/2006/main" noGrp="1"/>
          </p:cNvSpPr>
          <p:nvPr/>
        </p:nvSpPr>
        <p:spPr>
          <a:xfrm xmlns:a="http://schemas.openxmlformats.org/drawingml/2006/main">
            <a:off x="11087100" y="64293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B667C"/>
                </a:solidFill>
                <a:latin typeface="Arial"/>
                <a:ea typeface="Arial"/>
                <a:cs typeface="Arial"/>
              </a:defRPr>
            </a:defPPr>
          </a:lstStyle>
          <a:p xmlns:a="http://schemas.openxmlformats.org/drawingml/2006/main">
            <a:pPr>
              <a:defRPr sz="1125" b="0">
                <a:solidFill>
                  <a:srgbClr val="5B667C"/>
                </a:solidFill>
                <a:latin typeface="Arial"/>
                <a:ea typeface="Arial"/>
                <a:cs typeface="Arial"/>
              </a:defRPr>
            </a:pPr>
            <a:r>
              <a:rPr sz="1125" b="0">
                <a:solidFill>
                  <a:srgbClr val="5B667C"/>
                </a:solidFill>
                <a:latin typeface="Arial"/>
                <a:ea typeface="Arial"/>
                <a:cs typeface="Arial"/>
              </a:rPr>
              <a:t>12</a:t>
            </a:r>
          </a:p>
        </p:txBody>
      </p:sp>
      <p:graphicFrame>
        <p:nvGraphicFramePr>
          <p:cNvPr id="4" name="">
            <a:extLst xmlns:a="http://schemas.openxmlformats.org/drawingml/2006/main">
              <a:ext uri="{FF2B5EF4-FFF2-40B4-BE49-F238E27FC236}">
                <a16:creationId xmlns:a16="http://schemas.microsoft.com/office/drawing/2014/main" id="{8A3909E0-3FDA-4BC2-AD89-B9A264EEBC7E}"/>
              </a:ext>
            </a:extLst>
          </p:cNvPr>
          <p:cNvGraphicFramePr/>
          <p:nvPr/>
        </p:nvGraphicFramePr>
        <p:xfrm>
          <a:off xmlns:a="http://schemas.openxmlformats.org/drawingml/2006/main" x="609600" y="1524000"/>
          <a:ext xmlns:a="http://schemas.openxmlformats.org/drawingml/2006/main" cx="10972800" cy="4429125"/>
        </p:xfrm>
        <a:graphic xmlns:a="http://schemas.openxmlformats.org/drawingml/2006/main">
          <a:graphicData uri="http://schemas.openxmlformats.org/drawingml/2006/table">
            <a:tbl>
              <a:tblPr/>
              <a:tblGrid>
                <a:gridCol w="2647950"/>
                <a:gridCol w="8324850"/>
              </a:tblGrid>
              <a:tr h="632732">
                <a:tc>
                  <a:txBody>
                    <a:bodyPr lIns="133350" tIns="133350" rIns="133350" bIns="133350"/>
                    <a:lstStyle/>
                    <a:p>
                      <a:r>
                        <a:rPr sz="1725" b="1">
                          <a:solidFill>
                            <a:srgbClr val="FFFFFF"/>
                          </a:solidFill>
                          <a:latin typeface="Arial"/>
                          <a:ea typeface="Arial"/>
                          <a:cs typeface="Arial"/>
                        </a:rPr>
                        <a:t>Domain</a:t>
                      </a:r>
                    </a:p>
                  </a:txBody>
                  <a:tcPr marL="91440" marR="91440" marT="45720" marB="45720" anchor="ctr">
                    <a:solidFill>
                      <a:srgbClr val="0B1020"/>
                    </a:solidFill>
                  </a:tcPr>
                </a:tc>
                <a:tc>
                  <a:txBody>
                    <a:bodyPr lIns="133350" tIns="133350" rIns="133350" bIns="133350"/>
                    <a:lstStyle/>
                    <a:p>
                      <a:r>
                        <a:rPr sz="1725" b="1">
                          <a:solidFill>
                            <a:srgbClr val="FFFFFF"/>
                          </a:solidFill>
                          <a:latin typeface="Arial"/>
                          <a:ea typeface="Arial"/>
                          <a:cs typeface="Arial"/>
                        </a:rPr>
                        <a:t>Relationships</a:t>
                      </a:r>
                    </a:p>
                  </a:txBody>
                  <a:tcPr marL="91440" marR="91440" marT="45720" marB="45720" anchor="ctr">
                    <a:solidFill>
                      <a:srgbClr val="0B1020"/>
                    </a:solidFill>
                  </a:tcPr>
                </a:tc>
              </a:tr>
              <a:tr h="632732">
                <a:tc>
                  <a:txBody>
                    <a:bodyPr lIns="133350" tIns="133350" rIns="133350" bIns="133350"/>
                    <a:lstStyle/>
                    <a:p>
                      <a:r>
                        <a:rPr sz="1725" b="0">
                          <a:solidFill>
                            <a:srgbClr val="172039"/>
                          </a:solidFill>
                          <a:latin typeface="Arial"/>
                          <a:ea typeface="Arial"/>
                          <a:cs typeface="Arial"/>
                        </a:rPr>
                        <a:t>Identity</a:t>
                      </a:r>
                    </a:p>
                  </a:txBody>
                  <a:tcPr marL="91440" marR="91440" marT="45720" marB="45720" anchor="ctr">
                    <a:solidFill>
                      <a:srgbClr val="FFFFFF"/>
                    </a:solidFill>
                  </a:tcPr>
                </a:tc>
                <a:tc>
                  <a:txBody>
                    <a:bodyPr lIns="133350" tIns="133350" rIns="133350" bIns="133350"/>
                    <a:lstStyle/>
                    <a:p>
                      <a:r>
                        <a:rPr sz="1725" b="0">
                          <a:solidFill>
                            <a:srgbClr val="172039"/>
                          </a:solidFill>
                          <a:latin typeface="Arial"/>
                          <a:ea typeface="Arial"/>
                          <a:cs typeface="Arial"/>
                        </a:rPr>
                        <a:t>User has one Profile and multiple RoleAssignments</a:t>
                      </a:r>
                    </a:p>
                  </a:txBody>
                  <a:tcPr marL="91440" marR="91440" marT="45720" marB="45720" anchor="ctr">
                    <a:solidFill>
                      <a:srgbClr val="FFFFFF"/>
                    </a:solidFill>
                  </a:tcPr>
                </a:tc>
              </a:tr>
              <a:tr h="632732">
                <a:tc>
                  <a:txBody>
                    <a:bodyPr lIns="133350" tIns="133350" rIns="133350" bIns="133350"/>
                    <a:lstStyle/>
                    <a:p>
                      <a:r>
                        <a:rPr sz="1725" b="0">
                          <a:solidFill>
                            <a:srgbClr val="172039"/>
                          </a:solidFill>
                          <a:latin typeface="Arial"/>
                          <a:ea typeface="Arial"/>
                          <a:cs typeface="Arial"/>
                        </a:rPr>
                        <a:t>Skills</a:t>
                      </a:r>
                    </a:p>
                  </a:txBody>
                  <a:tcPr marL="91440" marR="91440" marT="45720" marB="45720" anchor="ctr">
                    <a:solidFill>
                      <a:srgbClr val="F0EDF8"/>
                    </a:solidFill>
                  </a:tcPr>
                </a:tc>
                <a:tc>
                  <a:txBody>
                    <a:bodyPr lIns="133350" tIns="133350" rIns="133350" bIns="133350"/>
                    <a:lstStyle/>
                    <a:p>
                      <a:r>
                        <a:rPr sz="1725" b="0">
                          <a:solidFill>
                            <a:srgbClr val="172039"/>
                          </a:solidFill>
                          <a:latin typeface="Arial"/>
                          <a:ea typeface="Arial"/>
                          <a:cs typeface="Arial"/>
                        </a:rPr>
                        <a:t>Profile and Skill share a many-to-many relationship</a:t>
                      </a:r>
                    </a:p>
                  </a:txBody>
                  <a:tcPr marL="91440" marR="91440" marT="45720" marB="45720" anchor="ctr">
                    <a:solidFill>
                      <a:srgbClr val="F0EDF8"/>
                    </a:solidFill>
                  </a:tcPr>
                </a:tc>
              </a:tr>
              <a:tr h="632732">
                <a:tc>
                  <a:txBody>
                    <a:bodyPr lIns="133350" tIns="133350" rIns="133350" bIns="133350"/>
                    <a:lstStyle/>
                    <a:p>
                      <a:r>
                        <a:rPr sz="1725" b="0">
                          <a:solidFill>
                            <a:srgbClr val="172039"/>
                          </a:solidFill>
                          <a:latin typeface="Arial"/>
                          <a:ea typeface="Arial"/>
                          <a:cs typeface="Arial"/>
                        </a:rPr>
                        <a:t>Mentorship</a:t>
                      </a:r>
                    </a:p>
                  </a:txBody>
                  <a:tcPr marL="91440" marR="91440" marT="45720" marB="45720" anchor="ctr">
                    <a:solidFill>
                      <a:srgbClr val="FFFFFF"/>
                    </a:solidFill>
                  </a:tcPr>
                </a:tc>
                <a:tc>
                  <a:txBody>
                    <a:bodyPr lIns="133350" tIns="133350" rIns="133350" bIns="133350"/>
                    <a:lstStyle/>
                    <a:p>
                      <a:r>
                        <a:rPr sz="1725" b="0">
                          <a:solidFill>
                            <a:srgbClr val="172039"/>
                          </a:solidFill>
                          <a:latin typeface="Arial"/>
                          <a:ea typeface="Arial"/>
                          <a:cs typeface="Arial"/>
                        </a:rPr>
                        <a:t>Mentor and learner reference User, with one Progress record</a:t>
                      </a:r>
                    </a:p>
                  </a:txBody>
                  <a:tcPr marL="91440" marR="91440" marT="45720" marB="45720" anchor="ctr">
                    <a:solidFill>
                      <a:srgbClr val="FFFFFF"/>
                    </a:solidFill>
                  </a:tcPr>
                </a:tc>
              </a:tr>
              <a:tr h="632732">
                <a:tc>
                  <a:txBody>
                    <a:bodyPr lIns="133350" tIns="133350" rIns="133350" bIns="133350"/>
                    <a:lstStyle/>
                    <a:p>
                      <a:r>
                        <a:rPr sz="1725" b="0">
                          <a:solidFill>
                            <a:srgbClr val="172039"/>
                          </a:solidFill>
                          <a:latin typeface="Arial"/>
                          <a:ea typeface="Arial"/>
                          <a:cs typeface="Arial"/>
                        </a:rPr>
                        <a:t>Collaboration</a:t>
                      </a:r>
                    </a:p>
                  </a:txBody>
                  <a:tcPr marL="91440" marR="91440" marT="45720" marB="45720" anchor="ctr">
                    <a:solidFill>
                      <a:srgbClr val="F0EDF8"/>
                    </a:solidFill>
                  </a:tcPr>
                </a:tc>
                <a:tc>
                  <a:txBody>
                    <a:bodyPr lIns="133350" tIns="133350" rIns="133350" bIns="133350"/>
                    <a:lstStyle/>
                    <a:p>
                      <a:r>
                        <a:rPr sz="1725" b="0">
                          <a:solidFill>
                            <a:srgbClr val="172039"/>
                          </a:solidFill>
                          <a:latin typeface="Arial"/>
                          <a:ea typeface="Arial"/>
                          <a:cs typeface="Arial"/>
                        </a:rPr>
                        <a:t>Mentorship has sessions, milestones, resources and posts</a:t>
                      </a:r>
                    </a:p>
                  </a:txBody>
                  <a:tcPr marL="91440" marR="91440" marT="45720" marB="45720" anchor="ctr">
                    <a:solidFill>
                      <a:srgbClr val="F0EDF8"/>
                    </a:solidFill>
                  </a:tcPr>
                </a:tc>
              </a:tr>
              <a:tr h="632732">
                <a:tc>
                  <a:txBody>
                    <a:bodyPr lIns="133350" tIns="133350" rIns="133350" bIns="133350"/>
                    <a:lstStyle/>
                    <a:p>
                      <a:r>
                        <a:rPr sz="1725" b="0">
                          <a:solidFill>
                            <a:srgbClr val="172039"/>
                          </a:solidFill>
                          <a:latin typeface="Arial"/>
                          <a:ea typeface="Arial"/>
                          <a:cs typeface="Arial"/>
                        </a:rPr>
                        <a:t>Participation</a:t>
                      </a:r>
                    </a:p>
                  </a:txBody>
                  <a:tcPr marL="91440" marR="91440" marT="45720" marB="45720" anchor="ctr">
                    <a:solidFill>
                      <a:srgbClr val="FFFFFF"/>
                    </a:solidFill>
                  </a:tcPr>
                </a:tc>
                <a:tc>
                  <a:txBody>
                    <a:bodyPr lIns="133350" tIns="133350" rIns="133350" bIns="133350"/>
                    <a:lstStyle/>
                    <a:p>
                      <a:r>
                        <a:rPr sz="1725" b="0">
                          <a:solidFill>
                            <a:srgbClr val="172039"/>
                          </a:solidFill>
                          <a:latin typeface="Arial"/>
                          <a:ea typeface="Arial"/>
                          <a:cs typeface="Arial"/>
                        </a:rPr>
                        <a:t>User has one credit wallet, transactions and earned badges</a:t>
                      </a:r>
                    </a:p>
                  </a:txBody>
                  <a:tcPr marL="91440" marR="91440" marT="45720" marB="45720" anchor="ctr">
                    <a:solidFill>
                      <a:srgbClr val="FFFFFF"/>
                    </a:solidFill>
                  </a:tcPr>
                </a:tc>
              </a:tr>
              <a:tr h="632732">
                <a:tc>
                  <a:txBody>
                    <a:bodyPr lIns="133350" tIns="133350" rIns="133350" bIns="133350"/>
                    <a:lstStyle/>
                    <a:p>
                      <a:r>
                        <a:rPr sz="1725" b="0">
                          <a:solidFill>
                            <a:srgbClr val="172039"/>
                          </a:solidFill>
                          <a:latin typeface="Arial"/>
                          <a:ea typeface="Arial"/>
                          <a:cs typeface="Arial"/>
                        </a:rPr>
                        <a:t>Feedback and alerts</a:t>
                      </a:r>
                    </a:p>
                  </a:txBody>
                  <a:tcPr marL="91440" marR="91440" marT="45720" marB="45720" anchor="ctr">
                    <a:solidFill>
                      <a:srgbClr val="F0EDF8"/>
                    </a:solidFill>
                  </a:tcPr>
                </a:tc>
                <a:tc>
                  <a:txBody>
                    <a:bodyPr lIns="133350" tIns="133350" rIns="133350" bIns="133350"/>
                    <a:lstStyle/>
                    <a:p>
                      <a:r>
                        <a:rPr sz="1725" b="0">
                          <a:solidFill>
                            <a:srgbClr val="172039"/>
                          </a:solidFill>
                          <a:latin typeface="Arial"/>
                          <a:ea typeface="Arial"/>
                          <a:cs typeface="Arial"/>
                        </a:rPr>
                        <a:t>Feedback links a pair and reviewers, notifications belong to User</a:t>
                      </a:r>
                    </a:p>
                  </a:txBody>
                  <a:tcPr marL="91440" marR="91440" marT="45720" marB="45720" anchor="ctr">
                    <a:solidFill>
                      <a:srgbClr val="F0EDF8"/>
                    </a:solidFill>
                  </a:tcPr>
                </a:tc>
              </a:tr>
            </a:tbl>
          </a:graphicData>
        </a:graphic>
      </p:graphicFrame>
    </p:spTree>
    <p:extLst>
      <p:ext uri="{BB962C8B-B14F-4D97-AF65-F5344CB8AC3E}">
        <p14:creationId xmlns:p14="http://schemas.microsoft.com/office/powerpoint/2010/main" val="962643713"/>
      </p:ext>
    </p:extLst>
  </p:cSld>
</p:sld>
</file>

<file path=ppt/slides/slide13.xml><?xml version="1.0" encoding="utf-8"?>
<p:sld xmlns:p="http://schemas.openxmlformats.org/presentationml/2006/main">
  <p:cSld>
    <p:bg>
      <p:bgPr>
        <a:solidFill xmlns:a="http://schemas.openxmlformats.org/drawingml/2006/main">
          <a:srgbClr val="F5F5F9"/>
        </a:solidFill>
      </p:bgPr>
    </p:bg>
    <p:spTree>
      <p:nvGrpSpPr>
        <p:cNvPr id="1" name=""/>
        <p:cNvGrpSpPr/>
        <p:nvPr/>
      </p:nvGrpSpPr>
      <p:grpSpPr>
        <a:xfrm xmlns:a="http://schemas.openxmlformats.org/drawingml/2006/main"/>
      </p:grpSpPr>
      <p:sp>
        <p:nvSpPr>
          <p:cNvPr id="9" name="Automated validation">
            <a:extLst xmlns:a="http://schemas.openxmlformats.org/drawingml/2006/main">
              <a:ext uri="{FF2B5EF4-FFF2-40B4-BE49-F238E27FC236}">
                <a16:creationId xmlns:a16="http://schemas.microsoft.com/office/drawing/2014/main" id="{739F1810-487B-4903-B8CA-AD076F5EA0E5}"/>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039"/>
                </a:solidFill>
                <a:latin typeface="Arial"/>
                <a:ea typeface="Arial"/>
                <a:cs typeface="Arial"/>
              </a:defRPr>
            </a:defPPr>
          </a:lstStyle>
          <a:p xmlns:a="http://schemas.openxmlformats.org/drawingml/2006/main">
            <a:pPr>
              <a:defRPr sz="3300" b="1">
                <a:solidFill>
                  <a:srgbClr val="172039"/>
                </a:solidFill>
                <a:latin typeface="Arial"/>
                <a:ea typeface="Arial"/>
                <a:cs typeface="Arial"/>
              </a:defRPr>
            </a:pPr>
            <a:r>
              <a:rPr sz="3300" b="1">
                <a:solidFill>
                  <a:srgbClr val="172039"/>
                </a:solidFill>
                <a:latin typeface="Arial"/>
                <a:ea typeface="Arial"/>
                <a:cs typeface="Arial"/>
              </a:rPr>
              <a:t>Automated validation</a:t>
            </a:r>
          </a:p>
        </p:txBody>
      </p:sp>
      <p:sp>
        <p:nvSpPr>
          <p:cNvPr id="2" name="IIIT Kottayam">
            <a:extLst xmlns:a="http://schemas.openxmlformats.org/drawingml/2006/main">
              <a:ext uri="{FF2B5EF4-FFF2-40B4-BE49-F238E27FC236}">
                <a16:creationId xmlns:a16="http://schemas.microsoft.com/office/drawing/2014/main" id="{BFC7EFAC-A07B-413C-B41E-2493BBD9EFCA}"/>
              </a:ext>
            </a:extLst>
          </p:cNvPr>
          <p:cNvSpPr>
            <a:spLocks xmlns:a="http://schemas.openxmlformats.org/drawingml/2006/main" noGrp="1"/>
          </p:cNvSpPr>
          <p:nvPr/>
        </p:nvSpPr>
        <p:spPr>
          <a:xfrm xmlns:a="http://schemas.openxmlformats.org/drawingml/2006/main">
            <a:off x="609600" y="6429375"/>
            <a:ext cx="381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B667C"/>
                </a:solidFill>
                <a:latin typeface="Arial"/>
                <a:ea typeface="Arial"/>
                <a:cs typeface="Arial"/>
              </a:defRPr>
            </a:defPPr>
          </a:lstStyle>
          <a:p xmlns:a="http://schemas.openxmlformats.org/drawingml/2006/main">
            <a:pPr>
              <a:defRPr sz="1125" b="0">
                <a:solidFill>
                  <a:srgbClr val="5B667C"/>
                </a:solidFill>
                <a:latin typeface="Arial"/>
                <a:ea typeface="Arial"/>
                <a:cs typeface="Arial"/>
              </a:defRPr>
            </a:pPr>
            <a:r>
              <a:rPr sz="1125" b="0">
                <a:solidFill>
                  <a:srgbClr val="5B667C"/>
                </a:solidFill>
                <a:latin typeface="Arial"/>
                <a:ea typeface="Arial"/>
                <a:cs typeface="Arial"/>
              </a:rPr>
              <a:t>IIIT Kottayam</a:t>
            </a:r>
          </a:p>
        </p:txBody>
      </p:sp>
      <p:sp>
        <p:nvSpPr>
          <p:cNvPr id="3" name="13">
            <a:extLst xmlns:a="http://schemas.openxmlformats.org/drawingml/2006/main">
              <a:ext uri="{FF2B5EF4-FFF2-40B4-BE49-F238E27FC236}">
                <a16:creationId xmlns:a16="http://schemas.microsoft.com/office/drawing/2014/main" id="{B0E9BC5E-A29A-4FB1-8DC8-99F30549EBDC}"/>
              </a:ext>
            </a:extLst>
          </p:cNvPr>
          <p:cNvSpPr>
            <a:spLocks xmlns:a="http://schemas.openxmlformats.org/drawingml/2006/main" noGrp="1"/>
          </p:cNvSpPr>
          <p:nvPr/>
        </p:nvSpPr>
        <p:spPr>
          <a:xfrm xmlns:a="http://schemas.openxmlformats.org/drawingml/2006/main">
            <a:off x="11087100" y="64293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B667C"/>
                </a:solidFill>
                <a:latin typeface="Arial"/>
                <a:ea typeface="Arial"/>
                <a:cs typeface="Arial"/>
              </a:defRPr>
            </a:defPPr>
          </a:lstStyle>
          <a:p xmlns:a="http://schemas.openxmlformats.org/drawingml/2006/main">
            <a:pPr>
              <a:defRPr sz="1125" b="0">
                <a:solidFill>
                  <a:srgbClr val="5B667C"/>
                </a:solidFill>
                <a:latin typeface="Arial"/>
                <a:ea typeface="Arial"/>
                <a:cs typeface="Arial"/>
              </a:defRPr>
            </a:pPr>
            <a:r>
              <a:rPr sz="1125" b="0">
                <a:solidFill>
                  <a:srgbClr val="5B667C"/>
                </a:solidFill>
                <a:latin typeface="Arial"/>
                <a:ea typeface="Arial"/>
                <a:cs typeface="Arial"/>
              </a:rPr>
              <a:t>13</a:t>
            </a:r>
          </a:p>
        </p:txBody>
      </p:sp>
      <p:sp>
        <p:nvSpPr>
          <p:cNvPr id="4" name="53">
            <a:extLst xmlns:a="http://schemas.openxmlformats.org/drawingml/2006/main">
              <a:ext uri="{FF2B5EF4-FFF2-40B4-BE49-F238E27FC236}">
                <a16:creationId xmlns:a16="http://schemas.microsoft.com/office/drawing/2014/main" id="{94D0A29A-58B0-4772-8BAD-9774E5A4707B}"/>
              </a:ext>
            </a:extLst>
          </p:cNvPr>
          <p:cNvSpPr>
            <a:spLocks xmlns:a="http://schemas.openxmlformats.org/drawingml/2006/main" noGrp="1"/>
          </p:cNvSpPr>
          <p:nvPr/>
        </p:nvSpPr>
        <p:spPr>
          <a:xfrm xmlns:a="http://schemas.openxmlformats.org/drawingml/2006/main">
            <a:off x="609600" y="1809750"/>
            <a:ext cx="32766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800" b="1">
                <a:solidFill>
                  <a:srgbClr val="6D47D9"/>
                </a:solidFill>
                <a:latin typeface="Arial"/>
                <a:ea typeface="Arial"/>
                <a:cs typeface="Arial"/>
              </a:defRPr>
            </a:defPPr>
          </a:lstStyle>
          <a:p xmlns:a="http://schemas.openxmlformats.org/drawingml/2006/main">
            <a:pPr>
              <a:defRPr sz="7800" b="1">
                <a:solidFill>
                  <a:srgbClr val="6D47D9"/>
                </a:solidFill>
                <a:latin typeface="Arial"/>
                <a:ea typeface="Arial"/>
                <a:cs typeface="Arial"/>
              </a:defRPr>
            </a:pPr>
            <a:r>
              <a:rPr sz="7800" b="1">
                <a:solidFill>
                  <a:srgbClr val="6D47D9"/>
                </a:solidFill>
                <a:latin typeface="Arial"/>
                <a:ea typeface="Arial"/>
                <a:cs typeface="Arial"/>
              </a:rPr>
              <a:t>53</a:t>
            </a:r>
          </a:p>
        </p:txBody>
      </p:sp>
      <p:sp>
        <p:nvSpPr>
          <p:cNvPr id="5" name="tests passed">
            <a:extLst xmlns:a="http://schemas.openxmlformats.org/drawingml/2006/main">
              <a:ext uri="{FF2B5EF4-FFF2-40B4-BE49-F238E27FC236}">
                <a16:creationId xmlns:a16="http://schemas.microsoft.com/office/drawing/2014/main" id="{C3F656C9-666B-42B3-BD57-A259327AACF6}"/>
              </a:ext>
            </a:extLst>
          </p:cNvPr>
          <p:cNvSpPr>
            <a:spLocks xmlns:a="http://schemas.openxmlformats.org/drawingml/2006/main" noGrp="1"/>
          </p:cNvSpPr>
          <p:nvPr/>
        </p:nvSpPr>
        <p:spPr>
          <a:xfrm xmlns:a="http://schemas.openxmlformats.org/drawingml/2006/main">
            <a:off x="647700" y="3305175"/>
            <a:ext cx="3257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72039"/>
                </a:solidFill>
                <a:latin typeface="Arial"/>
                <a:ea typeface="Arial"/>
                <a:cs typeface="Arial"/>
              </a:defRPr>
            </a:defPPr>
          </a:lstStyle>
          <a:p xmlns:a="http://schemas.openxmlformats.org/drawingml/2006/main">
            <a:pPr>
              <a:defRPr sz="2550" b="1">
                <a:solidFill>
                  <a:srgbClr val="172039"/>
                </a:solidFill>
                <a:latin typeface="Arial"/>
                <a:ea typeface="Arial"/>
                <a:cs typeface="Arial"/>
              </a:defRPr>
            </a:pPr>
            <a:r>
              <a:rPr sz="2550" b="1">
                <a:solidFill>
                  <a:srgbClr val="172039"/>
                </a:solidFill>
                <a:latin typeface="Arial"/>
                <a:ea typeface="Arial"/>
                <a:cs typeface="Arial"/>
              </a:rPr>
              <a:t>tests passed</a:t>
            </a:r>
          </a:p>
        </p:txBody>
      </p:sp>
      <p:sp>
        <p:nvSpPr>
          <p:cNvPr id="6" name="12 October 2026&#10;Django system checks: no issues">
            <a:extLst xmlns:a="http://schemas.openxmlformats.org/drawingml/2006/main">
              <a:ext uri="{FF2B5EF4-FFF2-40B4-BE49-F238E27FC236}">
                <a16:creationId xmlns:a16="http://schemas.microsoft.com/office/drawing/2014/main" id="{200B9653-D172-4852-A0CB-B0E62EF0ADA8}"/>
              </a:ext>
            </a:extLst>
          </p:cNvPr>
          <p:cNvSpPr>
            <a:spLocks xmlns:a="http://schemas.openxmlformats.org/drawingml/2006/main" noGrp="1"/>
          </p:cNvSpPr>
          <p:nvPr/>
        </p:nvSpPr>
        <p:spPr>
          <a:xfrm xmlns:a="http://schemas.openxmlformats.org/drawingml/2006/main">
            <a:off x="647700" y="4295775"/>
            <a:ext cx="34194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B667C"/>
                </a:solidFill>
                <a:latin typeface="Arial"/>
                <a:ea typeface="Arial"/>
                <a:cs typeface="Arial"/>
              </a:defRPr>
            </a:defPPr>
          </a:lstStyle>
          <a:p xmlns:a="http://schemas.openxmlformats.org/drawingml/2006/main">
            <a:pPr>
              <a:defRPr sz="1800" b="0">
                <a:solidFill>
                  <a:srgbClr val="5B667C"/>
                </a:solidFill>
                <a:latin typeface="Arial"/>
                <a:ea typeface="Arial"/>
                <a:cs typeface="Arial"/>
              </a:defRPr>
            </a:pPr>
            <a:r>
              <a:rPr sz="1800" b="0">
                <a:solidFill>
                  <a:srgbClr val="5B667C"/>
                </a:solidFill>
                <a:latin typeface="Arial"/>
                <a:ea typeface="Arial"/>
                <a:cs typeface="Arial"/>
              </a:rPr>
              <a:t>12 October 2026</a:t>
            </a:r>
          </a:p>
          <a:p xmlns:a="http://schemas.openxmlformats.org/drawingml/2006/main">
            <a:pPr>
              <a:defRPr sz="1800" b="0">
                <a:solidFill>
                  <a:srgbClr val="5B667C"/>
                </a:solidFill>
                <a:latin typeface="Arial"/>
                <a:ea typeface="Arial"/>
                <a:cs typeface="Arial"/>
              </a:defRPr>
            </a:pPr>
            <a:r>
              <a:rPr sz="1800" b="0">
                <a:solidFill>
                  <a:srgbClr val="5B667C"/>
                </a:solidFill>
                <a:latin typeface="Arial"/>
                <a:ea typeface="Arial"/>
                <a:cs typeface="Arial"/>
              </a:rPr>
              <a:t>Django system checks: no issues</a:t>
            </a:r>
          </a:p>
        </p:txBody>
      </p:sp>
      <p:graphicFrame>
        <p:nvGraphicFramePr>
          <p:cNvPr id="7" name="">
            <a:extLst xmlns:a="http://schemas.openxmlformats.org/drawingml/2006/main">
              <a:ext uri="{FF2B5EF4-FFF2-40B4-BE49-F238E27FC236}">
                <a16:creationId xmlns:a16="http://schemas.microsoft.com/office/drawing/2014/main" id="{6B3BD37E-D427-438C-AD6E-93F3D022095B}"/>
              </a:ext>
            </a:extLst>
          </p:cNvPr>
          <p:cNvGraphicFramePr/>
          <p:nvPr/>
        </p:nvGraphicFramePr>
        <p:xfrm>
          <a:off xmlns:a="http://schemas.openxmlformats.org/drawingml/2006/main" x="4419600" y="1600200"/>
          <a:ext xmlns:a="http://schemas.openxmlformats.org/drawingml/2006/main" cx="7162800" cy="3867150"/>
        </p:xfrm>
        <a:graphic xmlns:a="http://schemas.openxmlformats.org/drawingml/2006/main">
          <a:graphicData uri="http://schemas.openxmlformats.org/drawingml/2006/table">
            <a:tbl>
              <a:tblPr/>
              <a:tblGrid>
                <a:gridCol w="1809750"/>
                <a:gridCol w="942975"/>
                <a:gridCol w="4410075"/>
              </a:tblGrid>
              <a:tr h="644525">
                <a:tc>
                  <a:txBody>
                    <a:bodyPr lIns="133350" tIns="133350" rIns="133350" bIns="133350"/>
                    <a:lstStyle/>
                    <a:p>
                      <a:r>
                        <a:rPr sz="1725" b="1">
                          <a:solidFill>
                            <a:srgbClr val="FFFFFF"/>
                          </a:solidFill>
                          <a:latin typeface="Arial"/>
                          <a:ea typeface="Arial"/>
                          <a:cs typeface="Arial"/>
                        </a:rPr>
                        <a:t>App</a:t>
                      </a:r>
                    </a:p>
                  </a:txBody>
                  <a:tcPr marL="91440" marR="91440" marT="45720" marB="45720" anchor="ctr">
                    <a:solidFill>
                      <a:srgbClr val="0B1020"/>
                    </a:solidFill>
                  </a:tcPr>
                </a:tc>
                <a:tc>
                  <a:txBody>
                    <a:bodyPr lIns="133350" tIns="133350" rIns="133350" bIns="133350"/>
                    <a:lstStyle/>
                    <a:p>
                      <a:r>
                        <a:rPr sz="1725" b="1">
                          <a:solidFill>
                            <a:srgbClr val="FFFFFF"/>
                          </a:solidFill>
                          <a:latin typeface="Arial"/>
                          <a:ea typeface="Arial"/>
                          <a:cs typeface="Arial"/>
                        </a:rPr>
                        <a:t>Tests</a:t>
                      </a:r>
                    </a:p>
                  </a:txBody>
                  <a:tcPr marL="91440" marR="91440" marT="45720" marB="45720" anchor="ctr">
                    <a:solidFill>
                      <a:srgbClr val="0B1020"/>
                    </a:solidFill>
                  </a:tcPr>
                </a:tc>
                <a:tc>
                  <a:txBody>
                    <a:bodyPr lIns="133350" tIns="133350" rIns="133350" bIns="133350"/>
                    <a:lstStyle/>
                    <a:p>
                      <a:r>
                        <a:rPr sz="1725" b="1">
                          <a:solidFill>
                            <a:srgbClr val="FFFFFF"/>
                          </a:solidFill>
                          <a:latin typeface="Arial"/>
                          <a:ea typeface="Arial"/>
                          <a:cs typeface="Arial"/>
                        </a:rPr>
                        <a:t>Coverage examples</a:t>
                      </a:r>
                    </a:p>
                  </a:txBody>
                  <a:tcPr marL="91440" marR="91440" marT="45720" marB="45720" anchor="ctr">
                    <a:solidFill>
                      <a:srgbClr val="0B1020"/>
                    </a:solidFill>
                  </a:tcPr>
                </a:tc>
              </a:tr>
              <a:tr h="644525">
                <a:tc>
                  <a:txBody>
                    <a:bodyPr lIns="133350" tIns="133350" rIns="133350" bIns="133350"/>
                    <a:lstStyle/>
                    <a:p>
                      <a:r>
                        <a:rPr sz="1725" b="0">
                          <a:solidFill>
                            <a:srgbClr val="172039"/>
                          </a:solidFill>
                          <a:latin typeface="Arial"/>
                          <a:ea typeface="Arial"/>
                          <a:cs typeface="Arial"/>
                        </a:rPr>
                        <a:t>accounts</a:t>
                      </a:r>
                    </a:p>
                  </a:txBody>
                  <a:tcPr marL="91440" marR="91440" marT="45720" marB="45720" anchor="ctr">
                    <a:solidFill>
                      <a:srgbClr val="FFFFFF"/>
                    </a:solidFill>
                  </a:tcPr>
                </a:tc>
                <a:tc>
                  <a:txBody>
                    <a:bodyPr lIns="133350" tIns="133350" rIns="133350" bIns="133350"/>
                    <a:lstStyle/>
                    <a:p>
                      <a:r>
                        <a:rPr sz="1725" b="0">
                          <a:solidFill>
                            <a:srgbClr val="172039"/>
                          </a:solidFill>
                          <a:latin typeface="Arial"/>
                          <a:ea typeface="Arial"/>
                          <a:cs typeface="Arial"/>
                        </a:rPr>
                        <a:t>12</a:t>
                      </a:r>
                    </a:p>
                  </a:txBody>
                  <a:tcPr marL="91440" marR="91440" marT="45720" marB="45720" anchor="ctr">
                    <a:solidFill>
                      <a:srgbClr val="FFFFFF"/>
                    </a:solidFill>
                  </a:tcPr>
                </a:tc>
                <a:tc>
                  <a:txBody>
                    <a:bodyPr lIns="133350" tIns="133350" rIns="133350" bIns="133350"/>
                    <a:lstStyle/>
                    <a:p>
                      <a:r>
                        <a:rPr sz="1725" b="0">
                          <a:solidFill>
                            <a:srgbClr val="172039"/>
                          </a:solidFill>
                          <a:latin typeface="Arial"/>
                          <a:ea typeface="Arial"/>
                          <a:cs typeface="Arial"/>
                        </a:rPr>
                        <a:t>Profiles, roles and authentication</a:t>
                      </a:r>
                    </a:p>
                  </a:txBody>
                  <a:tcPr marL="91440" marR="91440" marT="45720" marB="45720" anchor="ctr">
                    <a:solidFill>
                      <a:srgbClr val="FFFFFF"/>
                    </a:solidFill>
                  </a:tcPr>
                </a:tc>
              </a:tr>
              <a:tr h="644525">
                <a:tc>
                  <a:txBody>
                    <a:bodyPr lIns="133350" tIns="133350" rIns="133350" bIns="133350"/>
                    <a:lstStyle/>
                    <a:p>
                      <a:r>
                        <a:rPr sz="1725" b="0">
                          <a:solidFill>
                            <a:srgbClr val="172039"/>
                          </a:solidFill>
                          <a:latin typeface="Arial"/>
                          <a:ea typeface="Arial"/>
                          <a:cs typeface="Arial"/>
                        </a:rPr>
                        <a:t>matching</a:t>
                      </a:r>
                    </a:p>
                  </a:txBody>
                  <a:tcPr marL="91440" marR="91440" marT="45720" marB="45720" anchor="ctr">
                    <a:solidFill>
                      <a:srgbClr val="F0EDF8"/>
                    </a:solidFill>
                  </a:tcPr>
                </a:tc>
                <a:tc>
                  <a:txBody>
                    <a:bodyPr lIns="133350" tIns="133350" rIns="133350" bIns="133350"/>
                    <a:lstStyle/>
                    <a:p>
                      <a:r>
                        <a:rPr sz="1725" b="0">
                          <a:solidFill>
                            <a:srgbClr val="172039"/>
                          </a:solidFill>
                          <a:latin typeface="Arial"/>
                          <a:ea typeface="Arial"/>
                          <a:cs typeface="Arial"/>
                        </a:rPr>
                        <a:t>10</a:t>
                      </a:r>
                    </a:p>
                  </a:txBody>
                  <a:tcPr marL="91440" marR="91440" marT="45720" marB="45720" anchor="ctr">
                    <a:solidFill>
                      <a:srgbClr val="F0EDF8"/>
                    </a:solidFill>
                  </a:tcPr>
                </a:tc>
                <a:tc>
                  <a:txBody>
                    <a:bodyPr lIns="133350" tIns="133350" rIns="133350" bIns="133350"/>
                    <a:lstStyle/>
                    <a:p>
                      <a:r>
                        <a:rPr sz="1725" b="0">
                          <a:solidFill>
                            <a:srgbClr val="172039"/>
                          </a:solidFill>
                          <a:latin typeface="Arial"/>
                          <a:ea typeface="Arial"/>
                          <a:cs typeface="Arial"/>
                        </a:rPr>
                        <a:t>Scoring, ranking and filters</a:t>
                      </a:r>
                    </a:p>
                  </a:txBody>
                  <a:tcPr marL="91440" marR="91440" marT="45720" marB="45720" anchor="ctr">
                    <a:solidFill>
                      <a:srgbClr val="F0EDF8"/>
                    </a:solidFill>
                  </a:tcPr>
                </a:tc>
              </a:tr>
              <a:tr h="644525">
                <a:tc>
                  <a:txBody>
                    <a:bodyPr lIns="133350" tIns="133350" rIns="133350" bIns="133350"/>
                    <a:lstStyle/>
                    <a:p>
                      <a:r>
                        <a:rPr sz="1725" b="0">
                          <a:solidFill>
                            <a:srgbClr val="172039"/>
                          </a:solidFill>
                          <a:latin typeface="Arial"/>
                          <a:ea typeface="Arial"/>
                          <a:cs typeface="Arial"/>
                        </a:rPr>
                        <a:t>mentorship</a:t>
                      </a:r>
                    </a:p>
                  </a:txBody>
                  <a:tcPr marL="91440" marR="91440" marT="45720" marB="45720" anchor="ctr">
                    <a:solidFill>
                      <a:srgbClr val="FFFFFF"/>
                    </a:solidFill>
                  </a:tcPr>
                </a:tc>
                <a:tc>
                  <a:txBody>
                    <a:bodyPr lIns="133350" tIns="133350" rIns="133350" bIns="133350"/>
                    <a:lstStyle/>
                    <a:p>
                      <a:r>
                        <a:rPr sz="1725" b="0">
                          <a:solidFill>
                            <a:srgbClr val="172039"/>
                          </a:solidFill>
                          <a:latin typeface="Arial"/>
                          <a:ea typeface="Arial"/>
                          <a:cs typeface="Arial"/>
                        </a:rPr>
                        <a:t>7</a:t>
                      </a:r>
                    </a:p>
                  </a:txBody>
                  <a:tcPr marL="91440" marR="91440" marT="45720" marB="45720" anchor="ctr">
                    <a:solidFill>
                      <a:srgbClr val="FFFFFF"/>
                    </a:solidFill>
                  </a:tcPr>
                </a:tc>
                <a:tc>
                  <a:txBody>
                    <a:bodyPr lIns="133350" tIns="133350" rIns="133350" bIns="133350"/>
                    <a:lstStyle/>
                    <a:p>
                      <a:r>
                        <a:rPr sz="1725" b="0">
                          <a:solidFill>
                            <a:srgbClr val="172039"/>
                          </a:solidFill>
                          <a:latin typeface="Arial"/>
                          <a:ea typeface="Arial"/>
                          <a:cs typeface="Arial"/>
                        </a:rPr>
                        <a:t>Request flow, access and completion</a:t>
                      </a:r>
                    </a:p>
                  </a:txBody>
                  <a:tcPr marL="91440" marR="91440" marT="45720" marB="45720" anchor="ctr">
                    <a:solidFill>
                      <a:srgbClr val="FFFFFF"/>
                    </a:solidFill>
                  </a:tcPr>
                </a:tc>
              </a:tr>
              <a:tr h="644525">
                <a:tc>
                  <a:txBody>
                    <a:bodyPr lIns="133350" tIns="133350" rIns="133350" bIns="133350"/>
                    <a:lstStyle/>
                    <a:p>
                      <a:r>
                        <a:rPr sz="1725" b="0">
                          <a:solidFill>
                            <a:srgbClr val="172039"/>
                          </a:solidFill>
                          <a:latin typeface="Arial"/>
                          <a:ea typeface="Arial"/>
                          <a:cs typeface="Arial"/>
                        </a:rPr>
                        <a:t>gamification</a:t>
                      </a:r>
                    </a:p>
                  </a:txBody>
                  <a:tcPr marL="91440" marR="91440" marT="45720" marB="45720" anchor="ctr">
                    <a:solidFill>
                      <a:srgbClr val="F0EDF8"/>
                    </a:solidFill>
                  </a:tcPr>
                </a:tc>
                <a:tc>
                  <a:txBody>
                    <a:bodyPr lIns="133350" tIns="133350" rIns="133350" bIns="133350"/>
                    <a:lstStyle/>
                    <a:p>
                      <a:r>
                        <a:rPr sz="1725" b="0">
                          <a:solidFill>
                            <a:srgbClr val="172039"/>
                          </a:solidFill>
                          <a:latin typeface="Arial"/>
                          <a:ea typeface="Arial"/>
                          <a:cs typeface="Arial"/>
                        </a:rPr>
                        <a:t>18</a:t>
                      </a:r>
                    </a:p>
                  </a:txBody>
                  <a:tcPr marL="91440" marR="91440" marT="45720" marB="45720" anchor="ctr">
                    <a:solidFill>
                      <a:srgbClr val="F0EDF8"/>
                    </a:solidFill>
                  </a:tcPr>
                </a:tc>
                <a:tc>
                  <a:txBody>
                    <a:bodyPr lIns="133350" tIns="133350" rIns="133350" bIns="133350"/>
                    <a:lstStyle/>
                    <a:p>
                      <a:r>
                        <a:rPr sz="1725" b="0">
                          <a:solidFill>
                            <a:srgbClr val="172039"/>
                          </a:solidFill>
                          <a:latin typeface="Arial"/>
                          <a:ea typeface="Arial"/>
                          <a:cs typeface="Arial"/>
                        </a:rPr>
                        <a:t>Credits, badges, ratings and ranks</a:t>
                      </a:r>
                    </a:p>
                  </a:txBody>
                  <a:tcPr marL="91440" marR="91440" marT="45720" marB="45720" anchor="ctr">
                    <a:solidFill>
                      <a:srgbClr val="F0EDF8"/>
                    </a:solidFill>
                  </a:tcPr>
                </a:tc>
              </a:tr>
              <a:tr h="644525">
                <a:tc>
                  <a:txBody>
                    <a:bodyPr lIns="133350" tIns="133350" rIns="133350" bIns="133350"/>
                    <a:lstStyle/>
                    <a:p>
                      <a:r>
                        <a:rPr sz="1725" b="0">
                          <a:solidFill>
                            <a:srgbClr val="172039"/>
                          </a:solidFill>
                          <a:latin typeface="Arial"/>
                          <a:ea typeface="Arial"/>
                          <a:cs typeface="Arial"/>
                        </a:rPr>
                        <a:t>notifications</a:t>
                      </a:r>
                    </a:p>
                  </a:txBody>
                  <a:tcPr marL="91440" marR="91440" marT="45720" marB="45720" anchor="ctr">
                    <a:solidFill>
                      <a:srgbClr val="FFFFFF"/>
                    </a:solidFill>
                  </a:tcPr>
                </a:tc>
                <a:tc>
                  <a:txBody>
                    <a:bodyPr lIns="133350" tIns="133350" rIns="133350" bIns="133350"/>
                    <a:lstStyle/>
                    <a:p>
                      <a:r>
                        <a:rPr sz="1725" b="0">
                          <a:solidFill>
                            <a:srgbClr val="172039"/>
                          </a:solidFill>
                          <a:latin typeface="Arial"/>
                          <a:ea typeface="Arial"/>
                          <a:cs typeface="Arial"/>
                        </a:rPr>
                        <a:t>6</a:t>
                      </a:r>
                    </a:p>
                  </a:txBody>
                  <a:tcPr marL="91440" marR="91440" marT="45720" marB="45720" anchor="ctr">
                    <a:solidFill>
                      <a:srgbClr val="FFFFFF"/>
                    </a:solidFill>
                  </a:tcPr>
                </a:tc>
                <a:tc>
                  <a:txBody>
                    <a:bodyPr lIns="133350" tIns="133350" rIns="133350" bIns="133350"/>
                    <a:lstStyle/>
                    <a:p>
                      <a:r>
                        <a:rPr sz="1725" b="0">
                          <a:solidFill>
                            <a:srgbClr val="172039"/>
                          </a:solidFill>
                          <a:latin typeface="Arial"/>
                          <a:ea typeface="Arial"/>
                          <a:cs typeface="Arial"/>
                        </a:rPr>
                        <a:t>Inbox and read state</a:t>
                      </a:r>
                    </a:p>
                  </a:txBody>
                  <a:tcPr marL="91440" marR="91440" marT="45720" marB="45720" anchor="ctr">
                    <a:solidFill>
                      <a:srgbClr val="FFFFFF"/>
                    </a:solidFill>
                  </a:tcPr>
                </a:tc>
              </a:tr>
            </a:tbl>
          </a:graphicData>
        </a:graphic>
      </p:graphicFrame>
      <p:sp>
        <p:nvSpPr>
          <p:cNvPr id="8" name="Functional test coverage does not establish produc">
            <a:extLst xmlns:a="http://schemas.openxmlformats.org/drawingml/2006/main">
              <a:ext uri="{FF2B5EF4-FFF2-40B4-BE49-F238E27FC236}">
                <a16:creationId xmlns:a16="http://schemas.microsoft.com/office/drawing/2014/main" id="{BBDCB45F-9249-4F65-88BA-AA1F1716B63A}"/>
              </a:ext>
            </a:extLst>
          </p:cNvPr>
          <p:cNvSpPr>
            <a:spLocks xmlns:a="http://schemas.openxmlformats.org/drawingml/2006/main" noGrp="1"/>
          </p:cNvSpPr>
          <p:nvPr/>
        </p:nvSpPr>
        <p:spPr>
          <a:xfrm xmlns:a="http://schemas.openxmlformats.org/drawingml/2006/main">
            <a:off x="4419600" y="5695950"/>
            <a:ext cx="716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B667C"/>
                </a:solidFill>
                <a:latin typeface="Arial"/>
                <a:ea typeface="Arial"/>
                <a:cs typeface="Arial"/>
              </a:defRPr>
            </a:defPPr>
          </a:lstStyle>
          <a:p xmlns:a="http://schemas.openxmlformats.org/drawingml/2006/main">
            <a:pPr>
              <a:defRPr sz="1725" b="0">
                <a:solidFill>
                  <a:srgbClr val="5B667C"/>
                </a:solidFill>
                <a:latin typeface="Arial"/>
                <a:ea typeface="Arial"/>
                <a:cs typeface="Arial"/>
              </a:defRPr>
            </a:pPr>
            <a:r>
              <a:rPr sz="1725" b="0">
                <a:solidFill>
                  <a:srgbClr val="5B667C"/>
                </a:solidFill>
                <a:latin typeface="Arial"/>
                <a:ea typeface="Arial"/>
                <a:cs typeface="Arial"/>
              </a:rPr>
              <a:t>Functional test coverage does not establish production readiness.</a:t>
            </a:r>
          </a:p>
        </p:txBody>
      </p:sp>
    </p:spTree>
    <p:extLst>
      <p:ext uri="{BB962C8B-B14F-4D97-AF65-F5344CB8AC3E}">
        <p14:creationId xmlns:p14="http://schemas.microsoft.com/office/powerpoint/2010/main" val="1657670565"/>
      </p:ext>
    </p:extLst>
  </p:cSld>
</p:sld>
</file>

<file path=ppt/slides/slide14.xml><?xml version="1.0" encoding="utf-8"?>
<p:sld xmlns:p="http://schemas.openxmlformats.org/presentationml/2006/main">
  <p:cSld>
    <p:bg>
      <p:bgPr>
        <a:solidFill xmlns:a="http://schemas.openxmlformats.org/drawingml/2006/main">
          <a:srgbClr val="F5F5F9"/>
        </a:solidFill>
      </p:bgPr>
    </p:bg>
    <p:spTree>
      <p:nvGrpSpPr>
        <p:cNvPr id="1" name=""/>
        <p:cNvGrpSpPr/>
        <p:nvPr/>
      </p:nvGrpSpPr>
      <p:grpSpPr>
        <a:xfrm xmlns:a="http://schemas.openxmlformats.org/drawingml/2006/main"/>
      </p:grpSpPr>
      <p:sp>
        <p:nvSpPr>
          <p:cNvPr id="12" name="Demonstration walkthrough">
            <a:extLst xmlns:a="http://schemas.openxmlformats.org/drawingml/2006/main">
              <a:ext uri="{FF2B5EF4-FFF2-40B4-BE49-F238E27FC236}">
                <a16:creationId xmlns:a16="http://schemas.microsoft.com/office/drawing/2014/main" id="{0986B158-A8A2-40C1-BAA5-29D7EDD3A70B}"/>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039"/>
                </a:solidFill>
                <a:latin typeface="Arial"/>
                <a:ea typeface="Arial"/>
                <a:cs typeface="Arial"/>
              </a:defRPr>
            </a:defPPr>
          </a:lstStyle>
          <a:p xmlns:a="http://schemas.openxmlformats.org/drawingml/2006/main">
            <a:pPr>
              <a:defRPr sz="3300" b="1">
                <a:solidFill>
                  <a:srgbClr val="172039"/>
                </a:solidFill>
                <a:latin typeface="Arial"/>
                <a:ea typeface="Arial"/>
                <a:cs typeface="Arial"/>
              </a:defRPr>
            </a:pPr>
            <a:r>
              <a:rPr sz="3300" b="1">
                <a:solidFill>
                  <a:srgbClr val="172039"/>
                </a:solidFill>
                <a:latin typeface="Arial"/>
                <a:ea typeface="Arial"/>
                <a:cs typeface="Arial"/>
              </a:rPr>
              <a:t>Demonstration walkthrough</a:t>
            </a:r>
          </a:p>
        </p:txBody>
      </p:sp>
      <p:sp>
        <p:nvSpPr>
          <p:cNvPr id="2" name="IIIT Kottayam">
            <a:extLst xmlns:a="http://schemas.openxmlformats.org/drawingml/2006/main">
              <a:ext uri="{FF2B5EF4-FFF2-40B4-BE49-F238E27FC236}">
                <a16:creationId xmlns:a16="http://schemas.microsoft.com/office/drawing/2014/main" id="{1E308DA7-ACB2-40A0-825F-77FDCBA54989}"/>
              </a:ext>
            </a:extLst>
          </p:cNvPr>
          <p:cNvSpPr>
            <a:spLocks xmlns:a="http://schemas.openxmlformats.org/drawingml/2006/main" noGrp="1"/>
          </p:cNvSpPr>
          <p:nvPr/>
        </p:nvSpPr>
        <p:spPr>
          <a:xfrm xmlns:a="http://schemas.openxmlformats.org/drawingml/2006/main">
            <a:off x="609600" y="6429375"/>
            <a:ext cx="381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B667C"/>
                </a:solidFill>
                <a:latin typeface="Arial"/>
                <a:ea typeface="Arial"/>
                <a:cs typeface="Arial"/>
              </a:defRPr>
            </a:defPPr>
          </a:lstStyle>
          <a:p xmlns:a="http://schemas.openxmlformats.org/drawingml/2006/main">
            <a:pPr>
              <a:defRPr sz="1125" b="0">
                <a:solidFill>
                  <a:srgbClr val="5B667C"/>
                </a:solidFill>
                <a:latin typeface="Arial"/>
                <a:ea typeface="Arial"/>
                <a:cs typeface="Arial"/>
              </a:defRPr>
            </a:pPr>
            <a:r>
              <a:rPr sz="1125" b="0">
                <a:solidFill>
                  <a:srgbClr val="5B667C"/>
                </a:solidFill>
                <a:latin typeface="Arial"/>
                <a:ea typeface="Arial"/>
                <a:cs typeface="Arial"/>
              </a:rPr>
              <a:t>IIIT Kottayam</a:t>
            </a:r>
          </a:p>
        </p:txBody>
      </p:sp>
      <p:sp>
        <p:nvSpPr>
          <p:cNvPr id="3" name="14">
            <a:extLst xmlns:a="http://schemas.openxmlformats.org/drawingml/2006/main">
              <a:ext uri="{FF2B5EF4-FFF2-40B4-BE49-F238E27FC236}">
                <a16:creationId xmlns:a16="http://schemas.microsoft.com/office/drawing/2014/main" id="{6BA6E2B5-21F7-41B1-9CB1-06A596A6C7BD}"/>
              </a:ext>
            </a:extLst>
          </p:cNvPr>
          <p:cNvSpPr>
            <a:spLocks xmlns:a="http://schemas.openxmlformats.org/drawingml/2006/main" noGrp="1"/>
          </p:cNvSpPr>
          <p:nvPr/>
        </p:nvSpPr>
        <p:spPr>
          <a:xfrm xmlns:a="http://schemas.openxmlformats.org/drawingml/2006/main">
            <a:off x="11087100" y="64293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B667C"/>
                </a:solidFill>
                <a:latin typeface="Arial"/>
                <a:ea typeface="Arial"/>
                <a:cs typeface="Arial"/>
              </a:defRPr>
            </a:defPPr>
          </a:lstStyle>
          <a:p xmlns:a="http://schemas.openxmlformats.org/drawingml/2006/main">
            <a:pPr>
              <a:defRPr sz="1125" b="0">
                <a:solidFill>
                  <a:srgbClr val="5B667C"/>
                </a:solidFill>
                <a:latin typeface="Arial"/>
                <a:ea typeface="Arial"/>
                <a:cs typeface="Arial"/>
              </a:defRPr>
            </a:pPr>
            <a:r>
              <a:rPr sz="1125" b="0">
                <a:solidFill>
                  <a:srgbClr val="5B667C"/>
                </a:solidFill>
                <a:latin typeface="Arial"/>
                <a:ea typeface="Arial"/>
                <a:cs typeface="Arial"/>
              </a:rPr>
              <a:t>14</a:t>
            </a:r>
          </a:p>
        </p:txBody>
      </p:sp>
      <p:sp>
        <p:nvSpPr>
          <p:cNvPr id="4" name="Alex Rivera">
            <a:extLst xmlns:a="http://schemas.openxmlformats.org/drawingml/2006/main">
              <a:ext uri="{FF2B5EF4-FFF2-40B4-BE49-F238E27FC236}">
                <a16:creationId xmlns:a16="http://schemas.microsoft.com/office/drawing/2014/main" id="{2AD33919-187E-4F90-BCB2-B1CC973843F0}"/>
              </a:ext>
            </a:extLst>
          </p:cNvPr>
          <p:cNvSpPr>
            <a:spLocks xmlns:a="http://schemas.openxmlformats.org/drawingml/2006/main" noGrp="1"/>
          </p:cNvSpPr>
          <p:nvPr/>
        </p:nvSpPr>
        <p:spPr>
          <a:xfrm xmlns:a="http://schemas.openxmlformats.org/drawingml/2006/main">
            <a:off x="609600" y="1562100"/>
            <a:ext cx="50768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6D47D9"/>
                </a:solidFill>
                <a:latin typeface="Arial"/>
                <a:ea typeface="Arial"/>
                <a:cs typeface="Arial"/>
              </a:defRPr>
            </a:defPPr>
          </a:lstStyle>
          <a:p xmlns:a="http://schemas.openxmlformats.org/drawingml/2006/main">
            <a:pPr>
              <a:defRPr sz="2175" b="1">
                <a:solidFill>
                  <a:srgbClr val="6D47D9"/>
                </a:solidFill>
                <a:latin typeface="Arial"/>
                <a:ea typeface="Arial"/>
                <a:cs typeface="Arial"/>
              </a:defRPr>
            </a:pPr>
            <a:r>
              <a:rPr sz="2175" b="1">
                <a:solidFill>
                  <a:srgbClr val="6D47D9"/>
                </a:solidFill>
                <a:latin typeface="Arial"/>
                <a:ea typeface="Arial"/>
                <a:cs typeface="Arial"/>
              </a:rPr>
              <a:t>Alex Rivera</a:t>
            </a:r>
          </a:p>
        </p:txBody>
      </p:sp>
      <p:sp>
        <p:nvSpPr>
          <p:cNvPr id="5" name="Review mentor matches, then open the&#10;active worksp">
            <a:extLst xmlns:a="http://schemas.openxmlformats.org/drawingml/2006/main">
              <a:ext uri="{FF2B5EF4-FFF2-40B4-BE49-F238E27FC236}">
                <a16:creationId xmlns:a16="http://schemas.microsoft.com/office/drawing/2014/main" id="{A06F20DD-DF21-48E4-A211-7E79CB8712EE}"/>
              </a:ext>
            </a:extLst>
          </p:cNvPr>
          <p:cNvSpPr>
            <a:spLocks xmlns:a="http://schemas.openxmlformats.org/drawingml/2006/main" noGrp="1"/>
          </p:cNvSpPr>
          <p:nvPr/>
        </p:nvSpPr>
        <p:spPr>
          <a:xfrm xmlns:a="http://schemas.openxmlformats.org/drawingml/2006/main">
            <a:off x="609600" y="2095500"/>
            <a:ext cx="50768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B667C"/>
                </a:solidFill>
                <a:latin typeface="Arial"/>
                <a:ea typeface="Arial"/>
                <a:cs typeface="Arial"/>
              </a:defRPr>
            </a:defPPr>
          </a:lstStyle>
          <a:p xmlns:a="http://schemas.openxmlformats.org/drawingml/2006/main">
            <a:pPr>
              <a:defRPr sz="1875" b="0">
                <a:solidFill>
                  <a:srgbClr val="5B667C"/>
                </a:solidFill>
                <a:latin typeface="Arial"/>
                <a:ea typeface="Arial"/>
                <a:cs typeface="Arial"/>
              </a:defRPr>
            </a:pPr>
            <a:r>
              <a:rPr sz="1875" b="0">
                <a:solidFill>
                  <a:srgbClr val="5B667C"/>
                </a:solidFill>
                <a:latin typeface="Arial"/>
                <a:ea typeface="Arial"/>
                <a:cs typeface="Arial"/>
              </a:rPr>
              <a:t>Review mentor matches, then open the</a:t>
            </a:r>
          </a:p>
          <a:p xmlns:a="http://schemas.openxmlformats.org/drawingml/2006/main">
            <a:pPr>
              <a:defRPr sz="1875" b="0">
                <a:solidFill>
                  <a:srgbClr val="5B667C"/>
                </a:solidFill>
                <a:latin typeface="Arial"/>
                <a:ea typeface="Arial"/>
                <a:cs typeface="Arial"/>
              </a:defRPr>
            </a:pPr>
            <a:r>
              <a:rPr sz="1875" b="0">
                <a:solidFill>
                  <a:srgbClr val="5B667C"/>
                </a:solidFill>
                <a:latin typeface="Arial"/>
                <a:ea typeface="Arial"/>
                <a:cs typeface="Arial"/>
              </a:rPr>
              <a:t>active workspace at 61.7% progress</a:t>
            </a:r>
          </a:p>
        </p:txBody>
      </p:sp>
      <p:sp>
        <p:nvSpPr>
          <p:cNvPr id="6" name="Jordan Lee">
            <a:extLst xmlns:a="http://schemas.openxmlformats.org/drawingml/2006/main">
              <a:ext uri="{FF2B5EF4-FFF2-40B4-BE49-F238E27FC236}">
                <a16:creationId xmlns:a16="http://schemas.microsoft.com/office/drawing/2014/main" id="{F1788926-F12A-48E9-9E61-6AB6D7AE9475}"/>
              </a:ext>
            </a:extLst>
          </p:cNvPr>
          <p:cNvSpPr>
            <a:spLocks xmlns:a="http://schemas.openxmlformats.org/drawingml/2006/main" noGrp="1"/>
          </p:cNvSpPr>
          <p:nvPr/>
        </p:nvSpPr>
        <p:spPr>
          <a:xfrm xmlns:a="http://schemas.openxmlformats.org/drawingml/2006/main">
            <a:off x="609600" y="2924175"/>
            <a:ext cx="50768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6D47D9"/>
                </a:solidFill>
                <a:latin typeface="Arial"/>
                <a:ea typeface="Arial"/>
                <a:cs typeface="Arial"/>
              </a:defRPr>
            </a:defPPr>
          </a:lstStyle>
          <a:p xmlns:a="http://schemas.openxmlformats.org/drawingml/2006/main">
            <a:pPr>
              <a:defRPr sz="2175" b="1">
                <a:solidFill>
                  <a:srgbClr val="6D47D9"/>
                </a:solidFill>
                <a:latin typeface="Arial"/>
                <a:ea typeface="Arial"/>
                <a:cs typeface="Arial"/>
              </a:defRPr>
            </a:pPr>
            <a:r>
              <a:rPr sz="2175" b="1">
                <a:solidFill>
                  <a:srgbClr val="6D47D9"/>
                </a:solidFill>
                <a:latin typeface="Arial"/>
                <a:ea typeface="Arial"/>
                <a:cs typeface="Arial"/>
              </a:rPr>
              <a:t>Jordan Lee</a:t>
            </a:r>
          </a:p>
        </p:txBody>
      </p:sp>
      <p:sp>
        <p:nvSpPr>
          <p:cNvPr id="7" name="Show the pending priority request&#10;and its 15-credi">
            <a:extLst xmlns:a="http://schemas.openxmlformats.org/drawingml/2006/main">
              <a:ext uri="{FF2B5EF4-FFF2-40B4-BE49-F238E27FC236}">
                <a16:creationId xmlns:a16="http://schemas.microsoft.com/office/drawing/2014/main" id="{8B819815-C060-4879-9DAE-C3597F09E62A}"/>
              </a:ext>
            </a:extLst>
          </p:cNvPr>
          <p:cNvSpPr>
            <a:spLocks xmlns:a="http://schemas.openxmlformats.org/drawingml/2006/main" noGrp="1"/>
          </p:cNvSpPr>
          <p:nvPr/>
        </p:nvSpPr>
        <p:spPr>
          <a:xfrm xmlns:a="http://schemas.openxmlformats.org/drawingml/2006/main">
            <a:off x="609600" y="3457575"/>
            <a:ext cx="50768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B667C"/>
                </a:solidFill>
                <a:latin typeface="Arial"/>
                <a:ea typeface="Arial"/>
                <a:cs typeface="Arial"/>
              </a:defRPr>
            </a:defPPr>
          </a:lstStyle>
          <a:p xmlns:a="http://schemas.openxmlformats.org/drawingml/2006/main">
            <a:pPr>
              <a:defRPr sz="1875" b="0">
                <a:solidFill>
                  <a:srgbClr val="5B667C"/>
                </a:solidFill>
                <a:latin typeface="Arial"/>
                <a:ea typeface="Arial"/>
                <a:cs typeface="Arial"/>
              </a:defRPr>
            </a:pPr>
            <a:r>
              <a:rPr sz="1875" b="0">
                <a:solidFill>
                  <a:srgbClr val="5B667C"/>
                </a:solidFill>
                <a:latin typeface="Arial"/>
                <a:ea typeface="Arial"/>
                <a:cs typeface="Arial"/>
              </a:rPr>
              <a:t>Show the pending priority request</a:t>
            </a:r>
          </a:p>
          <a:p xmlns:a="http://schemas.openxmlformats.org/drawingml/2006/main">
            <a:pPr>
              <a:defRPr sz="1875" b="0">
                <a:solidFill>
                  <a:srgbClr val="5B667C"/>
                </a:solidFill>
                <a:latin typeface="Arial"/>
                <a:ea typeface="Arial"/>
                <a:cs typeface="Arial"/>
              </a:defRPr>
            </a:pPr>
            <a:r>
              <a:rPr sz="1875" b="0">
                <a:solidFill>
                  <a:srgbClr val="5B667C"/>
                </a:solidFill>
                <a:latin typeface="Arial"/>
                <a:ea typeface="Arial"/>
                <a:cs typeface="Arial"/>
              </a:rPr>
              <a:t>and its 15-credit cost</a:t>
            </a:r>
          </a:p>
        </p:txBody>
      </p:sp>
      <p:sp>
        <p:nvSpPr>
          <p:cNvPr id="8" name="Priya Sharma">
            <a:extLst xmlns:a="http://schemas.openxmlformats.org/drawingml/2006/main">
              <a:ext uri="{FF2B5EF4-FFF2-40B4-BE49-F238E27FC236}">
                <a16:creationId xmlns:a16="http://schemas.microsoft.com/office/drawing/2014/main" id="{EF3CD8B7-FC0A-4E61-9BB0-EE0FA409D5AE}"/>
              </a:ext>
            </a:extLst>
          </p:cNvPr>
          <p:cNvSpPr>
            <a:spLocks xmlns:a="http://schemas.openxmlformats.org/drawingml/2006/main" noGrp="1"/>
          </p:cNvSpPr>
          <p:nvPr/>
        </p:nvSpPr>
        <p:spPr>
          <a:xfrm xmlns:a="http://schemas.openxmlformats.org/drawingml/2006/main">
            <a:off x="609600" y="4286250"/>
            <a:ext cx="50768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6D47D9"/>
                </a:solidFill>
                <a:latin typeface="Arial"/>
                <a:ea typeface="Arial"/>
                <a:cs typeface="Arial"/>
              </a:defRPr>
            </a:defPPr>
          </a:lstStyle>
          <a:p xmlns:a="http://schemas.openxmlformats.org/drawingml/2006/main">
            <a:pPr>
              <a:defRPr sz="2175" b="1">
                <a:solidFill>
                  <a:srgbClr val="6D47D9"/>
                </a:solidFill>
                <a:latin typeface="Arial"/>
                <a:ea typeface="Arial"/>
                <a:cs typeface="Arial"/>
              </a:defRPr>
            </a:pPr>
            <a:r>
              <a:rPr sz="2175" b="1">
                <a:solidFill>
                  <a:srgbClr val="6D47D9"/>
                </a:solidFill>
                <a:latin typeface="Arial"/>
                <a:ea typeface="Arial"/>
                <a:cs typeface="Arial"/>
              </a:rPr>
              <a:t>Priya Sharma</a:t>
            </a:r>
          </a:p>
        </p:txBody>
      </p:sp>
      <p:sp>
        <p:nvSpPr>
          <p:cNvPr id="9" name="Open the completed mentorship&#10;and print the certif">
            <a:extLst xmlns:a="http://schemas.openxmlformats.org/drawingml/2006/main">
              <a:ext uri="{FF2B5EF4-FFF2-40B4-BE49-F238E27FC236}">
                <a16:creationId xmlns:a16="http://schemas.microsoft.com/office/drawing/2014/main" id="{F76E6FA9-F6AE-4053-B8DA-56EDF4972CFF}"/>
              </a:ext>
            </a:extLst>
          </p:cNvPr>
          <p:cNvSpPr>
            <a:spLocks xmlns:a="http://schemas.openxmlformats.org/drawingml/2006/main" noGrp="1"/>
          </p:cNvSpPr>
          <p:nvPr/>
        </p:nvSpPr>
        <p:spPr>
          <a:xfrm xmlns:a="http://schemas.openxmlformats.org/drawingml/2006/main">
            <a:off x="609600" y="4819650"/>
            <a:ext cx="50768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B667C"/>
                </a:solidFill>
                <a:latin typeface="Arial"/>
                <a:ea typeface="Arial"/>
                <a:cs typeface="Arial"/>
              </a:defRPr>
            </a:defPPr>
          </a:lstStyle>
          <a:p xmlns:a="http://schemas.openxmlformats.org/drawingml/2006/main">
            <a:pPr>
              <a:defRPr sz="1875" b="0">
                <a:solidFill>
                  <a:srgbClr val="5B667C"/>
                </a:solidFill>
                <a:latin typeface="Arial"/>
                <a:ea typeface="Arial"/>
                <a:cs typeface="Arial"/>
              </a:defRPr>
            </a:pPr>
            <a:r>
              <a:rPr sz="1875" b="0">
                <a:solidFill>
                  <a:srgbClr val="5B667C"/>
                </a:solidFill>
                <a:latin typeface="Arial"/>
                <a:ea typeface="Arial"/>
                <a:cs typeface="Arial"/>
              </a:rPr>
              <a:t>Open the completed mentorship</a:t>
            </a:r>
          </a:p>
          <a:p xmlns:a="http://schemas.openxmlformats.org/drawingml/2006/main">
            <a:pPr>
              <a:defRPr sz="1875" b="0">
                <a:solidFill>
                  <a:srgbClr val="5B667C"/>
                </a:solidFill>
                <a:latin typeface="Arial"/>
                <a:ea typeface="Arial"/>
                <a:cs typeface="Arial"/>
              </a:defRPr>
            </a:pPr>
            <a:r>
              <a:rPr sz="1875" b="0">
                <a:solidFill>
                  <a:srgbClr val="5B667C"/>
                </a:solidFill>
                <a:latin typeface="Arial"/>
                <a:ea typeface="Arial"/>
                <a:cs typeface="Arial"/>
              </a:rPr>
              <a:t>and print the certificate</a:t>
            </a:r>
          </a:p>
        </p:txBody>
      </p:sp>
      <p:pic>
        <p:nvPicPr>
          <p:cNvPr id="10" name="">
            <a:extLst xmlns:a="http://schemas.openxmlformats.org/drawingml/2006/main">
              <a:ext uri="{FF2B5EF4-FFF2-40B4-BE49-F238E27FC236}">
                <a16:creationId xmlns:a16="http://schemas.microsoft.com/office/drawing/2014/main" id="{AF34EBEE-F2DD-4DC7-8F1C-13D4507D36BD}"/>
              </a:ext>
            </a:extLst>
          </p:cNvPr>
          <p:cNvPicPr>
            <a:picLocks xmlns:a="http://schemas.openxmlformats.org/drawingml/2006/main" noChangeAspect="1"/>
          </p:cNvPicPr>
          <p:nvPr/>
        </p:nvPicPr>
        <p:blipFill>
          <a:blip xmlns:r="http://schemas.openxmlformats.org/officeDocument/2006/relationships" xmlns:a="http://schemas.openxmlformats.org/drawingml/2006/main" r:embed="R28c2d12b843f42af"/>
          <a:stretch xmlns:a="http://schemas.openxmlformats.org/drawingml/2006/main"/>
        </p:blipFill>
        <p:spPr>
          <a:xfrm xmlns:a="http://schemas.openxmlformats.org/drawingml/2006/main">
            <a:off x="6162675" y="1798885"/>
            <a:ext cx="5419725" cy="3698380"/>
          </a:xfrm>
          <a:prstGeom xmlns:a="http://schemas.openxmlformats.org/drawingml/2006/main" prst="rect">
            <a:avLst/>
          </a:prstGeom>
        </p:spPr>
      </p:pic>
      <p:sp>
        <p:nvSpPr>
          <p:cNvPr id="11" name="Demo Switcher supports role changes while DEBUG is">
            <a:extLst xmlns:a="http://schemas.openxmlformats.org/drawingml/2006/main">
              <a:ext uri="{FF2B5EF4-FFF2-40B4-BE49-F238E27FC236}">
                <a16:creationId xmlns:a16="http://schemas.microsoft.com/office/drawing/2014/main" id="{EC96FF09-FD52-4581-93B6-C9FBB159DEDF}"/>
              </a:ext>
            </a:extLst>
          </p:cNvPr>
          <p:cNvSpPr>
            <a:spLocks xmlns:a="http://schemas.openxmlformats.org/drawingml/2006/main" noGrp="1"/>
          </p:cNvSpPr>
          <p:nvPr/>
        </p:nvSpPr>
        <p:spPr>
          <a:xfrm xmlns:a="http://schemas.openxmlformats.org/drawingml/2006/main">
            <a:off x="6162675" y="5857875"/>
            <a:ext cx="54197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B667C"/>
                </a:solidFill>
                <a:latin typeface="Arial"/>
                <a:ea typeface="Arial"/>
                <a:cs typeface="Arial"/>
              </a:defRPr>
            </a:defPPr>
          </a:lstStyle>
          <a:p xmlns:a="http://schemas.openxmlformats.org/drawingml/2006/main">
            <a:pPr>
              <a:defRPr sz="1500" b="0">
                <a:solidFill>
                  <a:srgbClr val="5B667C"/>
                </a:solidFill>
                <a:latin typeface="Arial"/>
                <a:ea typeface="Arial"/>
                <a:cs typeface="Arial"/>
              </a:defRPr>
            </a:pPr>
            <a:r>
              <a:rPr sz="1500" b="0">
                <a:solidFill>
                  <a:srgbClr val="5B667C"/>
                </a:solidFill>
                <a:latin typeface="Arial"/>
                <a:ea typeface="Arial"/>
                <a:cs typeface="Arial"/>
              </a:rPr>
              <a:t>Demo Switcher supports role changes while DEBUG is enabled.</a:t>
            </a:r>
          </a:p>
        </p:txBody>
      </p:sp>
    </p:spTree>
    <p:extLst>
      <p:ext uri="{BB962C8B-B14F-4D97-AF65-F5344CB8AC3E}">
        <p14:creationId xmlns:p14="http://schemas.microsoft.com/office/powerpoint/2010/main" val="974142147"/>
      </p:ext>
    </p:extLst>
  </p:cSld>
</p:sld>
</file>

<file path=ppt/slides/slide15.xml><?xml version="1.0" encoding="utf-8"?>
<p:sld xmlns:p="http://schemas.openxmlformats.org/presentationml/2006/main">
  <p:cSld>
    <p:bg>
      <p:bgPr>
        <a:solidFill xmlns:a="http://schemas.openxmlformats.org/drawingml/2006/main">
          <a:srgbClr val="F5F5F9"/>
        </a:solidFill>
      </p:bgPr>
    </p:bg>
    <p:spTree>
      <p:nvGrpSpPr>
        <p:cNvPr id="1" name=""/>
        <p:cNvGrpSpPr/>
        <p:nvPr/>
      </p:nvGrpSpPr>
      <p:grpSpPr>
        <a:xfrm xmlns:a="http://schemas.openxmlformats.org/drawingml/2006/main"/>
      </p:grpSpPr>
      <p:sp>
        <p:nvSpPr>
          <p:cNvPr id="8" name="Current scope and future improvements">
            <a:extLst xmlns:a="http://schemas.openxmlformats.org/drawingml/2006/main">
              <a:ext uri="{FF2B5EF4-FFF2-40B4-BE49-F238E27FC236}">
                <a16:creationId xmlns:a16="http://schemas.microsoft.com/office/drawing/2014/main" id="{04E8D61F-5D34-48E2-BEC6-5EBF4ED9637D}"/>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039"/>
                </a:solidFill>
                <a:latin typeface="Arial"/>
                <a:ea typeface="Arial"/>
                <a:cs typeface="Arial"/>
              </a:defRPr>
            </a:defPPr>
          </a:lstStyle>
          <a:p xmlns:a="http://schemas.openxmlformats.org/drawingml/2006/main">
            <a:pPr>
              <a:defRPr sz="3300" b="1">
                <a:solidFill>
                  <a:srgbClr val="172039"/>
                </a:solidFill>
                <a:latin typeface="Arial"/>
                <a:ea typeface="Arial"/>
                <a:cs typeface="Arial"/>
              </a:defRPr>
            </a:pPr>
            <a:r>
              <a:rPr sz="3300" b="1">
                <a:solidFill>
                  <a:srgbClr val="172039"/>
                </a:solidFill>
                <a:latin typeface="Arial"/>
                <a:ea typeface="Arial"/>
                <a:cs typeface="Arial"/>
              </a:rPr>
              <a:t>Current scope and future improvements</a:t>
            </a:r>
          </a:p>
        </p:txBody>
      </p:sp>
      <p:sp>
        <p:nvSpPr>
          <p:cNvPr id="2" name="IIIT Kottayam">
            <a:extLst xmlns:a="http://schemas.openxmlformats.org/drawingml/2006/main">
              <a:ext uri="{FF2B5EF4-FFF2-40B4-BE49-F238E27FC236}">
                <a16:creationId xmlns:a16="http://schemas.microsoft.com/office/drawing/2014/main" id="{925AE4F2-94C3-4C0D-9C79-C4F9826A62F0}"/>
              </a:ext>
            </a:extLst>
          </p:cNvPr>
          <p:cNvSpPr>
            <a:spLocks xmlns:a="http://schemas.openxmlformats.org/drawingml/2006/main" noGrp="1"/>
          </p:cNvSpPr>
          <p:nvPr/>
        </p:nvSpPr>
        <p:spPr>
          <a:xfrm xmlns:a="http://schemas.openxmlformats.org/drawingml/2006/main">
            <a:off x="609600" y="6429375"/>
            <a:ext cx="381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B667C"/>
                </a:solidFill>
                <a:latin typeface="Arial"/>
                <a:ea typeface="Arial"/>
                <a:cs typeface="Arial"/>
              </a:defRPr>
            </a:defPPr>
          </a:lstStyle>
          <a:p xmlns:a="http://schemas.openxmlformats.org/drawingml/2006/main">
            <a:pPr>
              <a:defRPr sz="1125" b="0">
                <a:solidFill>
                  <a:srgbClr val="5B667C"/>
                </a:solidFill>
                <a:latin typeface="Arial"/>
                <a:ea typeface="Arial"/>
                <a:cs typeface="Arial"/>
              </a:defRPr>
            </a:pPr>
            <a:r>
              <a:rPr sz="1125" b="0">
                <a:solidFill>
                  <a:srgbClr val="5B667C"/>
                </a:solidFill>
                <a:latin typeface="Arial"/>
                <a:ea typeface="Arial"/>
                <a:cs typeface="Arial"/>
              </a:rPr>
              <a:t>IIIT Kottayam</a:t>
            </a:r>
          </a:p>
        </p:txBody>
      </p:sp>
      <p:sp>
        <p:nvSpPr>
          <p:cNvPr id="3" name="15">
            <a:extLst xmlns:a="http://schemas.openxmlformats.org/drawingml/2006/main">
              <a:ext uri="{FF2B5EF4-FFF2-40B4-BE49-F238E27FC236}">
                <a16:creationId xmlns:a16="http://schemas.microsoft.com/office/drawing/2014/main" id="{EBC18E82-03C7-447E-A7BD-B028706484C3}"/>
              </a:ext>
            </a:extLst>
          </p:cNvPr>
          <p:cNvSpPr>
            <a:spLocks xmlns:a="http://schemas.openxmlformats.org/drawingml/2006/main" noGrp="1"/>
          </p:cNvSpPr>
          <p:nvPr/>
        </p:nvSpPr>
        <p:spPr>
          <a:xfrm xmlns:a="http://schemas.openxmlformats.org/drawingml/2006/main">
            <a:off x="11087100" y="64293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B667C"/>
                </a:solidFill>
                <a:latin typeface="Arial"/>
                <a:ea typeface="Arial"/>
                <a:cs typeface="Arial"/>
              </a:defRPr>
            </a:defPPr>
          </a:lstStyle>
          <a:p xmlns:a="http://schemas.openxmlformats.org/drawingml/2006/main">
            <a:pPr>
              <a:defRPr sz="1125" b="0">
                <a:solidFill>
                  <a:srgbClr val="5B667C"/>
                </a:solidFill>
                <a:latin typeface="Arial"/>
                <a:ea typeface="Arial"/>
                <a:cs typeface="Arial"/>
              </a:defRPr>
            </a:pPr>
            <a:r>
              <a:rPr sz="1125" b="0">
                <a:solidFill>
                  <a:srgbClr val="5B667C"/>
                </a:solidFill>
                <a:latin typeface="Arial"/>
                <a:ea typeface="Arial"/>
                <a:cs typeface="Arial"/>
              </a:rPr>
              <a:t>15</a:t>
            </a:r>
          </a:p>
        </p:txBody>
      </p:sp>
      <p:sp>
        <p:nvSpPr>
          <p:cNvPr id="4" name="Current local scope">
            <a:extLst xmlns:a="http://schemas.openxmlformats.org/drawingml/2006/main">
              <a:ext uri="{FF2B5EF4-FFF2-40B4-BE49-F238E27FC236}">
                <a16:creationId xmlns:a16="http://schemas.microsoft.com/office/drawing/2014/main" id="{EA201F9B-75FB-48D0-A8E6-3AEA576DAC7B}"/>
              </a:ext>
            </a:extLst>
          </p:cNvPr>
          <p:cNvSpPr>
            <a:spLocks xmlns:a="http://schemas.openxmlformats.org/drawingml/2006/main" noGrp="1"/>
          </p:cNvSpPr>
          <p:nvPr/>
        </p:nvSpPr>
        <p:spPr>
          <a:xfrm xmlns:a="http://schemas.openxmlformats.org/drawingml/2006/main">
            <a:off x="609600" y="1562100"/>
            <a:ext cx="50768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039"/>
                </a:solidFill>
                <a:latin typeface="Arial"/>
                <a:ea typeface="Arial"/>
                <a:cs typeface="Arial"/>
              </a:defRPr>
            </a:defPPr>
          </a:lstStyle>
          <a:p xmlns:a="http://schemas.openxmlformats.org/drawingml/2006/main">
            <a:pPr>
              <a:defRPr sz="2250" b="1">
                <a:solidFill>
                  <a:srgbClr val="172039"/>
                </a:solidFill>
                <a:latin typeface="Arial"/>
                <a:ea typeface="Arial"/>
                <a:cs typeface="Arial"/>
              </a:defRPr>
            </a:pPr>
            <a:r>
              <a:rPr sz="2250" b="1">
                <a:solidFill>
                  <a:srgbClr val="172039"/>
                </a:solidFill>
                <a:latin typeface="Arial"/>
                <a:ea typeface="Arial"/>
                <a:cs typeface="Arial"/>
              </a:rPr>
              <a:t>Current local scope</a:t>
            </a:r>
          </a:p>
        </p:txBody>
      </p:sp>
      <p:sp>
        <p:nvSpPr>
          <p:cNvPr id="5" name="SQLite and local file uploads&#10;&#10;In-app alerts on pa">
            <a:extLst xmlns:a="http://schemas.openxmlformats.org/drawingml/2006/main">
              <a:ext uri="{FF2B5EF4-FFF2-40B4-BE49-F238E27FC236}">
                <a16:creationId xmlns:a16="http://schemas.microsoft.com/office/drawing/2014/main" id="{9FD470AF-8698-441A-92B3-71FC3CBCF864}"/>
              </a:ext>
            </a:extLst>
          </p:cNvPr>
          <p:cNvSpPr>
            <a:spLocks xmlns:a="http://schemas.openxmlformats.org/drawingml/2006/main" noGrp="1"/>
          </p:cNvSpPr>
          <p:nvPr/>
        </p:nvSpPr>
        <p:spPr>
          <a:xfrm xmlns:a="http://schemas.openxmlformats.org/drawingml/2006/main">
            <a:off x="609600" y="2352675"/>
            <a:ext cx="507682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B667C"/>
                </a:solidFill>
                <a:latin typeface="Arial"/>
                <a:ea typeface="Arial"/>
                <a:cs typeface="Arial"/>
              </a:defRPr>
            </a:defPPr>
          </a:lstStyle>
          <a:p xmlns:a="http://schemas.openxmlformats.org/drawingml/2006/main">
            <a:pPr>
              <a:defRPr sz="2025" b="0">
                <a:solidFill>
                  <a:srgbClr val="5B667C"/>
                </a:solidFill>
                <a:latin typeface="Arial"/>
                <a:ea typeface="Arial"/>
                <a:cs typeface="Arial"/>
              </a:defRPr>
            </a:pPr>
            <a:r>
              <a:rPr sz="2025" b="0">
                <a:solidFill>
                  <a:srgbClr val="5B667C"/>
                </a:solidFill>
                <a:latin typeface="Arial"/>
                <a:ea typeface="Arial"/>
                <a:cs typeface="Arial"/>
              </a:rPr>
              <a:t>SQLite and local file uploads</a:t>
            </a:r>
          </a:p>
          <a:p xmlns:a="http://schemas.openxmlformats.org/drawingml/2006/main">
            <a:r>
              <a:t/>
            </a:r>
          </a:p>
          <a:p xmlns:a="http://schemas.openxmlformats.org/drawingml/2006/main">
            <a:pPr>
              <a:defRPr sz="2025" b="0">
                <a:solidFill>
                  <a:srgbClr val="5B667C"/>
                </a:solidFill>
                <a:latin typeface="Arial"/>
                <a:ea typeface="Arial"/>
                <a:cs typeface="Arial"/>
              </a:defRPr>
            </a:pPr>
            <a:r>
              <a:rPr sz="2025" b="0">
                <a:solidFill>
                  <a:srgbClr val="5B667C"/>
                </a:solidFill>
                <a:latin typeface="Arial"/>
                <a:ea typeface="Arial"/>
                <a:cs typeface="Arial"/>
              </a:rPr>
              <a:t>In-app alerts on page refresh</a:t>
            </a:r>
          </a:p>
          <a:p xmlns:a="http://schemas.openxmlformats.org/drawingml/2006/main">
            <a:r>
              <a:t/>
            </a:r>
          </a:p>
          <a:p xmlns:a="http://schemas.openxmlformats.org/drawingml/2006/main">
            <a:pPr>
              <a:defRPr sz="2025" b="0">
                <a:solidFill>
                  <a:srgbClr val="5B667C"/>
                </a:solidFill>
                <a:latin typeface="Arial"/>
                <a:ea typeface="Arial"/>
                <a:cs typeface="Arial"/>
              </a:defRPr>
            </a:pPr>
            <a:r>
              <a:rPr sz="2025" b="0">
                <a:solidFill>
                  <a:srgbClr val="5B667C"/>
                </a:solidFill>
                <a:latin typeface="Arial"/>
                <a:ea typeface="Arial"/>
                <a:cs typeface="Arial"/>
              </a:rPr>
              <a:t>Manual dates and external meeting links</a:t>
            </a:r>
          </a:p>
          <a:p xmlns:a="http://schemas.openxmlformats.org/drawingml/2006/main">
            <a:r>
              <a:t/>
            </a:r>
          </a:p>
          <a:p xmlns:a="http://schemas.openxmlformats.org/drawingml/2006/main">
            <a:pPr>
              <a:defRPr sz="2025" b="0">
                <a:solidFill>
                  <a:srgbClr val="5B667C"/>
                </a:solidFill>
                <a:latin typeface="Arial"/>
                <a:ea typeface="Arial"/>
                <a:cs typeface="Arial"/>
              </a:defRPr>
            </a:pPr>
            <a:r>
              <a:rPr sz="2025" b="0">
                <a:solidFill>
                  <a:srgbClr val="5B667C"/>
                </a:solidFill>
                <a:latin typeface="Arial"/>
                <a:ea typeface="Arial"/>
                <a:cs typeface="Arial"/>
              </a:rPr>
              <a:t>Completion status unlocks the certificate</a:t>
            </a:r>
          </a:p>
        </p:txBody>
      </p:sp>
      <p:sp>
        <p:nvSpPr>
          <p:cNvPr id="6" name="Proposed next steps">
            <a:extLst xmlns:a="http://schemas.openxmlformats.org/drawingml/2006/main">
              <a:ext uri="{FF2B5EF4-FFF2-40B4-BE49-F238E27FC236}">
                <a16:creationId xmlns:a16="http://schemas.microsoft.com/office/drawing/2014/main" id="{7BD81F7A-07AD-4764-8DCA-1FB27C190AE2}"/>
              </a:ext>
            </a:extLst>
          </p:cNvPr>
          <p:cNvSpPr>
            <a:spLocks xmlns:a="http://schemas.openxmlformats.org/drawingml/2006/main" noGrp="1"/>
          </p:cNvSpPr>
          <p:nvPr/>
        </p:nvSpPr>
        <p:spPr>
          <a:xfrm xmlns:a="http://schemas.openxmlformats.org/drawingml/2006/main">
            <a:off x="6400800" y="1562100"/>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6D47D9"/>
                </a:solidFill>
                <a:latin typeface="Arial"/>
                <a:ea typeface="Arial"/>
                <a:cs typeface="Arial"/>
              </a:defRPr>
            </a:defPPr>
          </a:lstStyle>
          <a:p xmlns:a="http://schemas.openxmlformats.org/drawingml/2006/main">
            <a:pPr>
              <a:defRPr sz="2250" b="1">
                <a:solidFill>
                  <a:srgbClr val="6D47D9"/>
                </a:solidFill>
                <a:latin typeface="Arial"/>
                <a:ea typeface="Arial"/>
                <a:cs typeface="Arial"/>
              </a:defRPr>
            </a:pPr>
            <a:r>
              <a:rPr sz="2250" b="1">
                <a:solidFill>
                  <a:srgbClr val="6D47D9"/>
                </a:solidFill>
                <a:latin typeface="Arial"/>
                <a:ea typeface="Arial"/>
                <a:cs typeface="Arial"/>
              </a:rPr>
              <a:t>Proposed next steps</a:t>
            </a:r>
          </a:p>
        </p:txBody>
      </p:sp>
      <p:sp>
        <p:nvSpPr>
          <p:cNvPr id="7" name="Harden settings and remove demo access&#10;&#10;Add atomic">
            <a:extLst xmlns:a="http://schemas.openxmlformats.org/drawingml/2006/main">
              <a:ext uri="{FF2B5EF4-FFF2-40B4-BE49-F238E27FC236}">
                <a16:creationId xmlns:a16="http://schemas.microsoft.com/office/drawing/2014/main" id="{0500FA54-EA6C-4379-9CDA-9E5CEE16D9AC}"/>
              </a:ext>
            </a:extLst>
          </p:cNvPr>
          <p:cNvSpPr>
            <a:spLocks xmlns:a="http://schemas.openxmlformats.org/drawingml/2006/main" noGrp="1"/>
          </p:cNvSpPr>
          <p:nvPr/>
        </p:nvSpPr>
        <p:spPr>
          <a:xfrm xmlns:a="http://schemas.openxmlformats.org/drawingml/2006/main">
            <a:off x="6400800" y="2352675"/>
            <a:ext cx="518160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B667C"/>
                </a:solidFill>
                <a:latin typeface="Arial"/>
                <a:ea typeface="Arial"/>
                <a:cs typeface="Arial"/>
              </a:defRPr>
            </a:defPPr>
          </a:lstStyle>
          <a:p xmlns:a="http://schemas.openxmlformats.org/drawingml/2006/main">
            <a:pPr>
              <a:defRPr sz="2025" b="0">
                <a:solidFill>
                  <a:srgbClr val="5B667C"/>
                </a:solidFill>
                <a:latin typeface="Arial"/>
                <a:ea typeface="Arial"/>
                <a:cs typeface="Arial"/>
              </a:defRPr>
            </a:pPr>
            <a:r>
              <a:rPr sz="2025" b="0">
                <a:solidFill>
                  <a:srgbClr val="5B667C"/>
                </a:solidFill>
                <a:latin typeface="Arial"/>
                <a:ea typeface="Arial"/>
                <a:cs typeface="Arial"/>
              </a:rPr>
              <a:t>Harden settings and remove demo access</a:t>
            </a:r>
          </a:p>
          <a:p xmlns:a="http://schemas.openxmlformats.org/drawingml/2006/main">
            <a:r>
              <a:t/>
            </a:r>
          </a:p>
          <a:p xmlns:a="http://schemas.openxmlformats.org/drawingml/2006/main">
            <a:pPr>
              <a:defRPr sz="2025" b="0">
                <a:solidFill>
                  <a:srgbClr val="5B667C"/>
                </a:solidFill>
                <a:latin typeface="Arial"/>
                <a:ea typeface="Arial"/>
                <a:cs typeface="Arial"/>
              </a:defRPr>
            </a:pPr>
            <a:r>
              <a:rPr sz="2025" b="0">
                <a:solidFill>
                  <a:srgbClr val="5B667C"/>
                </a:solidFill>
                <a:latin typeface="Arial"/>
                <a:ea typeface="Arial"/>
                <a:cs typeface="Arial"/>
              </a:rPr>
              <a:t>Add atomic credit transactions</a:t>
            </a:r>
          </a:p>
          <a:p xmlns:a="http://schemas.openxmlformats.org/drawingml/2006/main">
            <a:r>
              <a:t/>
            </a:r>
          </a:p>
          <a:p xmlns:a="http://schemas.openxmlformats.org/drawingml/2006/main">
            <a:pPr>
              <a:defRPr sz="2025" b="0">
                <a:solidFill>
                  <a:srgbClr val="5B667C"/>
                </a:solidFill>
                <a:latin typeface="Arial"/>
                <a:ea typeface="Arial"/>
                <a:cs typeface="Arial"/>
              </a:defRPr>
            </a:pPr>
            <a:r>
              <a:rPr sz="2025" b="0">
                <a:solidFill>
                  <a:srgbClr val="5B667C"/>
                </a:solidFill>
                <a:latin typeface="Arial"/>
                <a:ea typeface="Arial"/>
                <a:cs typeface="Arial"/>
              </a:rPr>
              <a:t>Require completion criteria for certificates</a:t>
            </a:r>
          </a:p>
          <a:p xmlns:a="http://schemas.openxmlformats.org/drawingml/2006/main">
            <a:r>
              <a:t/>
            </a:r>
          </a:p>
          <a:p xmlns:a="http://schemas.openxmlformats.org/drawingml/2006/main">
            <a:pPr>
              <a:defRPr sz="2025" b="0">
                <a:solidFill>
                  <a:srgbClr val="5B667C"/>
                </a:solidFill>
                <a:latin typeface="Arial"/>
                <a:ea typeface="Arial"/>
                <a:cs typeface="Arial"/>
              </a:defRPr>
            </a:pPr>
            <a:r>
              <a:rPr sz="2025" b="0">
                <a:solidFill>
                  <a:srgbClr val="5B667C"/>
                </a:solidFill>
                <a:latin typeface="Arial"/>
                <a:ea typeface="Arial"/>
                <a:cs typeface="Arial"/>
              </a:rPr>
              <a:t>Evaluate matching quality with user feedback</a:t>
            </a:r>
          </a:p>
        </p:txBody>
      </p:sp>
    </p:spTree>
    <p:extLst>
      <p:ext uri="{BB962C8B-B14F-4D97-AF65-F5344CB8AC3E}">
        <p14:creationId xmlns:p14="http://schemas.microsoft.com/office/powerpoint/2010/main" val="65934006"/>
      </p:ext>
    </p:extLst>
  </p:cSld>
</p:sld>
</file>

<file path=ppt/slides/slide16.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7" name="IIIT Kottayam">
            <a:extLst xmlns:a="http://schemas.openxmlformats.org/drawingml/2006/main">
              <a:ext uri="{FF2B5EF4-FFF2-40B4-BE49-F238E27FC236}">
                <a16:creationId xmlns:a16="http://schemas.microsoft.com/office/drawing/2014/main" id="{09BB5F19-A004-494C-A3B8-B28875FE7FDF}"/>
              </a:ext>
            </a:extLst>
          </p:cNvPr>
          <p:cNvSpPr>
            <a:spLocks xmlns:a="http://schemas.openxmlformats.org/drawingml/2006/main" noGrp="1"/>
          </p:cNvSpPr>
          <p:nvPr/>
        </p:nvSpPr>
        <p:spPr>
          <a:xfrm xmlns:a="http://schemas.openxmlformats.org/drawingml/2006/main">
            <a:off x="609600" y="6429375"/>
            <a:ext cx="381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BC3D7"/>
                </a:solidFill>
                <a:latin typeface="Arial"/>
                <a:ea typeface="Arial"/>
                <a:cs typeface="Arial"/>
              </a:defRPr>
            </a:defPPr>
          </a:lstStyle>
          <a:p xmlns:a="http://schemas.openxmlformats.org/drawingml/2006/main">
            <a:pPr>
              <a:defRPr sz="1125" b="0">
                <a:solidFill>
                  <a:srgbClr val="BBC3D7"/>
                </a:solidFill>
                <a:latin typeface="Arial"/>
                <a:ea typeface="Arial"/>
                <a:cs typeface="Arial"/>
              </a:defRPr>
            </a:pPr>
            <a:r>
              <a:rPr sz="1125" b="0">
                <a:solidFill>
                  <a:srgbClr val="BBC3D7"/>
                </a:solidFill>
                <a:latin typeface="Arial"/>
                <a:ea typeface="Arial"/>
                <a:cs typeface="Arial"/>
              </a:rPr>
              <a:t>IIIT Kottayam</a:t>
            </a:r>
          </a:p>
        </p:txBody>
      </p:sp>
      <p:sp>
        <p:nvSpPr>
          <p:cNvPr id="2" name="16">
            <a:extLst xmlns:a="http://schemas.openxmlformats.org/drawingml/2006/main">
              <a:ext uri="{FF2B5EF4-FFF2-40B4-BE49-F238E27FC236}">
                <a16:creationId xmlns:a16="http://schemas.microsoft.com/office/drawing/2014/main" id="{7B8DD8AA-02EC-43CD-B694-69564561EF6A}"/>
              </a:ext>
            </a:extLst>
          </p:cNvPr>
          <p:cNvSpPr>
            <a:spLocks xmlns:a="http://schemas.openxmlformats.org/drawingml/2006/main" noGrp="1"/>
          </p:cNvSpPr>
          <p:nvPr/>
        </p:nvSpPr>
        <p:spPr>
          <a:xfrm xmlns:a="http://schemas.openxmlformats.org/drawingml/2006/main">
            <a:off x="11087100" y="64293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BC3D7"/>
                </a:solidFill>
                <a:latin typeface="Arial"/>
                <a:ea typeface="Arial"/>
                <a:cs typeface="Arial"/>
              </a:defRPr>
            </a:defPPr>
          </a:lstStyle>
          <a:p xmlns:a="http://schemas.openxmlformats.org/drawingml/2006/main">
            <a:pPr>
              <a:defRPr sz="1125" b="0">
                <a:solidFill>
                  <a:srgbClr val="BBC3D7"/>
                </a:solidFill>
                <a:latin typeface="Arial"/>
                <a:ea typeface="Arial"/>
                <a:cs typeface="Arial"/>
              </a:defRPr>
            </a:pPr>
            <a:r>
              <a:rPr sz="1125" b="0">
                <a:solidFill>
                  <a:srgbClr val="BBC3D7"/>
                </a:solidFill>
                <a:latin typeface="Arial"/>
                <a:ea typeface="Arial"/>
                <a:cs typeface="Arial"/>
              </a:rPr>
              <a:t>16</a:t>
            </a:r>
          </a:p>
        </p:txBody>
      </p:sp>
      <p:pic>
        <p:nvPicPr>
          <p:cNvPr id="3" name="">
            <a:extLst xmlns:a="http://schemas.openxmlformats.org/drawingml/2006/main">
              <a:ext uri="{FF2B5EF4-FFF2-40B4-BE49-F238E27FC236}">
                <a16:creationId xmlns:a16="http://schemas.microsoft.com/office/drawing/2014/main" id="{FD856789-AFEC-4F10-A462-1DBDD73AE29F}"/>
              </a:ext>
            </a:extLst>
          </p:cNvPr>
          <p:cNvPicPr>
            <a:picLocks xmlns:a="http://schemas.openxmlformats.org/drawingml/2006/main" noChangeAspect="1"/>
          </p:cNvPicPr>
          <p:nvPr/>
        </p:nvPicPr>
        <p:blipFill>
          <a:blip xmlns:r="http://schemas.openxmlformats.org/officeDocument/2006/relationships" xmlns:a="http://schemas.openxmlformats.org/drawingml/2006/main" r:embed="R9071682754bc46c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Mentorship with&#10;a visible learning record">
            <a:extLst xmlns:a="http://schemas.openxmlformats.org/drawingml/2006/main">
              <a:ext uri="{FF2B5EF4-FFF2-40B4-BE49-F238E27FC236}">
                <a16:creationId xmlns:a16="http://schemas.microsoft.com/office/drawing/2014/main" id="{33AA8777-1D46-4C67-85CA-D5407C86FF23}"/>
              </a:ext>
            </a:extLst>
          </p:cNvPr>
          <p:cNvSpPr>
            <a:spLocks xmlns:a="http://schemas.openxmlformats.org/drawingml/2006/main" noGrp="1"/>
          </p:cNvSpPr>
          <p:nvPr/>
        </p:nvSpPr>
        <p:spPr>
          <a:xfrm xmlns:a="http://schemas.openxmlformats.org/drawingml/2006/main">
            <a:off x="609600" y="1495425"/>
            <a:ext cx="924877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75" b="1">
                <a:solidFill>
                  <a:srgbClr val="FFFFFF"/>
                </a:solidFill>
                <a:latin typeface="Arial"/>
                <a:ea typeface="Arial"/>
                <a:cs typeface="Arial"/>
              </a:defRPr>
            </a:defPPr>
          </a:lstStyle>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Mentorship with</a:t>
            </a:r>
          </a:p>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a visible learning record</a:t>
            </a:r>
          </a:p>
        </p:txBody>
      </p:sp>
      <p:sp>
        <p:nvSpPr>
          <p:cNvPr id="5" name="Explainable mentor discovery&#10;Shared learning works">
            <a:extLst xmlns:a="http://schemas.openxmlformats.org/drawingml/2006/main">
              <a:ext uri="{FF2B5EF4-FFF2-40B4-BE49-F238E27FC236}">
                <a16:creationId xmlns:a16="http://schemas.microsoft.com/office/drawing/2014/main" id="{30F896C1-922D-44E8-B68E-3C2D6FC84572}"/>
              </a:ext>
            </a:extLst>
          </p:cNvPr>
          <p:cNvSpPr>
            <a:spLocks xmlns:a="http://schemas.openxmlformats.org/drawingml/2006/main" noGrp="1"/>
          </p:cNvSpPr>
          <p:nvPr/>
        </p:nvSpPr>
        <p:spPr>
          <a:xfrm xmlns:a="http://schemas.openxmlformats.org/drawingml/2006/main">
            <a:off x="647700" y="3619500"/>
            <a:ext cx="8096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CDD6E8"/>
                </a:solidFill>
                <a:latin typeface="Arial"/>
                <a:ea typeface="Arial"/>
                <a:cs typeface="Arial"/>
              </a:defRPr>
            </a:defPPr>
          </a:lstStyle>
          <a:p xmlns:a="http://schemas.openxmlformats.org/drawingml/2006/main">
            <a:pPr>
              <a:defRPr sz="2325" b="0">
                <a:solidFill>
                  <a:srgbClr val="CDD6E8"/>
                </a:solidFill>
                <a:latin typeface="Arial"/>
                <a:ea typeface="Arial"/>
                <a:cs typeface="Arial"/>
              </a:defRPr>
            </a:pPr>
            <a:r>
              <a:rPr sz="2325" b="0">
                <a:solidFill>
                  <a:srgbClr val="CDD6E8"/>
                </a:solidFill>
                <a:latin typeface="Arial"/>
                <a:ea typeface="Arial"/>
                <a:cs typeface="Arial"/>
              </a:rPr>
              <a:t>Explainable mentor discovery</a:t>
            </a:r>
          </a:p>
          <a:p xmlns:a="http://schemas.openxmlformats.org/drawingml/2006/main">
            <a:pPr>
              <a:defRPr sz="2325" b="0">
                <a:solidFill>
                  <a:srgbClr val="CDD6E8"/>
                </a:solidFill>
                <a:latin typeface="Arial"/>
                <a:ea typeface="Arial"/>
                <a:cs typeface="Arial"/>
              </a:defRPr>
            </a:pPr>
            <a:r>
              <a:rPr sz="2325" b="0">
                <a:solidFill>
                  <a:srgbClr val="CDD6E8"/>
                </a:solidFill>
                <a:latin typeface="Arial"/>
                <a:ea typeface="Arial"/>
                <a:cs typeface="Arial"/>
              </a:rPr>
              <a:t>Shared learning workspaces</a:t>
            </a:r>
          </a:p>
          <a:p xmlns:a="http://schemas.openxmlformats.org/drawingml/2006/main">
            <a:pPr>
              <a:defRPr sz="2325" b="0">
                <a:solidFill>
                  <a:srgbClr val="CDD6E8"/>
                </a:solidFill>
                <a:latin typeface="Arial"/>
                <a:ea typeface="Arial"/>
                <a:cs typeface="Arial"/>
              </a:defRPr>
            </a:pPr>
            <a:r>
              <a:rPr sz="2325" b="0">
                <a:solidFill>
                  <a:srgbClr val="CDD6E8"/>
                </a:solidFill>
                <a:latin typeface="Arial"/>
                <a:ea typeface="Arial"/>
                <a:cs typeface="Arial"/>
              </a:rPr>
              <a:t>Recorded participation and completion</a:t>
            </a:r>
          </a:p>
        </p:txBody>
      </p:sp>
      <p:sp>
        <p:nvSpPr>
          <p:cNvPr id="6" name="Thank you">
            <a:extLst xmlns:a="http://schemas.openxmlformats.org/drawingml/2006/main">
              <a:ext uri="{FF2B5EF4-FFF2-40B4-BE49-F238E27FC236}">
                <a16:creationId xmlns:a16="http://schemas.microsoft.com/office/drawing/2014/main" id="{6C07786A-4810-4204-94CB-8C36820E701B}"/>
              </a:ext>
            </a:extLst>
          </p:cNvPr>
          <p:cNvSpPr>
            <a:spLocks xmlns:a="http://schemas.openxmlformats.org/drawingml/2006/main" noGrp="1"/>
          </p:cNvSpPr>
          <p:nvPr/>
        </p:nvSpPr>
        <p:spPr>
          <a:xfrm xmlns:a="http://schemas.openxmlformats.org/drawingml/2006/main">
            <a:off x="647700" y="5676900"/>
            <a:ext cx="714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91D7EB"/>
                </a:solidFill>
                <a:latin typeface="Arial"/>
                <a:ea typeface="Arial"/>
                <a:cs typeface="Arial"/>
              </a:defRPr>
            </a:defPPr>
          </a:lstStyle>
          <a:p xmlns:a="http://schemas.openxmlformats.org/drawingml/2006/main">
            <a:pPr>
              <a:defRPr sz="2550" b="1">
                <a:solidFill>
                  <a:srgbClr val="91D7EB"/>
                </a:solidFill>
                <a:latin typeface="Arial"/>
                <a:ea typeface="Arial"/>
                <a:cs typeface="Arial"/>
              </a:defRPr>
            </a:pPr>
            <a:r>
              <a:rPr sz="2550" b="1">
                <a:solidFill>
                  <a:srgbClr val="91D7EB"/>
                </a:solidFill>
                <a:latin typeface="Arial"/>
                <a:ea typeface="Arial"/>
                <a:cs typeface="Arial"/>
              </a:rPr>
              <a:t>Thank you</a:t>
            </a:r>
          </a:p>
        </p:txBody>
      </p:sp>
    </p:spTree>
    <p:extLst>
      <p:ext uri="{BB962C8B-B14F-4D97-AF65-F5344CB8AC3E}">
        <p14:creationId xmlns:p14="http://schemas.microsoft.com/office/powerpoint/2010/main" val="10953660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2026-10-11T20:05:06.0240000Z</dcterms:created>
  <dcterms:modified xsi:type="dcterms:W3CDTF">2026-10-11T20:05:06.0240000Z</dcterms:modified>
</coreProperties>
</file>